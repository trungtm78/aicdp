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076524" y="553211"/>
            <a:ext cx="5721978" cy="5751576"/>
          </a:xfrm>
          <a:prstGeom prst="roundRect">
            <a:avLst/>
          </a:prstGeom>
          <a:solidFill>
            <a:srgbClr val="FFFFFF"/>
          </a:solidFill>
          <a:ln w="1905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ch-tower.jpg"/>
          <p:cNvPicPr>
            <a:picLocks noChangeAspect="1"/>
          </p:cNvPicPr>
          <p:nvPr/>
        </p:nvPicPr>
        <p:blipFill>
          <a:blip r:embed="rId2"/>
          <a:stretch>
            <a:fillRect/>
          </a:stretch>
        </p:blipFill>
        <p:spPr>
          <a:xfrm>
            <a:off x="6140532" y="617219"/>
            <a:ext cx="5593962" cy="5623560"/>
          </a:xfrm>
          <a:prstGeom prst="rect">
            <a:avLst/>
          </a:prstGeom>
        </p:spPr>
      </p:pic>
      <p:sp>
        <p:nvSpPr>
          <p:cNvPr id="5" name="TextBox 4"/>
          <p:cNvSpPr txBox="1"/>
          <p:nvPr/>
        </p:nvSpPr>
        <p:spPr>
          <a:xfrm>
            <a:off x="6140532" y="6222492"/>
            <a:ext cx="5593962" cy="2743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900" b="0" i="1">
                <a:solidFill>
                  <a:srgbClr val="565564"/>
                </a:solidFill>
                <a:latin typeface="Calibri"/>
              </a:rPr>
              <a:t>Leadvisors Tower — trụ sở OCH</a:t>
            </a:r>
          </a:p>
        </p:txBody>
      </p:sp>
      <p:sp>
        <p:nvSpPr>
          <p:cNvPr id="6" name="Rectangle 5"/>
          <p:cNvSpPr/>
          <p:nvPr/>
        </p:nvSpPr>
        <p:spPr>
          <a:xfrm>
            <a:off x="0" y="0"/>
            <a:ext cx="201168"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4754880" cy="12344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8400" b="1" i="0">
                <a:solidFill>
                  <a:srgbClr val="2E2E40"/>
                </a:solidFill>
                <a:latin typeface="Georgia"/>
              </a:rPr>
              <a:t>OCH</a:t>
            </a:r>
          </a:p>
        </p:txBody>
      </p:sp>
      <p:sp>
        <p:nvSpPr>
          <p:cNvPr id="8" name="Rectangle 7"/>
          <p:cNvSpPr/>
          <p:nvPr/>
        </p:nvSpPr>
        <p:spPr>
          <a:xfrm>
            <a:off x="868680" y="2404872"/>
            <a:ext cx="2651760" cy="41148"/>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96312"/>
            <a:ext cx="475488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50" b="1" i="0">
                <a:solidFill>
                  <a:srgbClr val="C39851"/>
                </a:solidFill>
                <a:latin typeface="Calibri"/>
              </a:rPr>
              <a:t>O N E   C A P I T A L   H O S P I T A L I T Y</a:t>
            </a:r>
          </a:p>
        </p:txBody>
      </p:sp>
      <p:sp>
        <p:nvSpPr>
          <p:cNvPr id="10" name="TextBox 9"/>
          <p:cNvSpPr txBox="1"/>
          <p:nvPr/>
        </p:nvSpPr>
        <p:spPr>
          <a:xfrm>
            <a:off x="822960" y="3154680"/>
            <a:ext cx="493776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600" b="1" i="0">
                <a:solidFill>
                  <a:srgbClr val="2E2E40"/>
                </a:solidFill>
                <a:latin typeface="Georgia"/>
              </a:rPr>
              <a:t>CUSTOMER DATA PLATFORM</a:t>
            </a:r>
          </a:p>
        </p:txBody>
      </p:sp>
      <p:sp>
        <p:nvSpPr>
          <p:cNvPr id="11" name="TextBox 10"/>
          <p:cNvSpPr txBox="1"/>
          <p:nvPr/>
        </p:nvSpPr>
        <p:spPr>
          <a:xfrm>
            <a:off x="868680" y="3840480"/>
            <a:ext cx="4754880" cy="86868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450" b="0" i="1">
                <a:solidFill>
                  <a:srgbClr val="565564"/>
                </a:solidFill>
                <a:latin typeface="Calibri"/>
              </a:rPr>
              <a:t>Nền tảng dữ liệu khách hàng hợp nhất cho hệ sinh thái đa thương hiệu</a:t>
            </a:r>
          </a:p>
        </p:txBody>
      </p:sp>
      <p:sp>
        <p:nvSpPr>
          <p:cNvPr id="12" name="Rounded Rectangle 11"/>
          <p:cNvSpPr/>
          <p:nvPr/>
        </p:nvSpPr>
        <p:spPr>
          <a:xfrm>
            <a:off x="868680" y="4800600"/>
            <a:ext cx="4480560" cy="502920"/>
          </a:xfrm>
          <a:prstGeom prst="roundRect">
            <a:avLst/>
          </a:prstGeom>
          <a:solidFill>
            <a:srgbClr val="E7DDC8"/>
          </a:solidFill>
          <a:ln w="1270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800600"/>
            <a:ext cx="42062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2E2E40"/>
                </a:solidFill>
                <a:latin typeface="Calibri"/>
              </a:rPr>
              <a:t>Demo trực tiếp:  </a:t>
            </a:r>
            <a:r>
              <a:rPr sz="1250" b="1" i="0">
                <a:solidFill>
                  <a:srgbClr val="2E2E40"/>
                </a:solidFill>
                <a:latin typeface="Calibri"/>
              </a:rPr>
              <a:t>och-aicdp.aipower.vn</a:t>
            </a:r>
          </a:p>
        </p:txBody>
      </p:sp>
      <p:sp>
        <p:nvSpPr>
          <p:cNvPr id="14" name="Rectangle 13"/>
          <p:cNvSpPr/>
          <p:nvPr/>
        </p:nvSpPr>
        <p:spPr>
          <a:xfrm>
            <a:off x="868680" y="5577840"/>
            <a:ext cx="5029200" cy="18288"/>
          </a:xfrm>
          <a:prstGeom prst="rect">
            <a:avLst/>
          </a:prstGeom>
          <a:solidFill>
            <a:srgbClr val="DE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715000"/>
            <a:ext cx="292608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50" b="0" i="0">
                <a:solidFill>
                  <a:srgbClr val="565564"/>
                </a:solidFill>
                <a:latin typeface="Calibri"/>
              </a:rPr>
              <a:t>Được phát triển bởi</a:t>
            </a:r>
          </a:p>
        </p:txBody>
      </p:sp>
      <p:pic>
        <p:nvPicPr>
          <p:cNvPr id="16" name="Picture 15" descr="aipower-logo.png"/>
          <p:cNvPicPr>
            <a:picLocks noChangeAspect="1"/>
          </p:cNvPicPr>
          <p:nvPr/>
        </p:nvPicPr>
        <p:blipFill>
          <a:blip r:embed="rId3"/>
          <a:stretch>
            <a:fillRect/>
          </a:stretch>
        </p:blipFill>
        <p:spPr>
          <a:xfrm>
            <a:off x="2743200" y="5559552"/>
            <a:ext cx="1417320" cy="593027"/>
          </a:xfrm>
          <a:prstGeom prst="rect">
            <a:avLst/>
          </a:prstGeom>
        </p:spPr>
      </p:pic>
      <p:sp>
        <p:nvSpPr>
          <p:cNvPr id="17" name="TextBox 16"/>
          <p:cNvSpPr txBox="1"/>
          <p:nvPr/>
        </p:nvSpPr>
        <p:spPr>
          <a:xfrm>
            <a:off x="868680" y="6309360"/>
            <a:ext cx="457200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Tài liệu giới thiệu hệ thống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THỰC TRẠNG DỮ LIỆU TẠI TẬP ĐOÀN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Một khách hàng, sáu bản ghi rời</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a:t>
            </a:r>
          </a:p>
        </p:txBody>
      </p:sp>
      <p:sp>
        <p:nvSpPr>
          <p:cNvPr id="8" name="TextBox 7"/>
          <p:cNvSpPr txBox="1"/>
          <p:nvPr/>
        </p:nvSpPr>
        <p:spPr>
          <a:xfrm>
            <a:off x="566928" y="1828800"/>
            <a:ext cx="5394960" cy="123444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300" b="0" i="0">
                <a:solidFill>
                  <a:srgbClr val="1B1B2E"/>
                </a:solidFill>
                <a:latin typeface="Calibri"/>
              </a:rPr>
              <a:t>Mỗi thương hiệu vận hành POS/PMS riêng. Cùng một khách tồn tại như nhiều bản ghi không liên quan — và không hệ thống nào trả lời được: </a:t>
            </a:r>
            <a:r>
              <a:rPr sz="1300" b="1" i="0">
                <a:solidFill>
                  <a:srgbClr val="2E2E40"/>
                </a:solidFill>
                <a:latin typeface="Calibri"/>
              </a:rPr>
              <a:t>“khách này đáng giá bao nhiêu với TẬP ĐOÀN?”</a:t>
            </a:r>
          </a:p>
        </p:txBody>
      </p:sp>
      <p:sp>
        <p:nvSpPr>
          <p:cNvPr id="9" name="TextBox 8"/>
          <p:cNvSpPr txBox="1"/>
          <p:nvPr/>
        </p:nvSpPr>
        <p:spPr>
          <a:xfrm>
            <a:off x="566928" y="3246120"/>
            <a:ext cx="539496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CHI PHÍ CỦA VIỆC KHÔNG BIẾT</a:t>
            </a:r>
          </a:p>
        </p:txBody>
      </p:sp>
      <p:sp>
        <p:nvSpPr>
          <p:cNvPr id="10" name="TextBox 9"/>
          <p:cNvSpPr txBox="1"/>
          <p:nvPr/>
        </p:nvSpPr>
        <p:spPr>
          <a:xfrm>
            <a:off x="566928" y="3611880"/>
            <a:ext cx="5440680" cy="2560320"/>
          </a:xfrm>
          <a:prstGeom prst="rect">
            <a:avLst/>
          </a:prstGeom>
          <a:noFill/>
        </p:spPr>
        <p:txBody>
          <a:bodyPr wrap="square" lIns="25400" rIns="25400" tIns="25400">
            <a:spAutoFit/>
          </a:bodyPr>
          <a:lstStyle/>
          <a:p>
            <a:pPr>
              <a:lnSpc>
                <a:spcPct val="105000"/>
              </a:lnSpc>
              <a:spcBef>
                <a:spcPts val="0"/>
              </a:spcBef>
              <a:spcAft>
                <a:spcPts val="1000"/>
              </a:spcAft>
            </a:pPr>
            <a:r>
              <a:rPr sz="1000" b="1">
                <a:solidFill>
                  <a:srgbClr val="C39851"/>
                </a:solidFill>
                <a:latin typeface="Calibri"/>
              </a:rPr>
              <a:t>●  </a:t>
            </a:r>
            <a:r>
              <a:rPr sz="1200" b="1">
                <a:solidFill>
                  <a:srgbClr val="2E2E40"/>
                </a:solidFill>
                <a:latin typeface="Calibri"/>
              </a:rPr>
              <a:t>Trùng ưu đãi</a:t>
            </a:r>
            <a:r>
              <a:rPr sz="1200">
                <a:solidFill>
                  <a:srgbClr val="1B1B2E"/>
                </a:solidFill>
                <a:latin typeface="Calibri"/>
              </a:rPr>
              <a:t> — hai thương hiệu cùng giảm giá cho một người trong một tuần.</a:t>
            </a:r>
          </a:p>
          <a:p>
            <a:pPr>
              <a:lnSpc>
                <a:spcPct val="105000"/>
              </a:lnSpc>
              <a:spcBef>
                <a:spcPts val="0"/>
              </a:spcBef>
              <a:spcAft>
                <a:spcPts val="1000"/>
              </a:spcAft>
            </a:pPr>
            <a:r>
              <a:rPr sz="1000" b="1">
                <a:solidFill>
                  <a:srgbClr val="C39851"/>
                </a:solidFill>
                <a:latin typeface="Calibri"/>
              </a:rPr>
              <a:t>●  </a:t>
            </a:r>
            <a:r>
              <a:rPr sz="1200" b="1">
                <a:solidFill>
                  <a:srgbClr val="2E2E40"/>
                </a:solidFill>
                <a:latin typeface="Calibri"/>
              </a:rPr>
              <a:t>Bỏ lỡ bán chéo</a:t>
            </a:r>
            <a:r>
              <a:rPr sz="1200">
                <a:solidFill>
                  <a:srgbClr val="1B1B2E"/>
                </a:solidFill>
                <a:latin typeface="Calibri"/>
              </a:rPr>
              <a:t> — khách nghỉ Sunrise chưa từng nhận một lời mời nào từ Givral.</a:t>
            </a:r>
          </a:p>
          <a:p>
            <a:pPr>
              <a:lnSpc>
                <a:spcPct val="105000"/>
              </a:lnSpc>
              <a:spcBef>
                <a:spcPts val="0"/>
              </a:spcBef>
              <a:spcAft>
                <a:spcPts val="1000"/>
              </a:spcAft>
            </a:pPr>
            <a:r>
              <a:rPr sz="1000" b="1">
                <a:solidFill>
                  <a:srgbClr val="C39851"/>
                </a:solidFill>
                <a:latin typeface="Calibri"/>
              </a:rPr>
              <a:t>●  </a:t>
            </a:r>
            <a:r>
              <a:rPr sz="1200" b="1">
                <a:solidFill>
                  <a:srgbClr val="2E2E40"/>
                </a:solidFill>
                <a:latin typeface="Calibri"/>
              </a:rPr>
              <a:t>Marketing bắn mù</a:t>
            </a:r>
            <a:r>
              <a:rPr sz="1200">
                <a:solidFill>
                  <a:srgbClr val="1B1B2E"/>
                </a:solidFill>
                <a:latin typeface="Calibri"/>
              </a:rPr>
              <a:t> — gửi hàng loạt vì không biết ai đáng gửi — tốn tiền, phiền khách.</a:t>
            </a:r>
          </a:p>
        </p:txBody>
      </p:sp>
      <p:sp>
        <p:nvSpPr>
          <p:cNvPr id="11" name="Rectangle 10"/>
          <p:cNvSpPr/>
          <p:nvPr/>
        </p:nvSpPr>
        <p:spPr>
          <a:xfrm>
            <a:off x="6309360" y="1828800"/>
            <a:ext cx="5303520" cy="4297680"/>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1000" y="2103120"/>
            <a:ext cx="1920240" cy="685800"/>
          </a:xfrm>
          <a:prstGeom prst="ellipse">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2103120"/>
            <a:ext cx="1920240" cy="6858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1 khách hàng</a:t>
            </a:r>
          </a:p>
        </p:txBody>
      </p:sp>
      <p:sp>
        <p:nvSpPr>
          <p:cNvPr id="14" name="Rectangle 13"/>
          <p:cNvSpPr/>
          <p:nvPr/>
        </p:nvSpPr>
        <p:spPr>
          <a:xfrm>
            <a:off x="6565392" y="33832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34564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Givral POS</a:t>
            </a:r>
          </a:p>
        </p:txBody>
      </p:sp>
      <p:sp>
        <p:nvSpPr>
          <p:cNvPr id="16" name="TextBox 15"/>
          <p:cNvSpPr txBox="1"/>
          <p:nvPr/>
        </p:nvSpPr>
        <p:spPr>
          <a:xfrm>
            <a:off x="6675120" y="37673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SĐT 090…</a:t>
            </a:r>
          </a:p>
        </p:txBody>
      </p:sp>
      <p:cxnSp>
        <p:nvCxnSpPr>
          <p:cNvPr id="17" name="Connector 16"/>
          <p:cNvCxnSpPr/>
          <p:nvPr/>
        </p:nvCxnSpPr>
        <p:spPr>
          <a:xfrm flipH="1">
            <a:off x="7726679" y="2788920"/>
            <a:ext cx="1234441" cy="5943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079992" y="33832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89719" y="34564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Kem Tràng Tiền</a:t>
            </a:r>
          </a:p>
        </p:txBody>
      </p:sp>
      <p:sp>
        <p:nvSpPr>
          <p:cNvPr id="20" name="TextBox 19"/>
          <p:cNvSpPr txBox="1"/>
          <p:nvPr/>
        </p:nvSpPr>
        <p:spPr>
          <a:xfrm>
            <a:off x="9189719" y="37673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khách lẻ, không tên</a:t>
            </a:r>
          </a:p>
        </p:txBody>
      </p:sp>
      <p:cxnSp>
        <p:nvCxnSpPr>
          <p:cNvPr id="21" name="Connector 20"/>
          <p:cNvCxnSpPr/>
          <p:nvPr/>
        </p:nvCxnSpPr>
        <p:spPr>
          <a:xfrm>
            <a:off x="8961120" y="2788920"/>
            <a:ext cx="1280160" cy="5943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565392" y="42976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3708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Fuji</a:t>
            </a:r>
          </a:p>
        </p:txBody>
      </p:sp>
      <p:sp>
        <p:nvSpPr>
          <p:cNvPr id="24" name="TextBox 23"/>
          <p:cNvSpPr txBox="1"/>
          <p:nvPr/>
        </p:nvSpPr>
        <p:spPr>
          <a:xfrm>
            <a:off x="6675120" y="46817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mã thẻ cũ</a:t>
            </a:r>
          </a:p>
        </p:txBody>
      </p:sp>
      <p:cxnSp>
        <p:nvCxnSpPr>
          <p:cNvPr id="25" name="Connector 24"/>
          <p:cNvCxnSpPr/>
          <p:nvPr/>
        </p:nvCxnSpPr>
        <p:spPr>
          <a:xfrm flipH="1">
            <a:off x="7726679" y="2788920"/>
            <a:ext cx="1234441" cy="15087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079992" y="42976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9719" y="43708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Sunrise PMS</a:t>
            </a:r>
          </a:p>
        </p:txBody>
      </p:sp>
      <p:sp>
        <p:nvSpPr>
          <p:cNvPr id="28" name="TextBox 27"/>
          <p:cNvSpPr txBox="1"/>
          <p:nvPr/>
        </p:nvSpPr>
        <p:spPr>
          <a:xfrm>
            <a:off x="9189719" y="46817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email cá nhân</a:t>
            </a:r>
          </a:p>
        </p:txBody>
      </p:sp>
      <p:cxnSp>
        <p:nvCxnSpPr>
          <p:cNvPr id="29" name="Connector 28"/>
          <p:cNvCxnSpPr/>
          <p:nvPr/>
        </p:nvCxnSpPr>
        <p:spPr>
          <a:xfrm>
            <a:off x="8961120" y="2788920"/>
            <a:ext cx="1280160" cy="15087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565392" y="52120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52852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StarCity</a:t>
            </a:r>
          </a:p>
        </p:txBody>
      </p:sp>
      <p:sp>
        <p:nvSpPr>
          <p:cNvPr id="32" name="TextBox 31"/>
          <p:cNvSpPr txBox="1"/>
          <p:nvPr/>
        </p:nvSpPr>
        <p:spPr>
          <a:xfrm>
            <a:off x="6675120" y="55961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booking qua OTA</a:t>
            </a:r>
          </a:p>
        </p:txBody>
      </p:sp>
      <p:cxnSp>
        <p:nvCxnSpPr>
          <p:cNvPr id="33" name="Connector 32"/>
          <p:cNvCxnSpPr/>
          <p:nvPr/>
        </p:nvCxnSpPr>
        <p:spPr>
          <a:xfrm flipH="1">
            <a:off x="7726679" y="2788920"/>
            <a:ext cx="1234441" cy="24231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9079992" y="5212080"/>
            <a:ext cx="2331720" cy="749808"/>
          </a:xfrm>
          <a:prstGeom prst="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9719" y="5285232"/>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1" i="0">
                <a:solidFill>
                  <a:srgbClr val="2E2E40"/>
                </a:solidFill>
                <a:latin typeface="Calibri"/>
              </a:rPr>
              <a:t>Dusit</a:t>
            </a:r>
          </a:p>
        </p:txBody>
      </p:sp>
      <p:sp>
        <p:nvSpPr>
          <p:cNvPr id="36" name="TextBox 35"/>
          <p:cNvSpPr txBox="1"/>
          <p:nvPr/>
        </p:nvSpPr>
        <p:spPr>
          <a:xfrm>
            <a:off x="9189719" y="5596128"/>
            <a:ext cx="2148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950" b="0" i="1">
                <a:solidFill>
                  <a:srgbClr val="565564"/>
                </a:solidFill>
                <a:latin typeface="Calibri"/>
              </a:rPr>
              <a:t>hồ sơ riêng biệt</a:t>
            </a:r>
          </a:p>
        </p:txBody>
      </p:sp>
      <p:cxnSp>
        <p:nvCxnSpPr>
          <p:cNvPr id="37" name="Connector 36"/>
          <p:cNvCxnSpPr/>
          <p:nvPr/>
        </p:nvCxnSpPr>
        <p:spPr>
          <a:xfrm>
            <a:off x="8961120" y="2788920"/>
            <a:ext cx="1280160" cy="2423160"/>
          </a:xfrm>
          <a:prstGeom prst="bentConnector3">
            <a:avLst/>
          </a:prstGeom>
          <a:ln w="9525">
            <a:solidFill>
              <a:srgbClr val="DED8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0" y="5833872"/>
            <a:ext cx="512064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Sáu mảnh rời — không mảnh nào biết các mảnh còn lại tồn tại.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HỢP NHẤT ĐỊNH DANH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Giải pháp: một OCH ID cho mỗi khách hàng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a:t>
            </a:r>
          </a:p>
        </p:txBody>
      </p:sp>
      <p:sp>
        <p:nvSpPr>
          <p:cNvPr id="8" name="Rounded Rectangle 7"/>
          <p:cNvSpPr/>
          <p:nvPr/>
        </p:nvSpPr>
        <p:spPr>
          <a:xfrm>
            <a:off x="566928" y="1828800"/>
            <a:ext cx="228600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28600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CƠ CHẾ</a:t>
            </a:r>
          </a:p>
        </p:txBody>
      </p:sp>
      <p:sp>
        <p:nvSpPr>
          <p:cNvPr id="10" name="TextBox 9"/>
          <p:cNvSpPr txBox="1"/>
          <p:nvPr/>
        </p:nvSpPr>
        <p:spPr>
          <a:xfrm>
            <a:off x="566928" y="2231136"/>
            <a:ext cx="4892040" cy="109728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150" b="0" i="0">
                <a:solidFill>
                  <a:srgbClr val="1B1B2E"/>
                </a:solidFill>
                <a:latin typeface="Calibri"/>
              </a:rPr>
              <a:t>SĐT, email, mã thẻ được chuẩn hoá rồi đối chiếu toàn tập đoàn. Trùng khớp → gắn vào OCH ID hiện có; chưa có → tạo mới. Gộp phi phá huỷ: vết gộp được lưu để kiểm toán, tách được khi gộp nhầm.</a:t>
            </a:r>
          </a:p>
        </p:txBody>
      </p:sp>
      <p:sp>
        <p:nvSpPr>
          <p:cNvPr id="11" name="Rounded Rectangle 10"/>
          <p:cNvSpPr/>
          <p:nvPr/>
        </p:nvSpPr>
        <p:spPr>
          <a:xfrm>
            <a:off x="566928" y="3310128"/>
            <a:ext cx="228600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28600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KẾT QUẢ TRÊN DEMO</a:t>
            </a:r>
          </a:p>
        </p:txBody>
      </p:sp>
      <p:sp>
        <p:nvSpPr>
          <p:cNvPr id="13" name="TextBox 12"/>
          <p:cNvSpPr txBox="1"/>
          <p:nvPr/>
        </p:nvSpPr>
        <p:spPr>
          <a:xfrm>
            <a:off x="566928" y="3712464"/>
            <a:ext cx="4892040" cy="109728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150" b="0" i="0">
                <a:solidFill>
                  <a:srgbClr val="1B1B2E"/>
                </a:solidFill>
                <a:latin typeface="Calibri"/>
              </a:rPr>
              <a:t>335 hồ sơ khách hợp nhất xuyên 6 thương hiệu. 15 ca hệ thống tự phát hiện hai hồ sơ rời thực chất là một người — không cần ai rà tay.</a:t>
            </a:r>
          </a:p>
        </p:txBody>
      </p:sp>
      <p:sp>
        <p:nvSpPr>
          <p:cNvPr id="14" name="Rounded Rectangle 13"/>
          <p:cNvSpPr/>
          <p:nvPr/>
        </p:nvSpPr>
        <p:spPr>
          <a:xfrm>
            <a:off x="566928" y="4791456"/>
            <a:ext cx="228600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28600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Ý NGHĨA</a:t>
            </a:r>
          </a:p>
        </p:txBody>
      </p:sp>
      <p:sp>
        <p:nvSpPr>
          <p:cNvPr id="16" name="TextBox 15"/>
          <p:cNvSpPr txBox="1"/>
          <p:nvPr/>
        </p:nvSpPr>
        <p:spPr>
          <a:xfrm>
            <a:off x="566928" y="5193792"/>
            <a:ext cx="4892040" cy="109728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150" b="0" i="0">
                <a:solidFill>
                  <a:srgbClr val="1B1B2E"/>
                </a:solidFill>
                <a:latin typeface="Calibri"/>
              </a:rPr>
              <a:t>Từ đây, mọi con số về khách — chi tiêu, hạng, điểm — tính trên tập đoàn, không phải trên từng thương hiệu.</a:t>
            </a:r>
          </a:p>
        </p:txBody>
      </p:sp>
      <p:sp>
        <p:nvSpPr>
          <p:cNvPr id="17" name="Rectangle 16"/>
          <p:cNvSpPr/>
          <p:nvPr/>
        </p:nvSpPr>
        <p:spPr>
          <a:xfrm>
            <a:off x="5760720" y="1920240"/>
            <a:ext cx="5897879" cy="377647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c_identity.png"/>
          <p:cNvPicPr>
            <a:picLocks noChangeAspect="1"/>
          </p:cNvPicPr>
          <p:nvPr/>
        </p:nvPicPr>
        <p:blipFill>
          <a:blip r:embed="rId2"/>
          <a:stretch>
            <a:fillRect/>
          </a:stretch>
        </p:blipFill>
        <p:spPr>
          <a:xfrm>
            <a:off x="5806440" y="2662468"/>
            <a:ext cx="5806440" cy="2292015"/>
          </a:xfrm>
          <a:prstGeom prst="rect">
            <a:avLst/>
          </a:prstGeom>
        </p:spPr>
      </p:pic>
      <p:sp>
        <p:nvSpPr>
          <p:cNvPr id="19" name="TextBox 18"/>
          <p:cNvSpPr txBox="1"/>
          <p:nvPr/>
        </p:nvSpPr>
        <p:spPr>
          <a:xfrm>
            <a:off x="5760720" y="5733288"/>
            <a:ext cx="589787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Lưu đồ hợp nhất: giao dịch POS/PMS → chuẩn hoá → đối chiếu → OCH 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MỖI GIÁ TRỊ GẮN MỘT CƠ CHẾ CỤ THỂ</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Bốn giá trị kinh doanh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a:t>
            </a:r>
          </a:p>
        </p:txBody>
      </p:sp>
      <p:sp>
        <p:nvSpPr>
          <p:cNvPr id="8" name="Rectangle 7"/>
          <p:cNvSpPr/>
          <p:nvPr/>
        </p:nvSpPr>
        <p:spPr>
          <a:xfrm>
            <a:off x="566928" y="1920240"/>
            <a:ext cx="5257800" cy="19659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920240"/>
            <a:ext cx="64008" cy="196596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84832"/>
            <a:ext cx="505663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542032"/>
            <a:ext cx="49469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50" b="1" i="0">
                <a:solidFill>
                  <a:srgbClr val="2E2E40"/>
                </a:solidFill>
                <a:latin typeface="Calibri"/>
              </a:rPr>
              <a:t>Nhìn đúng giá trị từng khách</a:t>
            </a:r>
          </a:p>
        </p:txBody>
      </p:sp>
      <p:sp>
        <p:nvSpPr>
          <p:cNvPr id="12" name="TextBox 11"/>
          <p:cNvSpPr txBox="1"/>
          <p:nvPr/>
        </p:nvSpPr>
        <p:spPr>
          <a:xfrm>
            <a:off x="768096" y="2926080"/>
            <a:ext cx="4901183" cy="850391"/>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Chi tiêu cộng dồn trên OCH ID — khách Kim cương của tập đoàn không còn bị mỗi nơi xem là khách lẻ.</a:t>
            </a:r>
          </a:p>
        </p:txBody>
      </p:sp>
      <p:sp>
        <p:nvSpPr>
          <p:cNvPr id="13" name="Rectangle 12"/>
          <p:cNvSpPr/>
          <p:nvPr/>
        </p:nvSpPr>
        <p:spPr>
          <a:xfrm>
            <a:off x="6099048" y="1920240"/>
            <a:ext cx="5257800" cy="19659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99048" y="1920240"/>
            <a:ext cx="64008" cy="196596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2084832"/>
            <a:ext cx="505663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6300216" y="2542032"/>
            <a:ext cx="49469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50" b="1" i="0">
                <a:solidFill>
                  <a:srgbClr val="2E2E40"/>
                </a:solidFill>
                <a:latin typeface="Calibri"/>
              </a:rPr>
              <a:t>Một quỹ điểm duy nhất</a:t>
            </a:r>
          </a:p>
        </p:txBody>
      </p:sp>
      <p:sp>
        <p:nvSpPr>
          <p:cNvPr id="17" name="TextBox 16"/>
          <p:cNvSpPr txBox="1"/>
          <p:nvPr/>
        </p:nvSpPr>
        <p:spPr>
          <a:xfrm>
            <a:off x="6300216" y="2926080"/>
            <a:ext cx="4901183" cy="850391"/>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Điểm ghi theo sổ kép, có bút toán đối ứng — tích ở Givral, đổi ở Sunrise, quỹ không lệch một điểm.</a:t>
            </a:r>
          </a:p>
        </p:txBody>
      </p:sp>
      <p:sp>
        <p:nvSpPr>
          <p:cNvPr id="18" name="Rectangle 17"/>
          <p:cNvSpPr/>
          <p:nvPr/>
        </p:nvSpPr>
        <p:spPr>
          <a:xfrm>
            <a:off x="566928" y="4069080"/>
            <a:ext cx="5257800" cy="19659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069080"/>
            <a:ext cx="64008" cy="196596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233672"/>
            <a:ext cx="505663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768096" y="4690872"/>
            <a:ext cx="49469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50" b="1" i="0">
                <a:solidFill>
                  <a:srgbClr val="2E2E40"/>
                </a:solidFill>
                <a:latin typeface="Calibri"/>
              </a:rPr>
              <a:t>Chiến dịch chạy theo hành vi thật</a:t>
            </a:r>
          </a:p>
        </p:txBody>
      </p:sp>
      <p:sp>
        <p:nvSpPr>
          <p:cNvPr id="22" name="TextBox 21"/>
          <p:cNvSpPr txBox="1"/>
          <p:nvPr/>
        </p:nvSpPr>
        <p:spPr>
          <a:xfrm>
            <a:off x="768096" y="5074920"/>
            <a:ext cx="4901183" cy="850392"/>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Hành trình kích hoạt khi khách thoả điều kiện — không phải khi marketer nhớ ra.</a:t>
            </a:r>
          </a:p>
        </p:txBody>
      </p:sp>
      <p:sp>
        <p:nvSpPr>
          <p:cNvPr id="23" name="Rectangle 22"/>
          <p:cNvSpPr/>
          <p:nvPr/>
        </p:nvSpPr>
        <p:spPr>
          <a:xfrm>
            <a:off x="6099048" y="4069080"/>
            <a:ext cx="5257800" cy="19659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99048" y="4069080"/>
            <a:ext cx="64008" cy="196596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0216" y="4233672"/>
            <a:ext cx="5056632"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6300216" y="4690872"/>
            <a:ext cx="49469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50" b="1" i="0">
                <a:solidFill>
                  <a:srgbClr val="2E2E40"/>
                </a:solidFill>
                <a:latin typeface="Calibri"/>
              </a:rPr>
              <a:t>Bán chéo có địa chỉ</a:t>
            </a:r>
          </a:p>
        </p:txBody>
      </p:sp>
      <p:sp>
        <p:nvSpPr>
          <p:cNvPr id="27" name="TextBox 26"/>
          <p:cNvSpPr txBox="1"/>
          <p:nvPr/>
        </p:nvSpPr>
        <p:spPr>
          <a:xfrm>
            <a:off x="6300216" y="5074920"/>
            <a:ext cx="4901183" cy="850392"/>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Hệ thống chỉ đích danh khách F&amp;B chưa từng dùng khách sạn (và ngược lại) — đội bán biết gọi ai trước.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TỪ DỮ LIỆU RỜI RẠC ĐẾN HÀNH ĐỘNG KINH DOANH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Bức tranh tổng thể</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5</a:t>
            </a:r>
          </a:p>
        </p:txBody>
      </p:sp>
      <p:sp>
        <p:nvSpPr>
          <p:cNvPr id="8" name="TextBox 7"/>
          <p:cNvSpPr txBox="1"/>
          <p:nvPr/>
        </p:nvSpPr>
        <p:spPr>
          <a:xfrm>
            <a:off x="566928" y="1783080"/>
            <a:ext cx="274320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NGUỒN DỮ LIỆU</a:t>
            </a:r>
          </a:p>
        </p:txBody>
      </p:sp>
      <p:sp>
        <p:nvSpPr>
          <p:cNvPr id="9" name="Rectangle 8"/>
          <p:cNvSpPr/>
          <p:nvPr/>
        </p:nvSpPr>
        <p:spPr>
          <a:xfrm>
            <a:off x="566928" y="2148840"/>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48840"/>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POS F&amp;B (Givral, KTT, Fuji)</a:t>
            </a:r>
          </a:p>
        </p:txBody>
      </p:sp>
      <p:sp>
        <p:nvSpPr>
          <p:cNvPr id="11" name="Rectangle 10"/>
          <p:cNvSpPr/>
          <p:nvPr/>
        </p:nvSpPr>
        <p:spPr>
          <a:xfrm>
            <a:off x="566928" y="2807208"/>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807208"/>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PMS Khách sạn (Sunrise, StarCity, Dusit)</a:t>
            </a:r>
          </a:p>
        </p:txBody>
      </p:sp>
      <p:sp>
        <p:nvSpPr>
          <p:cNvPr id="13" name="Rectangle 12"/>
          <p:cNvSpPr/>
          <p:nvPr/>
        </p:nvSpPr>
        <p:spPr>
          <a:xfrm>
            <a:off x="566928" y="3465576"/>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65576"/>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Website / Ứng dụng / E-commerce</a:t>
            </a:r>
          </a:p>
        </p:txBody>
      </p:sp>
      <p:sp>
        <p:nvSpPr>
          <p:cNvPr id="15" name="Rectangle 14"/>
          <p:cNvSpPr/>
          <p:nvPr/>
        </p:nvSpPr>
        <p:spPr>
          <a:xfrm>
            <a:off x="566928" y="4123944"/>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123944"/>
            <a:ext cx="2606040" cy="54864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Chăm sóc khách hàng (CSKH)</a:t>
            </a:r>
          </a:p>
        </p:txBody>
      </p:sp>
      <p:sp>
        <p:nvSpPr>
          <p:cNvPr id="17" name="Right Arrow 16"/>
          <p:cNvSpPr/>
          <p:nvPr/>
        </p:nvSpPr>
        <p:spPr>
          <a:xfrm>
            <a:off x="3456432" y="3154680"/>
            <a:ext cx="50292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69080" y="1965960"/>
            <a:ext cx="4069080" cy="3337560"/>
          </a:xfrm>
          <a:prstGeom prst="rect">
            <a:avLst/>
          </a:prstGeom>
          <a:solidFill>
            <a:srgbClr val="FFFFFF"/>
          </a:solidFill>
          <a:ln w="1905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69080" y="1965960"/>
            <a:ext cx="4069080" cy="50292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69080" y="1965960"/>
            <a:ext cx="406908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2E2E40"/>
                </a:solidFill>
                <a:latin typeface="Calibri"/>
              </a:rPr>
              <a:t>BỘ NÃO CDP</a:t>
            </a:r>
          </a:p>
        </p:txBody>
      </p:sp>
      <p:sp>
        <p:nvSpPr>
          <p:cNvPr id="21" name="Rounded Rectangle 20"/>
          <p:cNvSpPr/>
          <p:nvPr/>
        </p:nvSpPr>
        <p:spPr>
          <a:xfrm>
            <a:off x="4315968" y="2651760"/>
            <a:ext cx="3566160" cy="502920"/>
          </a:xfrm>
          <a:prstGeom prst="round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651760"/>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① Hợp nhất định danh</a:t>
            </a:r>
          </a:p>
        </p:txBody>
      </p:sp>
      <p:sp>
        <p:nvSpPr>
          <p:cNvPr id="23" name="Rounded Rectangle 22"/>
          <p:cNvSpPr/>
          <p:nvPr/>
        </p:nvSpPr>
        <p:spPr>
          <a:xfrm>
            <a:off x="4315968" y="3273552"/>
            <a:ext cx="3566160" cy="502920"/>
          </a:xfrm>
          <a:prstGeom prst="round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15968" y="3273552"/>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② Hồ sơ 360°</a:t>
            </a:r>
          </a:p>
        </p:txBody>
      </p:sp>
      <p:sp>
        <p:nvSpPr>
          <p:cNvPr id="25" name="Rounded Rectangle 24"/>
          <p:cNvSpPr/>
          <p:nvPr/>
        </p:nvSpPr>
        <p:spPr>
          <a:xfrm>
            <a:off x="4315968" y="3895344"/>
            <a:ext cx="3566160" cy="502920"/>
          </a:xfrm>
          <a:prstGeom prst="round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3895344"/>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③ Phân khúc (Segment)</a:t>
            </a:r>
          </a:p>
        </p:txBody>
      </p:sp>
      <p:sp>
        <p:nvSpPr>
          <p:cNvPr id="27" name="Rounded Rectangle 26"/>
          <p:cNvSpPr/>
          <p:nvPr/>
        </p:nvSpPr>
        <p:spPr>
          <a:xfrm>
            <a:off x="4315968" y="4517136"/>
            <a:ext cx="3566160" cy="502920"/>
          </a:xfrm>
          <a:prstGeom prst="roundRect">
            <a:avLst/>
          </a:prstGeom>
          <a:solidFill>
            <a:srgbClr val="F7F6F2"/>
          </a:solidFill>
          <a:ln w="95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15968" y="4517136"/>
            <a:ext cx="356616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④ Kích hoạt (Activation)</a:t>
            </a:r>
          </a:p>
        </p:txBody>
      </p:sp>
      <p:sp>
        <p:nvSpPr>
          <p:cNvPr id="29" name="Right Arrow 28"/>
          <p:cNvSpPr/>
          <p:nvPr/>
        </p:nvSpPr>
        <p:spPr>
          <a:xfrm>
            <a:off x="8211312" y="3154680"/>
            <a:ext cx="50292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3960" y="1783080"/>
            <a:ext cx="292608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KÊNH KÍCH HOẠT</a:t>
            </a:r>
          </a:p>
        </p:txBody>
      </p:sp>
      <p:sp>
        <p:nvSpPr>
          <p:cNvPr id="31" name="Rectangle 30"/>
          <p:cNvSpPr/>
          <p:nvPr/>
        </p:nvSpPr>
        <p:spPr>
          <a:xfrm>
            <a:off x="8823960" y="2148840"/>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42832" y="2148840"/>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Email / SMS</a:t>
            </a:r>
          </a:p>
        </p:txBody>
      </p:sp>
      <p:sp>
        <p:nvSpPr>
          <p:cNvPr id="33" name="Rectangle 32"/>
          <p:cNvSpPr/>
          <p:nvPr/>
        </p:nvSpPr>
        <p:spPr>
          <a:xfrm>
            <a:off x="8823960" y="2807208"/>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2807208"/>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Zalo ZNS</a:t>
            </a:r>
          </a:p>
        </p:txBody>
      </p:sp>
      <p:sp>
        <p:nvSpPr>
          <p:cNvPr id="35" name="Rectangle 34"/>
          <p:cNvSpPr/>
          <p:nvPr/>
        </p:nvSpPr>
        <p:spPr>
          <a:xfrm>
            <a:off x="8823960" y="3465576"/>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42832" y="3465576"/>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Quảng cáo Google / Meta</a:t>
            </a:r>
          </a:p>
        </p:txBody>
      </p:sp>
      <p:sp>
        <p:nvSpPr>
          <p:cNvPr id="37" name="Rectangle 36"/>
          <p:cNvSpPr/>
          <p:nvPr/>
        </p:nvSpPr>
        <p:spPr>
          <a:xfrm>
            <a:off x="8823960" y="4123944"/>
            <a:ext cx="2788920" cy="5486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42832" y="4123944"/>
            <a:ext cx="2606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050" b="0" i="0">
                <a:solidFill>
                  <a:srgbClr val="1B1B2E"/>
                </a:solidFill>
                <a:latin typeface="Calibri"/>
              </a:rPr>
              <a:t>BI / Kho dữ liệu</a:t>
            </a:r>
          </a:p>
        </p:txBody>
      </p:sp>
      <p:sp>
        <p:nvSpPr>
          <p:cNvPr id="39" name="Rounded Rectangle 38"/>
          <p:cNvSpPr/>
          <p:nvPr/>
        </p:nvSpPr>
        <p:spPr>
          <a:xfrm>
            <a:off x="566928" y="5532120"/>
            <a:ext cx="1106424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532120"/>
            <a:ext cx="106070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250" b="1" i="0">
                <a:solidFill>
                  <a:srgbClr val="2E2E40"/>
                </a:solidFill>
                <a:latin typeface="Calibri"/>
              </a:rPr>
              <a:t>Đọc như câu chuyện: </a:t>
            </a:r>
            <a:r>
              <a:rPr sz="1250" b="0" i="0">
                <a:solidFill>
                  <a:srgbClr val="1B1B2E"/>
                </a:solidFill>
                <a:latin typeface="Calibri"/>
              </a:rPr>
              <a:t>dữ liệu rời rạc từ mọi thương hiệu → được hợp nhất thành hồ sơ khách 360° → chia thành nhóm khách → gửi đúng thông điệp ra đúng kênh.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CDP LÀ TRUNG TÂM — KẾT NỐI VÀO VÀ RA</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Mô hình kết nối &amp; tích hợp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6</a:t>
            </a:r>
          </a:p>
        </p:txBody>
      </p:sp>
      <p:sp>
        <p:nvSpPr>
          <p:cNvPr id="8" name="TextBox 7"/>
          <p:cNvSpPr txBox="1"/>
          <p:nvPr/>
        </p:nvSpPr>
        <p:spPr>
          <a:xfrm>
            <a:off x="566928" y="1737360"/>
            <a:ext cx="3291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INBOUND · Đưa dữ liệu VÀO</a:t>
            </a:r>
          </a:p>
        </p:txBody>
      </p:sp>
      <p:sp>
        <p:nvSpPr>
          <p:cNvPr id="9" name="Rectangle 8"/>
          <p:cNvSpPr/>
          <p:nvPr/>
        </p:nvSpPr>
        <p:spPr>
          <a:xfrm>
            <a:off x="566928" y="2103120"/>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POS F&amp;B — Givral · KTT · Fuji</a:t>
            </a:r>
          </a:p>
        </p:txBody>
      </p:sp>
      <p:sp>
        <p:nvSpPr>
          <p:cNvPr id="11" name="Rectangle 10"/>
          <p:cNvSpPr/>
          <p:nvPr/>
        </p:nvSpPr>
        <p:spPr>
          <a:xfrm>
            <a:off x="566928" y="2816352"/>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816352"/>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PMS Khách sạn — Sunrise · StarCity · Dusit</a:t>
            </a:r>
          </a:p>
        </p:txBody>
      </p:sp>
      <p:sp>
        <p:nvSpPr>
          <p:cNvPr id="13" name="Rectangle 12"/>
          <p:cNvSpPr/>
          <p:nvPr/>
        </p:nvSpPr>
        <p:spPr>
          <a:xfrm>
            <a:off x="566928" y="3529584"/>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529584"/>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Web · App · E-commerce</a:t>
            </a:r>
          </a:p>
        </p:txBody>
      </p:sp>
      <p:sp>
        <p:nvSpPr>
          <p:cNvPr id="15" name="Rectangle 14"/>
          <p:cNvSpPr/>
          <p:nvPr/>
        </p:nvSpPr>
        <p:spPr>
          <a:xfrm>
            <a:off x="566928" y="4242816"/>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42816"/>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Form đăng ký · CSKH · Call center</a:t>
            </a:r>
          </a:p>
        </p:txBody>
      </p:sp>
      <p:sp>
        <p:nvSpPr>
          <p:cNvPr id="17" name="Right Arrow 16"/>
          <p:cNvSpPr/>
          <p:nvPr/>
        </p:nvSpPr>
        <p:spPr>
          <a:xfrm>
            <a:off x="3931920" y="3063240"/>
            <a:ext cx="45720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331720"/>
            <a:ext cx="3154680" cy="2468880"/>
          </a:xfrm>
          <a:prstGeom prst="rect">
            <a:avLst/>
          </a:prstGeom>
          <a:solidFill>
            <a:srgbClr val="FFFFFF"/>
          </a:solidFill>
          <a:ln w="2222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26280" y="2331720"/>
            <a:ext cx="3154680" cy="12801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6280" y="2560320"/>
            <a:ext cx="3154680" cy="914400"/>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3000" b="1" i="0">
                <a:solidFill>
                  <a:srgbClr val="2E2E40"/>
                </a:solidFill>
                <a:latin typeface="Georgia"/>
              </a:rPr>
              <a:t>OCH</a:t>
            </a:r>
          </a:p>
          <a:p>
            <a:pPr algn="ctr">
              <a:lnSpc>
                <a:spcPct val="90000"/>
              </a:lnSpc>
              <a:spcBef>
                <a:spcPts val="0"/>
              </a:spcBef>
              <a:spcAft>
                <a:spcPts val="400"/>
              </a:spcAft>
            </a:pPr>
            <a:r>
              <a:rPr sz="2000" b="1" i="0">
                <a:solidFill>
                  <a:srgbClr val="C39851"/>
                </a:solidFill>
                <a:latin typeface="Georgia"/>
              </a:rPr>
              <a:t>CDP</a:t>
            </a:r>
          </a:p>
        </p:txBody>
      </p:sp>
      <p:sp>
        <p:nvSpPr>
          <p:cNvPr id="21" name="TextBox 20"/>
          <p:cNvSpPr txBox="1"/>
          <p:nvPr/>
        </p:nvSpPr>
        <p:spPr>
          <a:xfrm>
            <a:off x="4663440" y="3977639"/>
            <a:ext cx="2880360" cy="77724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00" b="0" i="0">
                <a:solidFill>
                  <a:srgbClr val="565564"/>
                </a:solidFill>
                <a:latin typeface="Calibri"/>
              </a:rPr>
              <a:t>Hợp nhất · Hồ sơ 360° · Phân khúc · Kích hoạt</a:t>
            </a:r>
          </a:p>
        </p:txBody>
      </p:sp>
      <p:sp>
        <p:nvSpPr>
          <p:cNvPr id="22" name="Right Arrow 21"/>
          <p:cNvSpPr/>
          <p:nvPr/>
        </p:nvSpPr>
        <p:spPr>
          <a:xfrm>
            <a:off x="7772400" y="3063240"/>
            <a:ext cx="457200" cy="457200"/>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66760" y="1737360"/>
            <a:ext cx="32918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OUTBOUND · Đưa dữ liệu RA</a:t>
            </a:r>
          </a:p>
        </p:txBody>
      </p:sp>
      <p:sp>
        <p:nvSpPr>
          <p:cNvPr id="24" name="Rectangle 23"/>
          <p:cNvSpPr/>
          <p:nvPr/>
        </p:nvSpPr>
        <p:spPr>
          <a:xfrm>
            <a:off x="8366760" y="2103120"/>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85632" y="2103120"/>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Email · SMS</a:t>
            </a:r>
          </a:p>
        </p:txBody>
      </p:sp>
      <p:sp>
        <p:nvSpPr>
          <p:cNvPr id="26" name="Rectangle 25"/>
          <p:cNvSpPr/>
          <p:nvPr/>
        </p:nvSpPr>
        <p:spPr>
          <a:xfrm>
            <a:off x="8366760" y="2816352"/>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85632" y="2816352"/>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Zalo ZNS (kênh Việt Nam)</a:t>
            </a:r>
          </a:p>
        </p:txBody>
      </p:sp>
      <p:sp>
        <p:nvSpPr>
          <p:cNvPr id="28" name="Rectangle 27"/>
          <p:cNvSpPr/>
          <p:nvPr/>
        </p:nvSpPr>
        <p:spPr>
          <a:xfrm>
            <a:off x="8366760" y="3529584"/>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85632" y="3529584"/>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Quảng cáo Google · Meta</a:t>
            </a:r>
          </a:p>
        </p:txBody>
      </p:sp>
      <p:sp>
        <p:nvSpPr>
          <p:cNvPr id="30" name="Rectangle 29"/>
          <p:cNvSpPr/>
          <p:nvPr/>
        </p:nvSpPr>
        <p:spPr>
          <a:xfrm>
            <a:off x="8366760" y="4242816"/>
            <a:ext cx="3246120" cy="59436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85632" y="4242816"/>
            <a:ext cx="3063240" cy="594360"/>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0">
                <a:solidFill>
                  <a:srgbClr val="1B1B2E"/>
                </a:solidFill>
                <a:latin typeface="Calibri"/>
              </a:rPr>
              <a:t>Kho dữ liệu · BI · Loyalty/CRM</a:t>
            </a:r>
          </a:p>
        </p:txBody>
      </p:sp>
      <p:sp>
        <p:nvSpPr>
          <p:cNvPr id="32" name="Rectangle 31"/>
          <p:cNvSpPr/>
          <p:nvPr/>
        </p:nvSpPr>
        <p:spPr>
          <a:xfrm>
            <a:off x="566928" y="5349240"/>
            <a:ext cx="11064240" cy="10058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5349240"/>
            <a:ext cx="82296" cy="10058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349240"/>
            <a:ext cx="10607040" cy="1005840"/>
          </a:xfrm>
          <a:prstGeom prst="rect">
            <a:avLst/>
          </a:prstGeom>
          <a:noFill/>
        </p:spPr>
        <p:txBody>
          <a:bodyPr wrap="square" anchor="ctr" lIns="25400" rIns="25400" tIns="12700" bIns="12700">
            <a:spAutoFit/>
          </a:bodyPr>
          <a:lstStyle/>
          <a:p>
            <a:pPr algn="l">
              <a:lnSpc>
                <a:spcPct val="108000"/>
              </a:lnSpc>
              <a:spcBef>
                <a:spcPts val="0"/>
              </a:spcBef>
              <a:spcAft>
                <a:spcPts val="400"/>
              </a:spcAft>
            </a:pPr>
            <a:r>
              <a:rPr sz="1150" b="1" i="0">
                <a:solidFill>
                  <a:srgbClr val="2E2E40"/>
                </a:solidFill>
                <a:latin typeface="Calibri"/>
              </a:rPr>
              <a:t>Hai chế độ kết nối: </a:t>
            </a:r>
            <a:r>
              <a:rPr sz="1150" b="0" i="0">
                <a:solidFill>
                  <a:srgbClr val="1B1B2E"/>
                </a:solidFill>
                <a:latin typeface="Calibri"/>
              </a:rPr>
              <a:t>realtime (tức thời khi có giao dịch) và theo lô (đồng bộ định kỳ). </a:t>
            </a:r>
            <a:r>
              <a:rPr sz="1150" b="1" i="0">
                <a:solidFill>
                  <a:srgbClr val="2F7D5B"/>
                </a:solidFill>
                <a:latin typeface="Calibri"/>
              </a:rPr>
              <a:t>Cổng consent </a:t>
            </a:r>
            <a:r>
              <a:rPr sz="1150" b="0" i="0">
                <a:solidFill>
                  <a:srgbClr val="1B1B2E"/>
                </a:solidFill>
                <a:latin typeface="Calibri"/>
              </a:rPr>
              <a:t>đặt ở khâu kích hoạt: chỉ khách đã đồng ý mới được nhắm tới. </a:t>
            </a:r>
            <a:r>
              <a:rPr sz="1150" b="1" i="0">
                <a:solidFill>
                  <a:srgbClr val="2E2E40"/>
                </a:solidFill>
                <a:latin typeface="Calibri"/>
              </a:rPr>
              <a:t>Chống trùng doanh thu: </a:t>
            </a:r>
            <a:r>
              <a:rPr sz="1150" b="0" i="0">
                <a:solidFill>
                  <a:srgbClr val="1B1B2E"/>
                </a:solidFill>
                <a:latin typeface="Calibri"/>
              </a:rPr>
              <a:t>mỗi giao dịch POS mang khoá duy nhất {thương hiệu}:{cửa hàng}:{mã giao dịch} — POS gửi lại bao nhiêu lần cũng chỉ ghi nhận một lần.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THÀNH PHẦN &amp; LÝ DO CHỌN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Ngăn xếp công nghệ (Tech stack)</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7</a:t>
            </a:r>
          </a:p>
        </p:txBody>
      </p:sp>
      <p:sp>
        <p:nvSpPr>
          <p:cNvPr id="8" name="Rectangle 7"/>
          <p:cNvSpPr/>
          <p:nvPr/>
        </p:nvSpPr>
        <p:spPr>
          <a:xfrm>
            <a:off x="566928" y="1874519"/>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74519"/>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RudderStack OSS</a:t>
            </a:r>
          </a:p>
        </p:txBody>
      </p:sp>
      <p:sp>
        <p:nvSpPr>
          <p:cNvPr id="11" name="TextBox 10"/>
          <p:cNvSpPr txBox="1"/>
          <p:nvPr/>
        </p:nvSpPr>
        <p:spPr>
          <a:xfrm>
            <a:off x="3703320" y="1874519"/>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Ingestion · routing · reverse-ETL</a:t>
            </a:r>
          </a:p>
        </p:txBody>
      </p:sp>
      <p:sp>
        <p:nvSpPr>
          <p:cNvPr id="12" name="TextBox 11"/>
          <p:cNvSpPr txBox="1"/>
          <p:nvPr/>
        </p:nvSpPr>
        <p:spPr>
          <a:xfrm>
            <a:off x="8001000" y="1874519"/>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Mã nguồn mở, tương thích Segment</a:t>
            </a:r>
          </a:p>
        </p:txBody>
      </p:sp>
      <p:sp>
        <p:nvSpPr>
          <p:cNvPr id="13" name="Rectangle 12"/>
          <p:cNvSpPr/>
          <p:nvPr/>
        </p:nvSpPr>
        <p:spPr>
          <a:xfrm>
            <a:off x="566928" y="2441448"/>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441448"/>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441448"/>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NestJS (core-api)</a:t>
            </a:r>
          </a:p>
        </p:txBody>
      </p:sp>
      <p:sp>
        <p:nvSpPr>
          <p:cNvPr id="16" name="TextBox 15"/>
          <p:cNvSpPr txBox="1"/>
          <p:nvPr/>
        </p:nvSpPr>
        <p:spPr>
          <a:xfrm>
            <a:off x="3703320" y="2441448"/>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API nghiệp vụ trong 1 giao dịch ACID</a:t>
            </a:r>
          </a:p>
        </p:txBody>
      </p:sp>
      <p:sp>
        <p:nvSpPr>
          <p:cNvPr id="17" name="TextBox 16"/>
          <p:cNvSpPr txBox="1"/>
          <p:nvPr/>
        </p:nvSpPr>
        <p:spPr>
          <a:xfrm>
            <a:off x="8001000" y="2441448"/>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Gom identity+loyalty+consent+ingestion</a:t>
            </a:r>
          </a:p>
        </p:txBody>
      </p:sp>
      <p:sp>
        <p:nvSpPr>
          <p:cNvPr id="18" name="Rectangle 17"/>
          <p:cNvSpPr/>
          <p:nvPr/>
        </p:nvSpPr>
        <p:spPr>
          <a:xfrm>
            <a:off x="566928" y="3008376"/>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008376"/>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008376"/>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PostgreSQL 18</a:t>
            </a:r>
          </a:p>
        </p:txBody>
      </p:sp>
      <p:sp>
        <p:nvSpPr>
          <p:cNvPr id="21" name="TextBox 20"/>
          <p:cNvSpPr txBox="1"/>
          <p:nvPr/>
        </p:nvSpPr>
        <p:spPr>
          <a:xfrm>
            <a:off x="3703320" y="3008376"/>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System of record (nguồn sự thật)</a:t>
            </a:r>
          </a:p>
        </p:txBody>
      </p:sp>
      <p:sp>
        <p:nvSpPr>
          <p:cNvPr id="22" name="TextBox 21"/>
          <p:cNvSpPr txBox="1"/>
          <p:nvPr/>
        </p:nvSpPr>
        <p:spPr>
          <a:xfrm>
            <a:off x="8001000" y="3008376"/>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ACID — đúng tiền, đúng danh tính</a:t>
            </a:r>
          </a:p>
        </p:txBody>
      </p:sp>
      <p:sp>
        <p:nvSpPr>
          <p:cNvPr id="23" name="Rectangle 22"/>
          <p:cNvSpPr/>
          <p:nvPr/>
        </p:nvSpPr>
        <p:spPr>
          <a:xfrm>
            <a:off x="566928" y="3575303"/>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575303"/>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575303"/>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ClickHouse</a:t>
            </a:r>
          </a:p>
        </p:txBody>
      </p:sp>
      <p:sp>
        <p:nvSpPr>
          <p:cNvPr id="26" name="TextBox 25"/>
          <p:cNvSpPr txBox="1"/>
          <p:nvPr/>
        </p:nvSpPr>
        <p:spPr>
          <a:xfrm>
            <a:off x="3703320" y="3575303"/>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OLAP — phân tích cột tốc độ cao</a:t>
            </a:r>
          </a:p>
        </p:txBody>
      </p:sp>
      <p:sp>
        <p:nvSpPr>
          <p:cNvPr id="27" name="TextBox 26"/>
          <p:cNvSpPr txBox="1"/>
          <p:nvPr/>
        </p:nvSpPr>
        <p:spPr>
          <a:xfrm>
            <a:off x="8001000" y="3575303"/>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Báo cáo &amp; phân tích khối lượng lớn</a:t>
            </a:r>
          </a:p>
        </p:txBody>
      </p:sp>
      <p:sp>
        <p:nvSpPr>
          <p:cNvPr id="28" name="Rectangle 27"/>
          <p:cNvSpPr/>
          <p:nvPr/>
        </p:nvSpPr>
        <p:spPr>
          <a:xfrm>
            <a:off x="566928" y="4142231"/>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142231"/>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142231"/>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Redis</a:t>
            </a:r>
          </a:p>
        </p:txBody>
      </p:sp>
      <p:sp>
        <p:nvSpPr>
          <p:cNvPr id="31" name="TextBox 30"/>
          <p:cNvSpPr txBox="1"/>
          <p:nvPr/>
        </p:nvSpPr>
        <p:spPr>
          <a:xfrm>
            <a:off x="3703320" y="4142231"/>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Cache (Profile API)</a:t>
            </a:r>
          </a:p>
        </p:txBody>
      </p:sp>
      <p:sp>
        <p:nvSpPr>
          <p:cNvPr id="32" name="TextBox 31"/>
          <p:cNvSpPr txBox="1"/>
          <p:nvPr/>
        </p:nvSpPr>
        <p:spPr>
          <a:xfrm>
            <a:off x="8001000" y="4142231"/>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Tra cứu hồ sơ 360° tức thời</a:t>
            </a:r>
          </a:p>
        </p:txBody>
      </p:sp>
      <p:sp>
        <p:nvSpPr>
          <p:cNvPr id="33" name="Rectangle 32"/>
          <p:cNvSpPr/>
          <p:nvPr/>
        </p:nvSpPr>
        <p:spPr>
          <a:xfrm>
            <a:off x="566928" y="4709160"/>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709160"/>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709160"/>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MinIO</a:t>
            </a:r>
          </a:p>
        </p:txBody>
      </p:sp>
      <p:sp>
        <p:nvSpPr>
          <p:cNvPr id="36" name="TextBox 35"/>
          <p:cNvSpPr txBox="1"/>
          <p:nvPr/>
        </p:nvSpPr>
        <p:spPr>
          <a:xfrm>
            <a:off x="3703320" y="4709160"/>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Object storage</a:t>
            </a:r>
          </a:p>
        </p:txBody>
      </p:sp>
      <p:sp>
        <p:nvSpPr>
          <p:cNvPr id="37" name="TextBox 36"/>
          <p:cNvSpPr txBox="1"/>
          <p:nvPr/>
        </p:nvSpPr>
        <p:spPr>
          <a:xfrm>
            <a:off x="8001000" y="4709160"/>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Lưu file/tài nguyên tương thích S3</a:t>
            </a:r>
          </a:p>
        </p:txBody>
      </p:sp>
      <p:sp>
        <p:nvSpPr>
          <p:cNvPr id="38" name="Rectangle 37"/>
          <p:cNvSpPr/>
          <p:nvPr/>
        </p:nvSpPr>
        <p:spPr>
          <a:xfrm>
            <a:off x="566928" y="5276088"/>
            <a:ext cx="11064240" cy="49377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276088"/>
            <a:ext cx="82296" cy="49377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276088"/>
            <a:ext cx="28346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50" b="1" i="0">
                <a:solidFill>
                  <a:srgbClr val="2E2E40"/>
                </a:solidFill>
                <a:latin typeface="Calibri"/>
              </a:rPr>
              <a:t>Docker</a:t>
            </a:r>
          </a:p>
        </p:txBody>
      </p:sp>
      <p:sp>
        <p:nvSpPr>
          <p:cNvPr id="41" name="TextBox 40"/>
          <p:cNvSpPr txBox="1"/>
          <p:nvPr/>
        </p:nvSpPr>
        <p:spPr>
          <a:xfrm>
            <a:off x="3703320" y="5276088"/>
            <a:ext cx="4206240" cy="49377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00" b="0" i="0">
                <a:solidFill>
                  <a:srgbClr val="1B1B2E"/>
                </a:solidFill>
                <a:latin typeface="Calibri"/>
              </a:rPr>
              <a:t>Đóng gói &amp; self-host</a:t>
            </a:r>
          </a:p>
        </p:txBody>
      </p:sp>
      <p:sp>
        <p:nvSpPr>
          <p:cNvPr id="42" name="TextBox 41"/>
          <p:cNvSpPr txBox="1"/>
          <p:nvPr/>
        </p:nvSpPr>
        <p:spPr>
          <a:xfrm>
            <a:off x="8001000" y="5276088"/>
            <a:ext cx="3520440" cy="49377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050" b="0" i="1">
                <a:solidFill>
                  <a:srgbClr val="565564"/>
                </a:solidFill>
                <a:latin typeface="Calibri"/>
              </a:rPr>
              <a:t>Triển khai nhất quán tại hạ tầng OCH</a:t>
            </a:r>
          </a:p>
        </p:txBody>
      </p:sp>
      <p:sp>
        <p:nvSpPr>
          <p:cNvPr id="43" name="Rectangle 42"/>
          <p:cNvSpPr/>
          <p:nvPr/>
        </p:nvSpPr>
        <p:spPr>
          <a:xfrm>
            <a:off x="566928" y="5989320"/>
            <a:ext cx="1106424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989320"/>
            <a:ext cx="106070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Tất cả đều MÃ NGUỒN MỞ, self-host tại Việt Nam → </a:t>
            </a:r>
            <a:r>
              <a:rPr sz="1200" b="0" i="0">
                <a:solidFill>
                  <a:srgbClr val="E7DDC8"/>
                </a:solidFill>
                <a:latin typeface="Calibri"/>
              </a:rPr>
              <a:t>chủ quyền dữ liệu, không lệ thuộc cloud nước ngoài, chi phí license tối thiểu.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TỔNG QUAN NỀN TẢNG OCH CDP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11 không gian làm việc (workspace)</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8</a:t>
            </a:r>
          </a:p>
        </p:txBody>
      </p:sp>
      <p:sp>
        <p:nvSpPr>
          <p:cNvPr id="8" name="Rectangle 7"/>
          <p:cNvSpPr/>
          <p:nvPr/>
        </p:nvSpPr>
        <p:spPr>
          <a:xfrm>
            <a:off x="566928"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Control Tower</a:t>
            </a:r>
          </a:p>
        </p:txBody>
      </p:sp>
      <p:sp>
        <p:nvSpPr>
          <p:cNvPr id="11" name="TextBox 10"/>
          <p:cNvSpPr txBox="1"/>
          <p:nvPr/>
        </p:nvSpPr>
        <p:spPr>
          <a:xfrm>
            <a:off x="713232"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Bảng điều khiển realtime toàn tập đoàn</a:t>
            </a:r>
          </a:p>
        </p:txBody>
      </p:sp>
      <p:sp>
        <p:nvSpPr>
          <p:cNvPr id="12" name="Rectangle 11"/>
          <p:cNvSpPr/>
          <p:nvPr/>
        </p:nvSpPr>
        <p:spPr>
          <a:xfrm>
            <a:off x="3410712"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10712"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728"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Customer 360</a:t>
            </a:r>
          </a:p>
        </p:txBody>
      </p:sp>
      <p:sp>
        <p:nvSpPr>
          <p:cNvPr id="15" name="TextBox 14"/>
          <p:cNvSpPr txBox="1"/>
          <p:nvPr/>
        </p:nvSpPr>
        <p:spPr>
          <a:xfrm>
            <a:off x="3557016"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Hồ sơ khách hàng 360° hợp nhất</a:t>
            </a:r>
          </a:p>
        </p:txBody>
      </p:sp>
      <p:sp>
        <p:nvSpPr>
          <p:cNvPr id="16" name="Rectangle 15"/>
          <p:cNvSpPr/>
          <p:nvPr/>
        </p:nvSpPr>
        <p:spPr>
          <a:xfrm>
            <a:off x="6254496"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4496"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Loyalty</a:t>
            </a:r>
          </a:p>
        </p:txBody>
      </p:sp>
      <p:sp>
        <p:nvSpPr>
          <p:cNvPr id="19" name="TextBox 18"/>
          <p:cNvSpPr txBox="1"/>
          <p:nvPr/>
        </p:nvSpPr>
        <p:spPr>
          <a:xfrm>
            <a:off x="6400800"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Tích/đổi điểm xuyên thương hiệu</a:t>
            </a:r>
          </a:p>
        </p:txBody>
      </p:sp>
      <p:sp>
        <p:nvSpPr>
          <p:cNvPr id="20" name="Rectangle 19"/>
          <p:cNvSpPr/>
          <p:nvPr/>
        </p:nvSpPr>
        <p:spPr>
          <a:xfrm>
            <a:off x="9098280" y="1874519"/>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874519"/>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1984248"/>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Data Ops</a:t>
            </a:r>
          </a:p>
        </p:txBody>
      </p:sp>
      <p:sp>
        <p:nvSpPr>
          <p:cNvPr id="23" name="TextBox 22"/>
          <p:cNvSpPr txBox="1"/>
          <p:nvPr/>
        </p:nvSpPr>
        <p:spPr>
          <a:xfrm>
            <a:off x="9244584" y="2441448"/>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Quản trị dữ liệu chủ (thương hiệu/cửa hàng/SP)</a:t>
            </a:r>
          </a:p>
        </p:txBody>
      </p:sp>
      <p:sp>
        <p:nvSpPr>
          <p:cNvPr id="24" name="Rectangle 23"/>
          <p:cNvSpPr/>
          <p:nvPr/>
        </p:nvSpPr>
        <p:spPr>
          <a:xfrm>
            <a:off x="566928"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4944"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Phân tích chuyên sâu</a:t>
            </a:r>
          </a:p>
        </p:txBody>
      </p:sp>
      <p:sp>
        <p:nvSpPr>
          <p:cNvPr id="27" name="TextBox 26"/>
          <p:cNvSpPr txBox="1"/>
          <p:nvPr/>
        </p:nvSpPr>
        <p:spPr>
          <a:xfrm>
            <a:off x="713232"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Doanh thu, vòng đời, synergy</a:t>
            </a:r>
          </a:p>
        </p:txBody>
      </p:sp>
      <p:sp>
        <p:nvSpPr>
          <p:cNvPr id="28" name="Rectangle 27"/>
          <p:cNvSpPr/>
          <p:nvPr/>
        </p:nvSpPr>
        <p:spPr>
          <a:xfrm>
            <a:off x="3410712"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10712"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Audiences</a:t>
            </a:r>
          </a:p>
        </p:txBody>
      </p:sp>
      <p:sp>
        <p:nvSpPr>
          <p:cNvPr id="31" name="TextBox 30"/>
          <p:cNvSpPr txBox="1"/>
          <p:nvPr/>
        </p:nvSpPr>
        <p:spPr>
          <a:xfrm>
            <a:off x="3557016"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Tạo tệp khách theo tiêu chí</a:t>
            </a:r>
          </a:p>
        </p:txBody>
      </p:sp>
      <p:sp>
        <p:nvSpPr>
          <p:cNvPr id="32" name="Rectangle 31"/>
          <p:cNvSpPr/>
          <p:nvPr/>
        </p:nvSpPr>
        <p:spPr>
          <a:xfrm>
            <a:off x="6254496"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54496"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82512"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Journeys</a:t>
            </a:r>
          </a:p>
        </p:txBody>
      </p:sp>
      <p:sp>
        <p:nvSpPr>
          <p:cNvPr id="35" name="TextBox 34"/>
          <p:cNvSpPr txBox="1"/>
          <p:nvPr/>
        </p:nvSpPr>
        <p:spPr>
          <a:xfrm>
            <a:off x="6400800"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Hành trình chăm sóc tự động</a:t>
            </a:r>
          </a:p>
        </p:txBody>
      </p:sp>
      <p:sp>
        <p:nvSpPr>
          <p:cNvPr id="36" name="Rectangle 35"/>
          <p:cNvSpPr/>
          <p:nvPr/>
        </p:nvSpPr>
        <p:spPr>
          <a:xfrm>
            <a:off x="9098280" y="3319272"/>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98280" y="3319272"/>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26296" y="3429000"/>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Trợ lý AI</a:t>
            </a:r>
          </a:p>
        </p:txBody>
      </p:sp>
      <p:sp>
        <p:nvSpPr>
          <p:cNvPr id="39" name="TextBox 38"/>
          <p:cNvSpPr txBox="1"/>
          <p:nvPr/>
        </p:nvSpPr>
        <p:spPr>
          <a:xfrm>
            <a:off x="9244584" y="3886200"/>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Hỏi đáp dữ liệu bằng ngôn ngữ tự nhiên</a:t>
            </a:r>
          </a:p>
        </p:txBody>
      </p:sp>
      <p:sp>
        <p:nvSpPr>
          <p:cNvPr id="40" name="Rectangle 39"/>
          <p:cNvSpPr/>
          <p:nvPr/>
        </p:nvSpPr>
        <p:spPr>
          <a:xfrm>
            <a:off x="566928"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944"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AI &amp; Governance</a:t>
            </a:r>
          </a:p>
        </p:txBody>
      </p:sp>
      <p:sp>
        <p:nvSpPr>
          <p:cNvPr id="43" name="TextBox 42"/>
          <p:cNvSpPr txBox="1"/>
          <p:nvPr/>
        </p:nvSpPr>
        <p:spPr>
          <a:xfrm>
            <a:off x="713232"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Quản trị &amp; audit tham số AI</a:t>
            </a:r>
          </a:p>
        </p:txBody>
      </p:sp>
      <p:sp>
        <p:nvSpPr>
          <p:cNvPr id="44" name="Rectangle 43"/>
          <p:cNvSpPr/>
          <p:nvPr/>
        </p:nvSpPr>
        <p:spPr>
          <a:xfrm>
            <a:off x="3410712"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10712"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38728"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Governance (Consent)</a:t>
            </a:r>
          </a:p>
        </p:txBody>
      </p:sp>
      <p:sp>
        <p:nvSpPr>
          <p:cNvPr id="47" name="TextBox 46"/>
          <p:cNvSpPr txBox="1"/>
          <p:nvPr/>
        </p:nvSpPr>
        <p:spPr>
          <a:xfrm>
            <a:off x="3557016"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Đồng ý &amp; quyền riêng tư</a:t>
            </a:r>
          </a:p>
        </p:txBody>
      </p:sp>
      <p:sp>
        <p:nvSpPr>
          <p:cNvPr id="48" name="Rectangle 47"/>
          <p:cNvSpPr/>
          <p:nvPr/>
        </p:nvSpPr>
        <p:spPr>
          <a:xfrm>
            <a:off x="6254496" y="4764023"/>
            <a:ext cx="2697480" cy="1298448"/>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54496" y="4764023"/>
            <a:ext cx="269748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82512" y="4873751"/>
            <a:ext cx="2441448" cy="4114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0" i="0">
                <a:solidFill>
                  <a:srgbClr val="1B1B2E"/>
                </a:solidFill>
                <a:latin typeface="Calibri"/>
              </a:rPr>
              <a:t>⚙️  </a:t>
            </a:r>
            <a:r>
              <a:rPr sz="1250" b="1" i="0">
                <a:solidFill>
                  <a:srgbClr val="2E2E40"/>
                </a:solidFill>
                <a:latin typeface="Calibri"/>
              </a:rPr>
              <a:t>Platform</a:t>
            </a:r>
          </a:p>
        </p:txBody>
      </p:sp>
      <p:sp>
        <p:nvSpPr>
          <p:cNvPr id="51" name="TextBox 50"/>
          <p:cNvSpPr txBox="1"/>
          <p:nvPr/>
        </p:nvSpPr>
        <p:spPr>
          <a:xfrm>
            <a:off x="6400800" y="5330951"/>
            <a:ext cx="2423160" cy="65836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000" b="0" i="0">
                <a:solidFill>
                  <a:srgbClr val="565564"/>
                </a:solidFill>
                <a:latin typeface="Calibri"/>
              </a:rPr>
              <a:t>Người dùng, phân quyền, API key</a:t>
            </a:r>
          </a:p>
        </p:txBody>
      </p:sp>
      <p:sp>
        <p:nvSpPr>
          <p:cNvPr id="52" name="Rectangle 51"/>
          <p:cNvSpPr/>
          <p:nvPr/>
        </p:nvSpPr>
        <p:spPr>
          <a:xfrm>
            <a:off x="9098280" y="4764023"/>
            <a:ext cx="2697480" cy="1298448"/>
          </a:xfrm>
          <a:prstGeom prst="rect">
            <a:avLst/>
          </a:prstGeom>
          <a:solidFill>
            <a:srgbClr val="E7DDC8"/>
          </a:solidFill>
          <a:ln w="1270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226296" y="4764023"/>
            <a:ext cx="2441448" cy="129844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00" b="0" i="0">
                <a:solidFill>
                  <a:srgbClr val="2E2E40"/>
                </a:solidFill>
                <a:latin typeface="Calibri"/>
              </a:rPr>
              <a:t>Một nền tảng —</a:t>
            </a:r>
          </a:p>
          <a:p>
            <a:pPr algn="ctr">
              <a:lnSpc>
                <a:spcPct val="100000"/>
              </a:lnSpc>
              <a:spcBef>
                <a:spcPts val="0"/>
              </a:spcBef>
              <a:spcAft>
                <a:spcPts val="400"/>
              </a:spcAft>
            </a:pPr>
            <a:r>
              <a:rPr sz="1700" b="1" i="0">
                <a:solidFill>
                  <a:srgbClr val="C39851"/>
                </a:solidFill>
                <a:latin typeface="Georgia"/>
              </a:rPr>
              <a:t>11 workspace</a:t>
            </a:r>
          </a:p>
          <a:p>
            <a:pPr algn="ctr">
              <a:lnSpc>
                <a:spcPct val="100000"/>
              </a:lnSpc>
              <a:spcBef>
                <a:spcPts val="0"/>
              </a:spcBef>
              <a:spcAft>
                <a:spcPts val="400"/>
              </a:spcAft>
            </a:pPr>
            <a:r>
              <a:rPr sz="1200" b="0" i="0">
                <a:solidFill>
                  <a:srgbClr val="2E2E40"/>
                </a:solidFill>
                <a:latin typeface="Calibri"/>
              </a:rPr>
              <a:t>cho mọi vai trò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CONTROL TOWER</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Control Tower — điều hành bằng một màn hình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9</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Bảng điều khiển hợp nhất realtime: doanh thu, khách hàng, sức khoẻ dữ liệu của cả sáu thương hiệu trên một màn hình.</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Điều hành đa thương hiệu không thể chờ báo cáo cuối tháng ghép tay từ sáu nguồn — số liệu về đến nơi thì cơ hội đã qua.</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Một nguồn sự thật cho cả ban điều hành; bất thường về doanh thu hay dữ liệu được nhìn thấy trong ngày, không phải cuối quý.</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ntrol-tower.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Control Tower — tổng quan realtime toàn tập đoàn.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CUSTOMER 360 · 1/4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Danh bạ khách hàng hợp nhất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10</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Danh bạ toàn tập đoàn: tìm theo tên, SĐT, email; lọc theo vòng đời, hạng, thương hiệu. Mỗi dòng là một OCH ID.</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CSKH cần trả lời “khách này là ai với tập đoàn” trong 5 giây — khi khách đang đứng ở quầy, không phải sau ba cuộc gọi nội bộ.</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335 khách xuyên 6 thương hiệu trong một màn hình; một cú nhấp mở toàn bộ lịch sử giao dịch và điểm thưởng.</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ustomers-directory.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Danh bạ hợp nhất — cửa ngõ vào hồ sơ 360°.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CUSTOMER 360 · 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Hạng khách hàng &amp; giá trị trọn đời (CLV)</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11</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Hạng Kim cương / Vàng / Bạc / Đồng theo chi tiêu tích luỹ toàn tập đoàn; CLV quá khứ + CLV dự đoán 2 năm; giá trị đơn trung bình; thời gian gắn bó.</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Nguồn lực chăm sóc có hạn — phải dồn cho nhóm nhỏ khách Kim cương tạo phần lớn doanh thu, thay vì chia đều cho tất cả.</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Mỗi khách có một con số giá trị duy nhất, tính trên tập đoàn; đội chăm sóc biết ai đáng đầu tư trước khi nhấc máy.</a:t>
            </a:r>
          </a:p>
        </p:txBody>
      </p:sp>
      <p:sp>
        <p:nvSpPr>
          <p:cNvPr id="17" name="Rectangle 16"/>
          <p:cNvSpPr/>
          <p:nvPr/>
        </p:nvSpPr>
        <p:spPr>
          <a:xfrm>
            <a:off x="6263640" y="178308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360-clv.png"/>
          <p:cNvPicPr>
            <a:picLocks noChangeAspect="1"/>
          </p:cNvPicPr>
          <p:nvPr/>
        </p:nvPicPr>
        <p:blipFill>
          <a:blip r:embed="rId2"/>
          <a:stretch>
            <a:fillRect/>
          </a:stretch>
        </p:blipFill>
        <p:spPr>
          <a:xfrm>
            <a:off x="6309360" y="1999721"/>
            <a:ext cx="5303520" cy="1400089"/>
          </a:xfrm>
          <a:prstGeom prst="rect">
            <a:avLst/>
          </a:prstGeom>
        </p:spPr>
      </p:pic>
      <p:sp>
        <p:nvSpPr>
          <p:cNvPr id="19" name="TextBox 18"/>
          <p:cNvSpPr txBox="1"/>
          <p:nvPr/>
        </p:nvSpPr>
        <p:spPr>
          <a:xfrm>
            <a:off x="6263640" y="365302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Giá trị khách hàng — LTV, CLV dự đoán, AOV.</a:t>
            </a:r>
          </a:p>
        </p:txBody>
      </p:sp>
      <p:sp>
        <p:nvSpPr>
          <p:cNvPr id="20" name="Rectangle 19"/>
          <p:cNvSpPr/>
          <p:nvPr/>
        </p:nvSpPr>
        <p:spPr>
          <a:xfrm>
            <a:off x="6263640" y="404622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360-behavior.png"/>
          <p:cNvPicPr>
            <a:picLocks noChangeAspect="1"/>
          </p:cNvPicPr>
          <p:nvPr/>
        </p:nvPicPr>
        <p:blipFill>
          <a:blip r:embed="rId3"/>
          <a:stretch>
            <a:fillRect/>
          </a:stretch>
        </p:blipFill>
        <p:spPr>
          <a:xfrm>
            <a:off x="6732777" y="4091939"/>
            <a:ext cx="4456685" cy="1741932"/>
          </a:xfrm>
          <a:prstGeom prst="rect">
            <a:avLst/>
          </a:prstGeom>
        </p:spPr>
      </p:pic>
      <p:sp>
        <p:nvSpPr>
          <p:cNvPr id="22" name="TextBox 21"/>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Hành vi mua — thương hiệu, nhóm hàng, thời điểm.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CUSTOMER 360 · 3/4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Nhịp mua &amp; dự đoán đơn kế tiếp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12</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Hệ thống học khoảng cách mua trung bình của từng khách rồi tính ra NGÀY dự kiến mua tiếp; lệch nhịp thì gắn cờ quá hạn.</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Gửi ưu đãi đúng chu kỳ rẻ hơn nhiều so với giành lại khách đã rời. “Quá hạn 37 ngày” là tín hiệu hành động — không phải con số trang trí.</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Danh sách khách sắp tới hạn / quá hạn được cập nhật hằng ngày; đội bán biết hôm nay nên chăm ai.</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360-cadence.png"/>
          <p:cNvPicPr>
            <a:picLocks noChangeAspect="1"/>
          </p:cNvPicPr>
          <p:nvPr/>
        </p:nvPicPr>
        <p:blipFill>
          <a:blip r:embed="rId2"/>
          <a:stretch>
            <a:fillRect/>
          </a:stretch>
        </p:blipFill>
        <p:spPr>
          <a:xfrm>
            <a:off x="6309360" y="3378656"/>
            <a:ext cx="5303520" cy="905358"/>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Nhịp mua — chu kỳ, ngày dự kiến mua tiếp, cảnh báo quá hạn.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CUSTOMER 360 · 4/4 · ĐIỂM KHÁC BIỆT</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Giỏ bỏ quên &amp; hành động đề xuất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13</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Hệ thống giữ mọi giỏ hàng/đặt phòng chưa thanh toán và xếp việc cho đội bán theo ưu tiên: giá trị giỏ, thời gian bỏ quên, hạng khách.</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Một giỏ Suite 8,95 triệu bỏ quên 224 giờ là doanh thu đang bốc hơi — không hệ thống nào khác trong tập đoàn nhìn thấy nó.</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86 giỏ đang mở/bỏ quên được đưa thẳng vào danh sách gọi lại, kèm kịch bản xử lý: nhắc hoàn tất, kèm ưu đãi nếu cần.</a:t>
            </a:r>
          </a:p>
        </p:txBody>
      </p:sp>
      <p:sp>
        <p:nvSpPr>
          <p:cNvPr id="17" name="Rectangle 16"/>
          <p:cNvSpPr/>
          <p:nvPr/>
        </p:nvSpPr>
        <p:spPr>
          <a:xfrm>
            <a:off x="6263640" y="178308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360-cart.png"/>
          <p:cNvPicPr>
            <a:picLocks noChangeAspect="1"/>
          </p:cNvPicPr>
          <p:nvPr/>
        </p:nvPicPr>
        <p:blipFill>
          <a:blip r:embed="rId2"/>
          <a:stretch>
            <a:fillRect/>
          </a:stretch>
        </p:blipFill>
        <p:spPr>
          <a:xfrm>
            <a:off x="6309360" y="2182771"/>
            <a:ext cx="5303520" cy="1033988"/>
          </a:xfrm>
          <a:prstGeom prst="rect">
            <a:avLst/>
          </a:prstGeom>
        </p:spPr>
      </p:pic>
      <p:sp>
        <p:nvSpPr>
          <p:cNvPr id="19" name="TextBox 18"/>
          <p:cNvSpPr txBox="1"/>
          <p:nvPr/>
        </p:nvSpPr>
        <p:spPr>
          <a:xfrm>
            <a:off x="6263640" y="365302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Giỏ bỏ quên — giá trị và thời gian chờ từng giỏ.</a:t>
            </a:r>
          </a:p>
        </p:txBody>
      </p:sp>
      <p:sp>
        <p:nvSpPr>
          <p:cNvPr id="20" name="Rectangle 19"/>
          <p:cNvSpPr/>
          <p:nvPr/>
        </p:nvSpPr>
        <p:spPr>
          <a:xfrm>
            <a:off x="6263640" y="404622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360-actions.png"/>
          <p:cNvPicPr>
            <a:picLocks noChangeAspect="1"/>
          </p:cNvPicPr>
          <p:nvPr/>
        </p:nvPicPr>
        <p:blipFill>
          <a:blip r:embed="rId3"/>
          <a:stretch>
            <a:fillRect/>
          </a:stretch>
        </p:blipFill>
        <p:spPr>
          <a:xfrm>
            <a:off x="6309360" y="4235650"/>
            <a:ext cx="5303520" cy="1454510"/>
          </a:xfrm>
          <a:prstGeom prst="rect">
            <a:avLst/>
          </a:prstGeom>
        </p:spPr>
      </p:pic>
      <p:sp>
        <p:nvSpPr>
          <p:cNvPr id="22" name="TextBox 21"/>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Hành động đề xuất — việc cần làm, xếp theo ưu tiên.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INSIGHTS</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Phân tích chuyên sâu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14</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Doanh thu theo tháng kèm dự báo; phân bố vòng đời khách (VIP / active / at-risk / dormant); mức độ dùng chéo thương hiệu.</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Quyết định phân bổ ngân sách cần biết tệp khách đang khoẻ hay đang rỉ máu — tỷ lệ at-risk tăng là cảnh báo sớm hơn mọi báo cáo doanh thu.</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Ban điều hành đọc được sức khoẻ tệp khách và tiềm năng bán chéo trên cùng một trang, số liệu tính sẵn từ dữ liệu hợp nhất.</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sights.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Insights — doanh thu, dự báo, vòng đời khách hàng.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AUDIENCES</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Phân khúc &amp; kích hoạt có kiểm toán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15</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Dựng tệp khách theo tiêu chí (hạng, hành vi, giá trị, thương hiệu) rồi kích hoạt ra Email / SMS / Zalo ZNS / Ads.</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Chiến dịch không có log là chiến dịch không kiểm chứng được — ai đã nhận, ai bị chặn vì chưa đồng ý, không ai trả lời nổi.</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179 lần kích hoạt trên demo đều có log đầy đủ số gửi / số bị chặn bởi consent — mọi chiến dịch kiểm toán được đến từng khách.</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udiences.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Audiences — tệp khách, tiêu chí và lịch sử kích hoạt.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JOURNEYS · 1/2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Dựng hành trình bằng kéo–thả</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16</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Marketer tự dựng lưu đồ chăm sóc: Vào → Điều kiện → Hành động → Chờ → Kết thúc, nhánh Có/Không — không cần IT viết code.</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Nếu mỗi kịch bản chăm sóc phải xếp hàng chờ đội kỹ thuật, tốc độ thử nghiệm marketing bị chặn ở tốc độ release phần mềm.</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Mỗi lần chạm khách được bảo đảm chạy đúng MỘT lần — lỗi hay chạy lại hệ thống không làm khách nhận trùng tin nhắn.</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journey-canvas.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Canvas hành trình — lưu đồ kéo–thả với nhánh điều kiện.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JOURNEYS · 2/2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Đọc hiệu quả hành trình bằng funnel</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17</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Mỗi hành trình có báo cáo phễu: bao nhiêu khách vào, qua từng bước còn bao nhiêu, hoàn thành bao nhiêu.</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Không có funnel thì chỉ biết chiến dịch “đã chạy” — không biết khách rơi ở bước nào để sửa đúng chỗ.</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7 hành trình đang chạy trên demo; đọc funnel 38 → 22 → 16 là thấy ngay bước nào đang làm mất khách.</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journey-detail.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Báo cáo hành trình — funnel và tỉ lệ chuyển đổi từng bước.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LOYALTY</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Loyalty hợp nhất — sổ kép như kế toán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18</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Một quỹ điểm chung cho cả tập đoàn: tích ở thương hiệu này, đổi ở thương hiệu khác. Mỗi biến động điểm là một bút toán có đối ứng.</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Điểm thưởng là NỢ PHẢI TRẢ của doanh nghiệp. Không có sổ kép thì không đối soát được — thất thoát không ai phát hiện.</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230 thành viên, 119.646 điểm đang lưu hành trên demo — từng điểm truy vết được nguồn gốc, quỹ không thể âm, không thể cộng trùng.</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yalty.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Loyalty — bảng xếp hạng thành viên và quỹ điểm.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GOVERNANCE</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Consent — chặn ở tầng kỹ thuật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19</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Đồng ý của khách ghi theo từng mục đích (email, SMS, quảng cáo…), mặc định là TỪ CHỐI (deny-by-default), mọi thay đổi đều lưu vết.</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Tuân thủ không thể dựa vào ý thức người chạy chiến dịch. Phải để HỆ THỐNG chặn gửi cho người chưa đồng ý — ngay ở tầng kỹ thuật.</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Mọi kích hoạt đều đi qua cùng một cổng consent; danh sách bị chặn ghi trong log — chứng minh tuân thủ được khi bị kiểm tra.</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overnance.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Governance — consent theo mục đích, lưu vết đầy đủ.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DATA OPS &amp; PLATFORM</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Dữ liệu chủ &amp; phân quyền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20</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Data Ops quản một bộ danh mục chuẩn (thương hiệu, cửa hàng, sản phẩm) cho cả tập đoàn. Platform quản người dùng theo 7 vai trò và API key.</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Báo cáo sai thường bắt đầu từ danh mục lệch nhau giữa các hệ thống; sự cố bảo mật thường bắt đầu từ tài khoản không rõ quyền hạn.</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Một nơi sửa — mọi nơi cập nhật; ai thấy gì, làm gì đều theo vai trò được cấp, kết nối ngoài đi qua API key riêng.</a:t>
            </a:r>
          </a:p>
        </p:txBody>
      </p:sp>
      <p:sp>
        <p:nvSpPr>
          <p:cNvPr id="17" name="Rectangle 16"/>
          <p:cNvSpPr/>
          <p:nvPr/>
        </p:nvSpPr>
        <p:spPr>
          <a:xfrm>
            <a:off x="6263640" y="1783080"/>
            <a:ext cx="5394959" cy="409651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ops.png"/>
          <p:cNvPicPr>
            <a:picLocks noChangeAspect="1"/>
          </p:cNvPicPr>
          <p:nvPr/>
        </p:nvPicPr>
        <p:blipFill>
          <a:blip r:embed="rId2"/>
          <a:stretch>
            <a:fillRect/>
          </a:stretch>
        </p:blipFill>
        <p:spPr>
          <a:xfrm>
            <a:off x="6309360" y="1945640"/>
            <a:ext cx="5303520" cy="3771392"/>
          </a:xfrm>
          <a:prstGeom prst="rect">
            <a:avLst/>
          </a:prstGeom>
        </p:spPr>
      </p:pic>
      <p:sp>
        <p:nvSpPr>
          <p:cNvPr id="19" name="TextBox 18"/>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Data Ops — danh mục thương hiệu / cửa hàng / sản phẩm.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WORKSPACE · TRỢ LÝ AI &amp; AI GOVERNANCE</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Hỏi dữ liệu bằng tiếng Việt — có kiểm soát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21</a:t>
            </a:r>
          </a:p>
        </p:txBody>
      </p:sp>
      <p:sp>
        <p:nvSpPr>
          <p:cNvPr id="8" name="Rounded Rectangle 7"/>
          <p:cNvSpPr/>
          <p:nvPr/>
        </p:nvSpPr>
        <p:spPr>
          <a:xfrm>
            <a:off x="566928" y="1828800"/>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28800"/>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LÀ GÌ</a:t>
            </a:r>
          </a:p>
        </p:txBody>
      </p:sp>
      <p:sp>
        <p:nvSpPr>
          <p:cNvPr id="10" name="TextBox 9"/>
          <p:cNvSpPr txBox="1"/>
          <p:nvPr/>
        </p:nvSpPr>
        <p:spPr>
          <a:xfrm>
            <a:off x="566928" y="2231136"/>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Đặt câu hỏi tự nhiên (“khách VIP Nha Trang tháng này?”) và nhận câu trả lời từ dữ liệu thật; tham số AI (ngưỡng churn, hạng) quản trị và audit được.</a:t>
            </a:r>
          </a:p>
        </p:txBody>
      </p:sp>
      <p:sp>
        <p:nvSpPr>
          <p:cNvPr id="11" name="Rounded Rectangle 10"/>
          <p:cNvSpPr/>
          <p:nvPr/>
        </p:nvSpPr>
        <p:spPr>
          <a:xfrm>
            <a:off x="566928" y="3310128"/>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310128"/>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VÌ SAO PHẢI CÓ</a:t>
            </a:r>
          </a:p>
        </p:txBody>
      </p:sp>
      <p:sp>
        <p:nvSpPr>
          <p:cNvPr id="13" name="TextBox 12"/>
          <p:cNvSpPr txBox="1"/>
          <p:nvPr/>
        </p:nvSpPr>
        <p:spPr>
          <a:xfrm>
            <a:off x="566928" y="3712464"/>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Nếu mọi câu hỏi dữ liệu đều phải qua đội phân tích, người ra quyết định luôn chậm một nhịp. Nhưng AI không kiểm soát là rủi ro.</a:t>
            </a:r>
          </a:p>
        </p:txBody>
      </p:sp>
      <p:sp>
        <p:nvSpPr>
          <p:cNvPr id="14" name="Rounded Rectangle 13"/>
          <p:cNvSpPr/>
          <p:nvPr/>
        </p:nvSpPr>
        <p:spPr>
          <a:xfrm>
            <a:off x="566928" y="4791456"/>
            <a:ext cx="2103120" cy="329184"/>
          </a:xfrm>
          <a:prstGeom prst="round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791456"/>
            <a:ext cx="2103120" cy="32918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050" b="1" i="0">
                <a:solidFill>
                  <a:srgbClr val="FFFFFF"/>
                </a:solidFill>
                <a:latin typeface="Calibri"/>
              </a:rPr>
              <a:t>HIỆU QUẢ</a:t>
            </a:r>
          </a:p>
        </p:txBody>
      </p:sp>
      <p:sp>
        <p:nvSpPr>
          <p:cNvPr id="16" name="TextBox 15"/>
          <p:cNvSpPr txBox="1"/>
          <p:nvPr/>
        </p:nvSpPr>
        <p:spPr>
          <a:xfrm>
            <a:off x="566928" y="5193792"/>
            <a:ext cx="5440680" cy="1005840"/>
          </a:xfrm>
          <a:prstGeom prst="rect">
            <a:avLst/>
          </a:prstGeom>
          <a:noFill/>
        </p:spPr>
        <p:txBody>
          <a:bodyPr wrap="square" anchor="t" lIns="25400" rIns="25400" tIns="12700" bIns="12700">
            <a:spAutoFit/>
          </a:bodyPr>
          <a:lstStyle/>
          <a:p>
            <a:pPr algn="l">
              <a:lnSpc>
                <a:spcPct val="112000"/>
              </a:lnSpc>
              <a:spcBef>
                <a:spcPts val="0"/>
              </a:spcBef>
              <a:spcAft>
                <a:spcPts val="400"/>
              </a:spcAft>
            </a:pPr>
            <a:r>
              <a:rPr sz="1200" b="0" i="0">
                <a:solidFill>
                  <a:srgbClr val="1B1B2E"/>
                </a:solidFill>
                <a:latin typeface="Calibri"/>
              </a:rPr>
              <a:t>Guardrail PII: dữ liệu định danh khách không rời hệ thống; mọi đề xuất AI kèm lý do và lưu vết — dùng được mà giải trình được.</a:t>
            </a:r>
          </a:p>
        </p:txBody>
      </p:sp>
      <p:sp>
        <p:nvSpPr>
          <p:cNvPr id="17" name="Rectangle 16"/>
          <p:cNvSpPr/>
          <p:nvPr/>
        </p:nvSpPr>
        <p:spPr>
          <a:xfrm>
            <a:off x="6263640" y="178308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ssistant.png"/>
          <p:cNvPicPr>
            <a:picLocks noChangeAspect="1"/>
          </p:cNvPicPr>
          <p:nvPr/>
        </p:nvPicPr>
        <p:blipFill>
          <a:blip r:embed="rId2"/>
          <a:stretch>
            <a:fillRect/>
          </a:stretch>
        </p:blipFill>
        <p:spPr>
          <a:xfrm>
            <a:off x="7736324" y="1828800"/>
            <a:ext cx="2449591" cy="1741932"/>
          </a:xfrm>
          <a:prstGeom prst="rect">
            <a:avLst/>
          </a:prstGeom>
        </p:spPr>
      </p:pic>
      <p:sp>
        <p:nvSpPr>
          <p:cNvPr id="19" name="TextBox 18"/>
          <p:cNvSpPr txBox="1"/>
          <p:nvPr/>
        </p:nvSpPr>
        <p:spPr>
          <a:xfrm>
            <a:off x="6263640" y="365302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Trợ lý AI — hỏi đáp trên dữ liệu thật.</a:t>
            </a:r>
          </a:p>
        </p:txBody>
      </p:sp>
      <p:sp>
        <p:nvSpPr>
          <p:cNvPr id="20" name="Rectangle 19"/>
          <p:cNvSpPr/>
          <p:nvPr/>
        </p:nvSpPr>
        <p:spPr>
          <a:xfrm>
            <a:off x="6263640" y="4046220"/>
            <a:ext cx="5394959" cy="183337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i-governance.png"/>
          <p:cNvPicPr>
            <a:picLocks noChangeAspect="1"/>
          </p:cNvPicPr>
          <p:nvPr/>
        </p:nvPicPr>
        <p:blipFill>
          <a:blip r:embed="rId3"/>
          <a:stretch>
            <a:fillRect/>
          </a:stretch>
        </p:blipFill>
        <p:spPr>
          <a:xfrm>
            <a:off x="7736324" y="4091939"/>
            <a:ext cx="2449591" cy="1741932"/>
          </a:xfrm>
          <a:prstGeom prst="rect">
            <a:avLst/>
          </a:prstGeom>
        </p:spPr>
      </p:pic>
      <p:sp>
        <p:nvSpPr>
          <p:cNvPr id="22" name="TextBox 21"/>
          <p:cNvSpPr txBox="1"/>
          <p:nvPr/>
        </p:nvSpPr>
        <p:spPr>
          <a:xfrm>
            <a:off x="6263640" y="5916168"/>
            <a:ext cx="5394959"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AI Governance — tham số và audit.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GÓC NHÌN NGHIỆP VỤ · 1/2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So sánh AICDP (cho OCH) vs CDP thị trường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22</a:t>
            </a:r>
          </a:p>
        </p:txBody>
      </p:sp>
      <p:sp>
        <p:nvSpPr>
          <p:cNvPr id="8" name="Rectangle 7"/>
          <p:cNvSpPr/>
          <p:nvPr/>
        </p:nvSpPr>
        <p:spPr>
          <a:xfrm>
            <a:off x="566928" y="1965960"/>
            <a:ext cx="27889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965960"/>
            <a:ext cx="26974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Tiêu chí</a:t>
            </a:r>
          </a:p>
        </p:txBody>
      </p:sp>
      <p:sp>
        <p:nvSpPr>
          <p:cNvPr id="10" name="Rectangle 9"/>
          <p:cNvSpPr/>
          <p:nvPr/>
        </p:nvSpPr>
        <p:spPr>
          <a:xfrm>
            <a:off x="3355848" y="1965960"/>
            <a:ext cx="1874519" cy="566928"/>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1965960"/>
            <a:ext cx="17830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2E2E40"/>
                </a:solidFill>
                <a:latin typeface="Calibri"/>
              </a:rPr>
              <a:t>AICDP / OCH</a:t>
            </a:r>
          </a:p>
        </p:txBody>
      </p:sp>
      <p:sp>
        <p:nvSpPr>
          <p:cNvPr id="12" name="Rectangle 11"/>
          <p:cNvSpPr/>
          <p:nvPr/>
        </p:nvSpPr>
        <p:spPr>
          <a:xfrm>
            <a:off x="523036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7608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Segment</a:t>
            </a:r>
          </a:p>
        </p:txBody>
      </p:sp>
      <p:sp>
        <p:nvSpPr>
          <p:cNvPr id="14" name="Rectangle 13"/>
          <p:cNvSpPr/>
          <p:nvPr/>
        </p:nvSpPr>
        <p:spPr>
          <a:xfrm>
            <a:off x="6464808" y="1965960"/>
            <a:ext cx="14173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965960"/>
            <a:ext cx="132588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Adobe RTCDP</a:t>
            </a:r>
          </a:p>
        </p:txBody>
      </p:sp>
      <p:sp>
        <p:nvSpPr>
          <p:cNvPr id="16" name="Rectangle 15"/>
          <p:cNvSpPr/>
          <p:nvPr/>
        </p:nvSpPr>
        <p:spPr>
          <a:xfrm>
            <a:off x="7882128" y="1965960"/>
            <a:ext cx="11430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7848" y="1965960"/>
            <a:ext cx="10515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Tealium</a:t>
            </a:r>
          </a:p>
        </p:txBody>
      </p:sp>
      <p:sp>
        <p:nvSpPr>
          <p:cNvPr id="18" name="Rectangle 17"/>
          <p:cNvSpPr/>
          <p:nvPr/>
        </p:nvSpPr>
        <p:spPr>
          <a:xfrm>
            <a:off x="902512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Hightouch</a:t>
            </a:r>
          </a:p>
        </p:txBody>
      </p:sp>
      <p:sp>
        <p:nvSpPr>
          <p:cNvPr id="20" name="Rectangle 19"/>
          <p:cNvSpPr/>
          <p:nvPr/>
        </p:nvSpPr>
        <p:spPr>
          <a:xfrm>
            <a:off x="10259568" y="1965960"/>
            <a:ext cx="13716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05288" y="1965960"/>
            <a:ext cx="12801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Treasure Data</a:t>
            </a:r>
          </a:p>
        </p:txBody>
      </p:sp>
      <p:sp>
        <p:nvSpPr>
          <p:cNvPr id="22" name="Rectangle 21"/>
          <p:cNvSpPr/>
          <p:nvPr/>
        </p:nvSpPr>
        <p:spPr>
          <a:xfrm>
            <a:off x="566928" y="2532888"/>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532888"/>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Mô hình triển khai</a:t>
            </a:r>
          </a:p>
        </p:txBody>
      </p:sp>
      <p:sp>
        <p:nvSpPr>
          <p:cNvPr id="24" name="Rectangle 23"/>
          <p:cNvSpPr/>
          <p:nvPr/>
        </p:nvSpPr>
        <p:spPr>
          <a:xfrm>
            <a:off x="3355848" y="2532888"/>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0712" y="2532888"/>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Self-host tại OCH</a:t>
            </a:r>
          </a:p>
        </p:txBody>
      </p:sp>
      <p:sp>
        <p:nvSpPr>
          <p:cNvPr id="26" name="Rectangle 25"/>
          <p:cNvSpPr/>
          <p:nvPr/>
        </p:nvSpPr>
        <p:spPr>
          <a:xfrm>
            <a:off x="523036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85231"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28" name="Rectangle 27"/>
          <p:cNvSpPr/>
          <p:nvPr/>
        </p:nvSpPr>
        <p:spPr>
          <a:xfrm>
            <a:off x="6464808" y="2532888"/>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9672" y="2532888"/>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0" name="Rectangle 29"/>
          <p:cNvSpPr/>
          <p:nvPr/>
        </p:nvSpPr>
        <p:spPr>
          <a:xfrm>
            <a:off x="7882128" y="2532888"/>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2532888"/>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2" name="Rectangle 31"/>
          <p:cNvSpPr/>
          <p:nvPr/>
        </p:nvSpPr>
        <p:spPr>
          <a:xfrm>
            <a:off x="902512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9992"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(ELT)</a:t>
            </a:r>
          </a:p>
        </p:txBody>
      </p:sp>
      <p:sp>
        <p:nvSpPr>
          <p:cNvPr id="34" name="Rectangle 33"/>
          <p:cNvSpPr/>
          <p:nvPr/>
        </p:nvSpPr>
        <p:spPr>
          <a:xfrm>
            <a:off x="10259568" y="2532888"/>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2532888"/>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Cloud SaaS</a:t>
            </a:r>
          </a:p>
        </p:txBody>
      </p:sp>
      <p:sp>
        <p:nvSpPr>
          <p:cNvPr id="36" name="Rectangle 35"/>
          <p:cNvSpPr/>
          <p:nvPr/>
        </p:nvSpPr>
        <p:spPr>
          <a:xfrm>
            <a:off x="566928" y="3374136"/>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 y="3374136"/>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Dữ liệu đặt tại Việt Nam</a:t>
            </a:r>
          </a:p>
        </p:txBody>
      </p:sp>
      <p:sp>
        <p:nvSpPr>
          <p:cNvPr id="38" name="Rectangle 37"/>
          <p:cNvSpPr/>
          <p:nvPr/>
        </p:nvSpPr>
        <p:spPr>
          <a:xfrm>
            <a:off x="3355848" y="3374136"/>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10712" y="3374136"/>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chủ quyền</a:t>
            </a:r>
          </a:p>
        </p:txBody>
      </p:sp>
      <p:sp>
        <p:nvSpPr>
          <p:cNvPr id="40" name="Rectangle 39"/>
          <p:cNvSpPr/>
          <p:nvPr/>
        </p:nvSpPr>
        <p:spPr>
          <a:xfrm>
            <a:off x="523036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85231"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 tầng nước ngoài</a:t>
            </a:r>
          </a:p>
        </p:txBody>
      </p:sp>
      <p:sp>
        <p:nvSpPr>
          <p:cNvPr id="42" name="Rectangle 41"/>
          <p:cNvSpPr/>
          <p:nvPr/>
        </p:nvSpPr>
        <p:spPr>
          <a:xfrm>
            <a:off x="6464808" y="3374136"/>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3374136"/>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4" name="Rectangle 43"/>
          <p:cNvSpPr/>
          <p:nvPr/>
        </p:nvSpPr>
        <p:spPr>
          <a:xfrm>
            <a:off x="7882128" y="3374136"/>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3374136"/>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6" name="Rectangle 45"/>
          <p:cNvSpPr/>
          <p:nvPr/>
        </p:nvSpPr>
        <p:spPr>
          <a:xfrm>
            <a:off x="902512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79992"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48" name="Rectangle 47"/>
          <p:cNvSpPr/>
          <p:nvPr/>
        </p:nvSpPr>
        <p:spPr>
          <a:xfrm>
            <a:off x="10259568" y="3374136"/>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14432" y="3374136"/>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Nước ngoài</a:t>
            </a:r>
          </a:p>
        </p:txBody>
      </p:sp>
      <p:sp>
        <p:nvSpPr>
          <p:cNvPr id="50" name="Rectangle 49"/>
          <p:cNvSpPr/>
          <p:nvPr/>
        </p:nvSpPr>
        <p:spPr>
          <a:xfrm>
            <a:off x="566928" y="4215384"/>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4215384"/>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May đo F&amp;B + Khách sạn</a:t>
            </a:r>
          </a:p>
        </p:txBody>
      </p:sp>
      <p:sp>
        <p:nvSpPr>
          <p:cNvPr id="52" name="Rectangle 51"/>
          <p:cNvSpPr/>
          <p:nvPr/>
        </p:nvSpPr>
        <p:spPr>
          <a:xfrm>
            <a:off x="3355848" y="4215384"/>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10712" y="4215384"/>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Thiết kế riêng</a:t>
            </a:r>
          </a:p>
        </p:txBody>
      </p:sp>
      <p:sp>
        <p:nvSpPr>
          <p:cNvPr id="54" name="Rectangle 53"/>
          <p:cNvSpPr/>
          <p:nvPr/>
        </p:nvSpPr>
        <p:spPr>
          <a:xfrm>
            <a:off x="523036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285231"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56" name="Rectangle 55"/>
          <p:cNvSpPr/>
          <p:nvPr/>
        </p:nvSpPr>
        <p:spPr>
          <a:xfrm>
            <a:off x="6464808" y="4215384"/>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19672" y="4215384"/>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58" name="Rectangle 57"/>
          <p:cNvSpPr/>
          <p:nvPr/>
        </p:nvSpPr>
        <p:spPr>
          <a:xfrm>
            <a:off x="7882128" y="4215384"/>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36992" y="4215384"/>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0" name="Rectangle 59"/>
          <p:cNvSpPr/>
          <p:nvPr/>
        </p:nvSpPr>
        <p:spPr>
          <a:xfrm>
            <a:off x="902512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079992"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2" name="Rectangle 61"/>
          <p:cNvSpPr/>
          <p:nvPr/>
        </p:nvSpPr>
        <p:spPr>
          <a:xfrm>
            <a:off x="10259568" y="4215384"/>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14432" y="4215384"/>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Tổng quát</a:t>
            </a:r>
          </a:p>
        </p:txBody>
      </p:sp>
      <p:sp>
        <p:nvSpPr>
          <p:cNvPr id="64" name="Rectangle 63"/>
          <p:cNvSpPr/>
          <p:nvPr/>
        </p:nvSpPr>
        <p:spPr>
          <a:xfrm>
            <a:off x="566928" y="5056632"/>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5056632"/>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Hợp nhất định danh (OCH ID)</a:t>
            </a:r>
          </a:p>
        </p:txBody>
      </p:sp>
      <p:sp>
        <p:nvSpPr>
          <p:cNvPr id="66" name="Rectangle 65"/>
          <p:cNvSpPr/>
          <p:nvPr/>
        </p:nvSpPr>
        <p:spPr>
          <a:xfrm>
            <a:off x="3355848" y="5056632"/>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10712" y="5056632"/>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Lõi hệ thống</a:t>
            </a:r>
          </a:p>
        </p:txBody>
      </p:sp>
      <p:sp>
        <p:nvSpPr>
          <p:cNvPr id="68" name="Rectangle 67"/>
          <p:cNvSpPr/>
          <p:nvPr/>
        </p:nvSpPr>
        <p:spPr>
          <a:xfrm>
            <a:off x="523036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285231"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0" name="Rectangle 69"/>
          <p:cNvSpPr/>
          <p:nvPr/>
        </p:nvSpPr>
        <p:spPr>
          <a:xfrm>
            <a:off x="6464808" y="5056632"/>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19672" y="5056632"/>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2" name="Rectangle 71"/>
          <p:cNvSpPr/>
          <p:nvPr/>
        </p:nvSpPr>
        <p:spPr>
          <a:xfrm>
            <a:off x="7882128" y="5056632"/>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36992" y="5056632"/>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74" name="Rectangle 73"/>
          <p:cNvSpPr/>
          <p:nvPr/>
        </p:nvSpPr>
        <p:spPr>
          <a:xfrm>
            <a:off x="902512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79992"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Reverse-ETL</a:t>
            </a:r>
          </a:p>
        </p:txBody>
      </p:sp>
      <p:sp>
        <p:nvSpPr>
          <p:cNvPr id="76" name="Rectangle 75"/>
          <p:cNvSpPr/>
          <p:nvPr/>
        </p:nvSpPr>
        <p:spPr>
          <a:xfrm>
            <a:off x="10259568" y="5056632"/>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314432" y="5056632"/>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GÓC NHÌN NGHIỆP VỤ · 2/2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So sánh AICDP (cho OCH) vs CDP thị trường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23</a:t>
            </a:r>
          </a:p>
        </p:txBody>
      </p:sp>
      <p:sp>
        <p:nvSpPr>
          <p:cNvPr id="8" name="Rectangle 7"/>
          <p:cNvSpPr/>
          <p:nvPr/>
        </p:nvSpPr>
        <p:spPr>
          <a:xfrm>
            <a:off x="566928" y="1965960"/>
            <a:ext cx="27889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965960"/>
            <a:ext cx="26974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Tiêu chí</a:t>
            </a:r>
          </a:p>
        </p:txBody>
      </p:sp>
      <p:sp>
        <p:nvSpPr>
          <p:cNvPr id="10" name="Rectangle 9"/>
          <p:cNvSpPr/>
          <p:nvPr/>
        </p:nvSpPr>
        <p:spPr>
          <a:xfrm>
            <a:off x="3355848" y="1965960"/>
            <a:ext cx="1874519" cy="566928"/>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1965960"/>
            <a:ext cx="1783079"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2E2E40"/>
                </a:solidFill>
                <a:latin typeface="Calibri"/>
              </a:rPr>
              <a:t>AICDP / OCH</a:t>
            </a:r>
          </a:p>
        </p:txBody>
      </p:sp>
      <p:sp>
        <p:nvSpPr>
          <p:cNvPr id="12" name="Rectangle 11"/>
          <p:cNvSpPr/>
          <p:nvPr/>
        </p:nvSpPr>
        <p:spPr>
          <a:xfrm>
            <a:off x="523036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7608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Segment</a:t>
            </a:r>
          </a:p>
        </p:txBody>
      </p:sp>
      <p:sp>
        <p:nvSpPr>
          <p:cNvPr id="14" name="Rectangle 13"/>
          <p:cNvSpPr/>
          <p:nvPr/>
        </p:nvSpPr>
        <p:spPr>
          <a:xfrm>
            <a:off x="6464808" y="1965960"/>
            <a:ext cx="141732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965960"/>
            <a:ext cx="132588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Adobe RTCDP</a:t>
            </a:r>
          </a:p>
        </p:txBody>
      </p:sp>
      <p:sp>
        <p:nvSpPr>
          <p:cNvPr id="16" name="Rectangle 15"/>
          <p:cNvSpPr/>
          <p:nvPr/>
        </p:nvSpPr>
        <p:spPr>
          <a:xfrm>
            <a:off x="7882128" y="1965960"/>
            <a:ext cx="11430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7848" y="1965960"/>
            <a:ext cx="10515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Tealium</a:t>
            </a:r>
          </a:p>
        </p:txBody>
      </p:sp>
      <p:sp>
        <p:nvSpPr>
          <p:cNvPr id="18" name="Rectangle 17"/>
          <p:cNvSpPr/>
          <p:nvPr/>
        </p:nvSpPr>
        <p:spPr>
          <a:xfrm>
            <a:off x="9025128" y="1965960"/>
            <a:ext cx="123444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965960"/>
            <a:ext cx="114300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Hightouch</a:t>
            </a:r>
          </a:p>
        </p:txBody>
      </p:sp>
      <p:sp>
        <p:nvSpPr>
          <p:cNvPr id="20" name="Rectangle 19"/>
          <p:cNvSpPr/>
          <p:nvPr/>
        </p:nvSpPr>
        <p:spPr>
          <a:xfrm>
            <a:off x="10259568" y="1965960"/>
            <a:ext cx="1371600" cy="566928"/>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05288" y="1965960"/>
            <a:ext cx="1280160" cy="56692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50" b="1" i="0">
                <a:solidFill>
                  <a:srgbClr val="FFFFFF"/>
                </a:solidFill>
                <a:latin typeface="Calibri"/>
              </a:rPr>
              <a:t>Treasure Data</a:t>
            </a:r>
          </a:p>
        </p:txBody>
      </p:sp>
      <p:sp>
        <p:nvSpPr>
          <p:cNvPr id="22" name="Rectangle 21"/>
          <p:cNvSpPr/>
          <p:nvPr/>
        </p:nvSpPr>
        <p:spPr>
          <a:xfrm>
            <a:off x="566928" y="2532888"/>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532888"/>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Loyalty tích hợp sẵn</a:t>
            </a:r>
          </a:p>
        </p:txBody>
      </p:sp>
      <p:sp>
        <p:nvSpPr>
          <p:cNvPr id="24" name="Rectangle 23"/>
          <p:cNvSpPr/>
          <p:nvPr/>
        </p:nvSpPr>
        <p:spPr>
          <a:xfrm>
            <a:off x="3355848" y="2532888"/>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0712" y="2532888"/>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sổ kép</a:t>
            </a:r>
          </a:p>
        </p:txBody>
      </p:sp>
      <p:sp>
        <p:nvSpPr>
          <p:cNvPr id="26" name="Rectangle 25"/>
          <p:cNvSpPr/>
          <p:nvPr/>
        </p:nvSpPr>
        <p:spPr>
          <a:xfrm>
            <a:off x="523036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85231"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28" name="Rectangle 27"/>
          <p:cNvSpPr/>
          <p:nvPr/>
        </p:nvSpPr>
        <p:spPr>
          <a:xfrm>
            <a:off x="6464808" y="2532888"/>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9672" y="2532888"/>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0" name="Rectangle 29"/>
          <p:cNvSpPr/>
          <p:nvPr/>
        </p:nvSpPr>
        <p:spPr>
          <a:xfrm>
            <a:off x="7882128" y="2532888"/>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2532888"/>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2" name="Rectangle 31"/>
          <p:cNvSpPr/>
          <p:nvPr/>
        </p:nvSpPr>
        <p:spPr>
          <a:xfrm>
            <a:off x="9025128" y="2532888"/>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9992" y="2532888"/>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Không</a:t>
            </a:r>
          </a:p>
        </p:txBody>
      </p:sp>
      <p:sp>
        <p:nvSpPr>
          <p:cNvPr id="34" name="Rectangle 33"/>
          <p:cNvSpPr/>
          <p:nvPr/>
        </p:nvSpPr>
        <p:spPr>
          <a:xfrm>
            <a:off x="10259568" y="2532888"/>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2532888"/>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Cần tích hợp</a:t>
            </a:r>
          </a:p>
        </p:txBody>
      </p:sp>
      <p:sp>
        <p:nvSpPr>
          <p:cNvPr id="36" name="Rectangle 35"/>
          <p:cNvSpPr/>
          <p:nvPr/>
        </p:nvSpPr>
        <p:spPr>
          <a:xfrm>
            <a:off x="566928" y="3374136"/>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 y="3374136"/>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AI giải thích được</a:t>
            </a:r>
          </a:p>
        </p:txBody>
      </p:sp>
      <p:sp>
        <p:nvSpPr>
          <p:cNvPr id="38" name="Rectangle 37"/>
          <p:cNvSpPr/>
          <p:nvPr/>
        </p:nvSpPr>
        <p:spPr>
          <a:xfrm>
            <a:off x="3355848" y="3374136"/>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10712" y="3374136"/>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Có — minh bạch</a:t>
            </a:r>
          </a:p>
        </p:txBody>
      </p:sp>
      <p:sp>
        <p:nvSpPr>
          <p:cNvPr id="40" name="Rectangle 39"/>
          <p:cNvSpPr/>
          <p:nvPr/>
        </p:nvSpPr>
        <p:spPr>
          <a:xfrm>
            <a:off x="523036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85231"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Hạn chế</a:t>
            </a:r>
          </a:p>
        </p:txBody>
      </p:sp>
      <p:sp>
        <p:nvSpPr>
          <p:cNvPr id="42" name="Rectangle 41"/>
          <p:cNvSpPr/>
          <p:nvPr/>
        </p:nvSpPr>
        <p:spPr>
          <a:xfrm>
            <a:off x="6464808" y="3374136"/>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3374136"/>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 (hộp đen)</a:t>
            </a:r>
          </a:p>
        </p:txBody>
      </p:sp>
      <p:sp>
        <p:nvSpPr>
          <p:cNvPr id="44" name="Rectangle 43"/>
          <p:cNvSpPr/>
          <p:nvPr/>
        </p:nvSpPr>
        <p:spPr>
          <a:xfrm>
            <a:off x="7882128" y="3374136"/>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3374136"/>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Hạn chế</a:t>
            </a:r>
          </a:p>
        </p:txBody>
      </p:sp>
      <p:sp>
        <p:nvSpPr>
          <p:cNvPr id="46" name="Rectangle 45"/>
          <p:cNvSpPr/>
          <p:nvPr/>
        </p:nvSpPr>
        <p:spPr>
          <a:xfrm>
            <a:off x="9025128" y="3374136"/>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79992" y="3374136"/>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Không</a:t>
            </a:r>
          </a:p>
        </p:txBody>
      </p:sp>
      <p:sp>
        <p:nvSpPr>
          <p:cNvPr id="48" name="Rectangle 47"/>
          <p:cNvSpPr/>
          <p:nvPr/>
        </p:nvSpPr>
        <p:spPr>
          <a:xfrm>
            <a:off x="10259568" y="3374136"/>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14432" y="3374136"/>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Có</a:t>
            </a:r>
          </a:p>
        </p:txBody>
      </p:sp>
      <p:sp>
        <p:nvSpPr>
          <p:cNvPr id="50" name="Rectangle 49"/>
          <p:cNvSpPr/>
          <p:nvPr/>
        </p:nvSpPr>
        <p:spPr>
          <a:xfrm>
            <a:off x="566928" y="4215384"/>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4215384"/>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Kênh Việt Nam (Zalo ZNS)</a:t>
            </a:r>
          </a:p>
        </p:txBody>
      </p:sp>
      <p:sp>
        <p:nvSpPr>
          <p:cNvPr id="52" name="Rectangle 51"/>
          <p:cNvSpPr/>
          <p:nvPr/>
        </p:nvSpPr>
        <p:spPr>
          <a:xfrm>
            <a:off x="3355848" y="4215384"/>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10712" y="4215384"/>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Hỗ trợ sẵn</a:t>
            </a:r>
          </a:p>
        </p:txBody>
      </p:sp>
      <p:sp>
        <p:nvSpPr>
          <p:cNvPr id="54" name="Rectangle 53"/>
          <p:cNvSpPr/>
          <p:nvPr/>
        </p:nvSpPr>
        <p:spPr>
          <a:xfrm>
            <a:off x="523036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285231"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56" name="Rectangle 55"/>
          <p:cNvSpPr/>
          <p:nvPr/>
        </p:nvSpPr>
        <p:spPr>
          <a:xfrm>
            <a:off x="6464808" y="4215384"/>
            <a:ext cx="141732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19672" y="4215384"/>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58" name="Rectangle 57"/>
          <p:cNvSpPr/>
          <p:nvPr/>
        </p:nvSpPr>
        <p:spPr>
          <a:xfrm>
            <a:off x="7882128" y="4215384"/>
            <a:ext cx="11430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36992" y="4215384"/>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0" name="Rectangle 59"/>
          <p:cNvSpPr/>
          <p:nvPr/>
        </p:nvSpPr>
        <p:spPr>
          <a:xfrm>
            <a:off x="9025128" y="4215384"/>
            <a:ext cx="123444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079992" y="4215384"/>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2" name="Rectangle 61"/>
          <p:cNvSpPr/>
          <p:nvPr/>
        </p:nvSpPr>
        <p:spPr>
          <a:xfrm>
            <a:off x="10259568" y="4215384"/>
            <a:ext cx="1371600" cy="84124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14432" y="4215384"/>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Qua tích hợp</a:t>
            </a:r>
          </a:p>
        </p:txBody>
      </p:sp>
      <p:sp>
        <p:nvSpPr>
          <p:cNvPr id="64" name="Rectangle 63"/>
          <p:cNvSpPr/>
          <p:nvPr/>
        </p:nvSpPr>
        <p:spPr>
          <a:xfrm>
            <a:off x="566928" y="5056632"/>
            <a:ext cx="2788920" cy="84124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5056632"/>
            <a:ext cx="2679191" cy="841248"/>
          </a:xfrm>
          <a:prstGeom prst="rect">
            <a:avLst/>
          </a:prstGeom>
          <a:noFill/>
        </p:spPr>
        <p:txBody>
          <a:bodyPr wrap="square" anchor="ctr" lIns="25400" rIns="25400" tIns="12700" bIns="12700">
            <a:spAutoFit/>
          </a:bodyPr>
          <a:lstStyle/>
          <a:p>
            <a:pPr algn="l">
              <a:lnSpc>
                <a:spcPct val="90000"/>
              </a:lnSpc>
              <a:spcBef>
                <a:spcPts val="0"/>
              </a:spcBef>
              <a:spcAft>
                <a:spcPts val="400"/>
              </a:spcAft>
            </a:pPr>
            <a:r>
              <a:rPr sz="1050" b="1" i="0">
                <a:solidFill>
                  <a:srgbClr val="FFFFFF"/>
                </a:solidFill>
                <a:latin typeface="Calibri"/>
              </a:rPr>
              <a:t>Chi phí license (định tính)</a:t>
            </a:r>
          </a:p>
        </p:txBody>
      </p:sp>
      <p:sp>
        <p:nvSpPr>
          <p:cNvPr id="66" name="Rectangle 65"/>
          <p:cNvSpPr/>
          <p:nvPr/>
        </p:nvSpPr>
        <p:spPr>
          <a:xfrm>
            <a:off x="3355848" y="5056632"/>
            <a:ext cx="1874519" cy="841248"/>
          </a:xfrm>
          <a:prstGeom prst="rect">
            <a:avLst/>
          </a:prstGeom>
          <a:solidFill>
            <a:srgbClr val="F3EAD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10712" y="5056632"/>
            <a:ext cx="176479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1" i="0">
                <a:solidFill>
                  <a:srgbClr val="2E2E40"/>
                </a:solidFill>
                <a:latin typeface="Calibri"/>
              </a:rPr>
              <a:t>Không phí/khách</a:t>
            </a:r>
          </a:p>
        </p:txBody>
      </p:sp>
      <p:sp>
        <p:nvSpPr>
          <p:cNvPr id="68" name="Rectangle 67"/>
          <p:cNvSpPr/>
          <p:nvPr/>
        </p:nvSpPr>
        <p:spPr>
          <a:xfrm>
            <a:off x="523036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285231"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 theo MTU</a:t>
            </a:r>
          </a:p>
        </p:txBody>
      </p:sp>
      <p:sp>
        <p:nvSpPr>
          <p:cNvPr id="70" name="Rectangle 69"/>
          <p:cNvSpPr/>
          <p:nvPr/>
        </p:nvSpPr>
        <p:spPr>
          <a:xfrm>
            <a:off x="6464808" y="5056632"/>
            <a:ext cx="141732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19672" y="5056632"/>
            <a:ext cx="130759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Rất cao</a:t>
            </a:r>
          </a:p>
        </p:txBody>
      </p:sp>
      <p:sp>
        <p:nvSpPr>
          <p:cNvPr id="72" name="Rectangle 71"/>
          <p:cNvSpPr/>
          <p:nvPr/>
        </p:nvSpPr>
        <p:spPr>
          <a:xfrm>
            <a:off x="7882128" y="5056632"/>
            <a:ext cx="11430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36992" y="5056632"/>
            <a:ext cx="1033271"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a:t>
            </a:r>
          </a:p>
        </p:txBody>
      </p:sp>
      <p:sp>
        <p:nvSpPr>
          <p:cNvPr id="74" name="Rectangle 73"/>
          <p:cNvSpPr/>
          <p:nvPr/>
        </p:nvSpPr>
        <p:spPr>
          <a:xfrm>
            <a:off x="9025128" y="5056632"/>
            <a:ext cx="123444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79992" y="5056632"/>
            <a:ext cx="112471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Theo dòng ĐB</a:t>
            </a:r>
          </a:p>
        </p:txBody>
      </p:sp>
      <p:sp>
        <p:nvSpPr>
          <p:cNvPr id="76" name="Rectangle 75"/>
          <p:cNvSpPr/>
          <p:nvPr/>
        </p:nvSpPr>
        <p:spPr>
          <a:xfrm>
            <a:off x="10259568" y="5056632"/>
            <a:ext cx="1371600" cy="84124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314432" y="5056632"/>
            <a:ext cx="1261872" cy="841248"/>
          </a:xfrm>
          <a:prstGeom prst="rect">
            <a:avLst/>
          </a:prstGeom>
          <a:noFill/>
        </p:spPr>
        <p:txBody>
          <a:bodyPr wrap="square" anchor="ctr" lIns="25400" rIns="25400" tIns="12700" bIns="12700">
            <a:spAutoFit/>
          </a:bodyPr>
          <a:lstStyle/>
          <a:p>
            <a:pPr algn="ctr">
              <a:lnSpc>
                <a:spcPct val="90000"/>
              </a:lnSpc>
              <a:spcBef>
                <a:spcPts val="0"/>
              </a:spcBef>
              <a:spcAft>
                <a:spcPts val="400"/>
              </a:spcAft>
            </a:pPr>
            <a:r>
              <a:rPr sz="1000" b="0" i="0">
                <a:solidFill>
                  <a:srgbClr val="1B1B2E"/>
                </a:solidFill>
                <a:latin typeface="Calibri"/>
              </a:rPr>
              <a:t>Cao</a:t>
            </a:r>
          </a:p>
        </p:txBody>
      </p:sp>
      <p:sp>
        <p:nvSpPr>
          <p:cNvPr id="78" name="Rounded Rectangle 77"/>
          <p:cNvSpPr/>
          <p:nvPr/>
        </p:nvSpPr>
        <p:spPr>
          <a:xfrm>
            <a:off x="566928" y="5669280"/>
            <a:ext cx="11064240" cy="777240"/>
          </a:xfrm>
          <a:prstGeom prst="round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2960" y="5669280"/>
            <a:ext cx="10607040" cy="77724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250" b="1" i="0">
                <a:solidFill>
                  <a:srgbClr val="2E2E40"/>
                </a:solidFill>
                <a:latin typeface="Calibri"/>
              </a:rPr>
              <a:t>Kết luận: </a:t>
            </a:r>
            <a:r>
              <a:rPr sz="1200" b="0" i="0">
                <a:solidFill>
                  <a:srgbClr val="1B1B2E"/>
                </a:solidFill>
                <a:latin typeface="Calibri"/>
              </a:rPr>
              <a:t>AICDP phù hợp OCH hơn nhờ chủ quyền dữ liệu tại VN, may đo đúng ngành F&amp;B + khách sạn, chi phí sở hữu thấp, và kênh Việt Nam (Zalo). Số liệu đối thủ chỉ định tính — không phóng đại.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LƯU ĐỒ VẬN HÀNH · 1</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Consent → Kích hoạt</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24</a:t>
            </a:r>
          </a:p>
        </p:txBody>
      </p:sp>
      <p:sp>
        <p:nvSpPr>
          <p:cNvPr id="8" name="Rectangle 7"/>
          <p:cNvSpPr/>
          <p:nvPr/>
        </p:nvSpPr>
        <p:spPr>
          <a:xfrm>
            <a:off x="777240" y="1737360"/>
            <a:ext cx="10652760" cy="414223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c_consent.png"/>
          <p:cNvPicPr>
            <a:picLocks noChangeAspect="1"/>
          </p:cNvPicPr>
          <p:nvPr/>
        </p:nvPicPr>
        <p:blipFill>
          <a:blip r:embed="rId2"/>
          <a:stretch>
            <a:fillRect/>
          </a:stretch>
        </p:blipFill>
        <p:spPr>
          <a:xfrm>
            <a:off x="972616" y="1783080"/>
            <a:ext cx="10262006" cy="4050791"/>
          </a:xfrm>
          <a:prstGeom prst="rect">
            <a:avLst/>
          </a:prstGeom>
        </p:spPr>
      </p:pic>
      <p:sp>
        <p:nvSpPr>
          <p:cNvPr id="10" name="TextBox 9"/>
          <p:cNvSpPr txBox="1"/>
          <p:nvPr/>
        </p:nvSpPr>
        <p:spPr>
          <a:xfrm>
            <a:off x="777240" y="5916168"/>
            <a:ext cx="1065276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Tệp khách đi qua cổng consent trước khi gửi; người chưa đồng ý bị loại và ghi 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LƯU ĐỒ VẬN HÀNH · 2</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Journey — tự động hoá theo hành vi</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25</a:t>
            </a:r>
          </a:p>
        </p:txBody>
      </p:sp>
      <p:sp>
        <p:nvSpPr>
          <p:cNvPr id="8" name="Rectangle 7"/>
          <p:cNvSpPr/>
          <p:nvPr/>
        </p:nvSpPr>
        <p:spPr>
          <a:xfrm>
            <a:off x="777240" y="1737360"/>
            <a:ext cx="10652760" cy="414223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c_journey.png"/>
          <p:cNvPicPr>
            <a:picLocks noChangeAspect="1"/>
          </p:cNvPicPr>
          <p:nvPr/>
        </p:nvPicPr>
        <p:blipFill>
          <a:blip r:embed="rId2"/>
          <a:stretch>
            <a:fillRect/>
          </a:stretch>
        </p:blipFill>
        <p:spPr>
          <a:xfrm>
            <a:off x="972616" y="1783080"/>
            <a:ext cx="10262006" cy="4050791"/>
          </a:xfrm>
          <a:prstGeom prst="rect">
            <a:avLst/>
          </a:prstGeom>
        </p:spPr>
      </p:pic>
      <p:sp>
        <p:nvSpPr>
          <p:cNvPr id="10" name="TextBox 9"/>
          <p:cNvSpPr txBox="1"/>
          <p:nvPr/>
        </p:nvSpPr>
        <p:spPr>
          <a:xfrm>
            <a:off x="777240" y="5916168"/>
            <a:ext cx="1065276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Trigger → điều kiện → hành động → chờ → lặp; kết thúc ghi funnel để đo rơi rụng.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LƯU ĐỒ VẬN HÀNH · 3</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Loyalty — earn · reserve · capture / release</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26</a:t>
            </a:r>
          </a:p>
        </p:txBody>
      </p:sp>
      <p:sp>
        <p:nvSpPr>
          <p:cNvPr id="8" name="Rectangle 7"/>
          <p:cNvSpPr/>
          <p:nvPr/>
        </p:nvSpPr>
        <p:spPr>
          <a:xfrm>
            <a:off x="777240" y="1737360"/>
            <a:ext cx="10652760" cy="414223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c_loyalty.png"/>
          <p:cNvPicPr>
            <a:picLocks noChangeAspect="1"/>
          </p:cNvPicPr>
          <p:nvPr/>
        </p:nvPicPr>
        <p:blipFill>
          <a:blip r:embed="rId2"/>
          <a:stretch>
            <a:fillRect/>
          </a:stretch>
        </p:blipFill>
        <p:spPr>
          <a:xfrm>
            <a:off x="972616" y="1783080"/>
            <a:ext cx="10262006" cy="4050791"/>
          </a:xfrm>
          <a:prstGeom prst="rect">
            <a:avLst/>
          </a:prstGeom>
        </p:spPr>
      </p:pic>
      <p:sp>
        <p:nvSpPr>
          <p:cNvPr id="10" name="TextBox 9"/>
          <p:cNvSpPr txBox="1"/>
          <p:nvPr/>
        </p:nvSpPr>
        <p:spPr>
          <a:xfrm>
            <a:off x="777240" y="5916168"/>
            <a:ext cx="1065276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Điểm được khoá khi đổi thưởng, chỉ trừ khi giao dịch hoàn tất — huỷ thì hoàn đủ.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TRIỂN KHAI &amp; VẬN HÀNH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Lộ trình triển khai bảy giai đoạn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27</a:t>
            </a:r>
          </a:p>
        </p:txBody>
      </p:sp>
      <p:sp>
        <p:nvSpPr>
          <p:cNvPr id="8" name="Rectangle 7"/>
          <p:cNvSpPr/>
          <p:nvPr/>
        </p:nvSpPr>
        <p:spPr>
          <a:xfrm>
            <a:off x="777240" y="1737360"/>
            <a:ext cx="10652760" cy="4142231"/>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c_deploy.png"/>
          <p:cNvPicPr>
            <a:picLocks noChangeAspect="1"/>
          </p:cNvPicPr>
          <p:nvPr/>
        </p:nvPicPr>
        <p:blipFill>
          <a:blip r:embed="rId2"/>
          <a:stretch>
            <a:fillRect/>
          </a:stretch>
        </p:blipFill>
        <p:spPr>
          <a:xfrm>
            <a:off x="822960" y="2140899"/>
            <a:ext cx="10561320" cy="3335153"/>
          </a:xfrm>
          <a:prstGeom prst="rect">
            <a:avLst/>
          </a:prstGeom>
        </p:spPr>
      </p:pic>
      <p:sp>
        <p:nvSpPr>
          <p:cNvPr id="10" name="TextBox 9"/>
          <p:cNvSpPr txBox="1"/>
          <p:nvPr/>
        </p:nvSpPr>
        <p:spPr>
          <a:xfrm>
            <a:off x="777240" y="5916168"/>
            <a:ext cx="1065276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Mỗi giai đoạn có cột mốc nghiệm thu; vòng phản hồi từ vận hành quay lại cải tiến.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KẾT LUẬN — NĂM CƠ CHẾ BẢO ĐẢM, KHÔNG PHẢI KHẨU HIỆU</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Vì sao tin được hệ thống này</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28</a:t>
            </a:r>
          </a:p>
        </p:txBody>
      </p:sp>
      <p:sp>
        <p:nvSpPr>
          <p:cNvPr id="8" name="Rectangle 7"/>
          <p:cNvSpPr/>
          <p:nvPr/>
        </p:nvSpPr>
        <p:spPr>
          <a:xfrm>
            <a:off x="566928" y="1828800"/>
            <a:ext cx="11064240" cy="67665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28800"/>
            <a:ext cx="82296" cy="67665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828800"/>
            <a:ext cx="3291840" cy="67665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300" b="1" i="0">
                <a:solidFill>
                  <a:srgbClr val="2E2E40"/>
                </a:solidFill>
                <a:latin typeface="Calibri"/>
              </a:rPr>
              <a:t>Chống trùng doanh thu</a:t>
            </a:r>
          </a:p>
        </p:txBody>
      </p:sp>
      <p:sp>
        <p:nvSpPr>
          <p:cNvPr id="11" name="TextBox 10"/>
          <p:cNvSpPr txBox="1"/>
          <p:nvPr/>
        </p:nvSpPr>
        <p:spPr>
          <a:xfrm>
            <a:off x="4206240" y="1828800"/>
            <a:ext cx="7223760" cy="67665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Mỗi giao dịch POS mang khoá duy nhất — gửi lại bao nhiêu lần cũng chỉ ghi nhận một lần.</a:t>
            </a:r>
          </a:p>
        </p:txBody>
      </p:sp>
      <p:sp>
        <p:nvSpPr>
          <p:cNvPr id="12" name="Rectangle 11"/>
          <p:cNvSpPr/>
          <p:nvPr/>
        </p:nvSpPr>
        <p:spPr>
          <a:xfrm>
            <a:off x="566928" y="2615184"/>
            <a:ext cx="11064240" cy="67665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615184"/>
            <a:ext cx="82296" cy="67665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615184"/>
            <a:ext cx="3291840" cy="67665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300" b="1" i="0">
                <a:solidFill>
                  <a:srgbClr val="2E2E40"/>
                </a:solidFill>
                <a:latin typeface="Calibri"/>
              </a:rPr>
              <a:t>Sổ kép loyalty</a:t>
            </a:r>
          </a:p>
        </p:txBody>
      </p:sp>
      <p:sp>
        <p:nvSpPr>
          <p:cNvPr id="15" name="TextBox 14"/>
          <p:cNvSpPr txBox="1"/>
          <p:nvPr/>
        </p:nvSpPr>
        <p:spPr>
          <a:xfrm>
            <a:off x="4206240" y="2615184"/>
            <a:ext cx="7223760" cy="67665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Mỗi điểm có bút toán đối ứng: không cộng trùng, quỹ không thể âm.</a:t>
            </a:r>
          </a:p>
        </p:txBody>
      </p:sp>
      <p:sp>
        <p:nvSpPr>
          <p:cNvPr id="16" name="Rectangle 15"/>
          <p:cNvSpPr/>
          <p:nvPr/>
        </p:nvSpPr>
        <p:spPr>
          <a:xfrm>
            <a:off x="566928" y="3401568"/>
            <a:ext cx="11064240" cy="67665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401568"/>
            <a:ext cx="82296" cy="67665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401568"/>
            <a:ext cx="3291840" cy="67665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300" b="1" i="0">
                <a:solidFill>
                  <a:srgbClr val="2E2E40"/>
                </a:solidFill>
                <a:latin typeface="Calibri"/>
              </a:rPr>
              <a:t>Cổng consent kỹ thuật</a:t>
            </a:r>
          </a:p>
        </p:txBody>
      </p:sp>
      <p:sp>
        <p:nvSpPr>
          <p:cNvPr id="19" name="TextBox 18"/>
          <p:cNvSpPr txBox="1"/>
          <p:nvPr/>
        </p:nvSpPr>
        <p:spPr>
          <a:xfrm>
            <a:off x="4206240" y="3401568"/>
            <a:ext cx="7223760" cy="67665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Chưa đồng ý thì tầng kỹ thuật chặn gửi — không phụ thuộc ý thức người chạy chiến dịch.</a:t>
            </a:r>
          </a:p>
        </p:txBody>
      </p:sp>
      <p:sp>
        <p:nvSpPr>
          <p:cNvPr id="20" name="Rectangle 19"/>
          <p:cNvSpPr/>
          <p:nvPr/>
        </p:nvSpPr>
        <p:spPr>
          <a:xfrm>
            <a:off x="566928" y="4187952"/>
            <a:ext cx="11064240" cy="67665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187952"/>
            <a:ext cx="82296" cy="67665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187952"/>
            <a:ext cx="3291840" cy="67665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300" b="1" i="0">
                <a:solidFill>
                  <a:srgbClr val="2E2E40"/>
                </a:solidFill>
                <a:latin typeface="Calibri"/>
              </a:rPr>
              <a:t>Chạm khách đúng một lần</a:t>
            </a:r>
          </a:p>
        </p:txBody>
      </p:sp>
      <p:sp>
        <p:nvSpPr>
          <p:cNvPr id="23" name="TextBox 22"/>
          <p:cNvSpPr txBox="1"/>
          <p:nvPr/>
        </p:nvSpPr>
        <p:spPr>
          <a:xfrm>
            <a:off x="4206240" y="4187952"/>
            <a:ext cx="7223760" cy="67665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Mỗi bước hành trình được bảo đảm thực thi đúng một lần — lỗi hệ thống không gây spam.</a:t>
            </a:r>
          </a:p>
        </p:txBody>
      </p:sp>
      <p:sp>
        <p:nvSpPr>
          <p:cNvPr id="24" name="Rectangle 23"/>
          <p:cNvSpPr/>
          <p:nvPr/>
        </p:nvSpPr>
        <p:spPr>
          <a:xfrm>
            <a:off x="566928" y="4974336"/>
            <a:ext cx="11064240" cy="676656"/>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974336"/>
            <a:ext cx="82296" cy="676656"/>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974336"/>
            <a:ext cx="3291840" cy="676656"/>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300" b="1" i="0">
                <a:solidFill>
                  <a:srgbClr val="2E2E40"/>
                </a:solidFill>
                <a:latin typeface="Calibri"/>
              </a:rPr>
              <a:t>Self-host tại Việt Nam</a:t>
            </a:r>
          </a:p>
        </p:txBody>
      </p:sp>
      <p:sp>
        <p:nvSpPr>
          <p:cNvPr id="27" name="TextBox 26"/>
          <p:cNvSpPr txBox="1"/>
          <p:nvPr/>
        </p:nvSpPr>
        <p:spPr>
          <a:xfrm>
            <a:off x="4206240" y="4974336"/>
            <a:ext cx="7223760" cy="676656"/>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Dữ liệu khách không rời hạ tầng OCH; không phí license theo sự kiện.</a:t>
            </a:r>
          </a:p>
        </p:txBody>
      </p:sp>
      <p:sp>
        <p:nvSpPr>
          <p:cNvPr id="28" name="Rounded Rectangle 27"/>
          <p:cNvSpPr/>
          <p:nvPr/>
        </p:nvSpPr>
        <p:spPr>
          <a:xfrm>
            <a:off x="566928" y="5852160"/>
            <a:ext cx="11064240" cy="548640"/>
          </a:xfrm>
          <a:prstGeom prst="roundRect">
            <a:avLst/>
          </a:prstGeom>
          <a:solidFill>
            <a:srgbClr val="E7DDC8"/>
          </a:solidFill>
          <a:ln w="1270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852160"/>
            <a:ext cx="1060704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0" i="0">
                <a:solidFill>
                  <a:srgbClr val="1B1B2E"/>
                </a:solidFill>
                <a:latin typeface="Calibri"/>
              </a:rPr>
              <a:t>Hệ thống đang chạy với dữ liệu thật — trải nghiệm trực tiếp tại </a:t>
            </a:r>
            <a:r>
              <a:rPr sz="1250" b="1" i="0">
                <a:solidFill>
                  <a:srgbClr val="2E2E40"/>
                </a:solidFill>
                <a:latin typeface="Calibri"/>
              </a:rPr>
              <a:t>och-aicdp.aipower.vn</a:t>
            </a:r>
            <a:r>
              <a:rPr sz="1100" b="0" i="0">
                <a:solidFill>
                  <a:srgbClr val="565564"/>
                </a:solidFill>
                <a:latin typeface="Calibri"/>
              </a:rPr>
              <a:t>  (admin / Och@2026)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11696"/>
            <a:ext cx="12191695" cy="14630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2236" y="1499616"/>
            <a:ext cx="3384242" cy="3401568"/>
          </a:xfrm>
          <a:prstGeom prst="roundRect">
            <a:avLst/>
          </a:prstGeom>
          <a:solidFill>
            <a:srgbClr val="FFFFFF"/>
          </a:solidFill>
          <a:ln w="1587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ch-tower.jpg"/>
          <p:cNvPicPr>
            <a:picLocks noChangeAspect="1"/>
          </p:cNvPicPr>
          <p:nvPr/>
        </p:nvPicPr>
        <p:blipFill>
          <a:blip r:embed="rId2"/>
          <a:stretch>
            <a:fillRect/>
          </a:stretch>
        </p:blipFill>
        <p:spPr>
          <a:xfrm>
            <a:off x="8277100" y="1554480"/>
            <a:ext cx="3274514" cy="3291840"/>
          </a:xfrm>
          <a:prstGeom prst="rect">
            <a:avLst/>
          </a:prstGeom>
        </p:spPr>
      </p:pic>
      <p:sp>
        <p:nvSpPr>
          <p:cNvPr id="7" name="TextBox 6"/>
          <p:cNvSpPr txBox="1"/>
          <p:nvPr/>
        </p:nvSpPr>
        <p:spPr>
          <a:xfrm>
            <a:off x="822960" y="1645920"/>
            <a:ext cx="694944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4400" b="1" i="0">
                <a:solidFill>
                  <a:srgbClr val="2E2E40"/>
                </a:solidFill>
                <a:latin typeface="Georgia"/>
              </a:rPr>
              <a:t>Xin cảm ơn</a:t>
            </a:r>
          </a:p>
        </p:txBody>
      </p:sp>
      <p:sp>
        <p:nvSpPr>
          <p:cNvPr id="8" name="TextBox 7"/>
          <p:cNvSpPr txBox="1"/>
          <p:nvPr/>
        </p:nvSpPr>
        <p:spPr>
          <a:xfrm>
            <a:off x="868680" y="2697480"/>
            <a:ext cx="6766560"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1">
                <a:solidFill>
                  <a:srgbClr val="565564"/>
                </a:solidFill>
                <a:latin typeface="Calibri"/>
              </a:rPr>
              <a:t>OCH · Customer Data Platform</a:t>
            </a:r>
          </a:p>
        </p:txBody>
      </p:sp>
      <p:sp>
        <p:nvSpPr>
          <p:cNvPr id="9" name="Rounded Rectangle 8"/>
          <p:cNvSpPr/>
          <p:nvPr/>
        </p:nvSpPr>
        <p:spPr>
          <a:xfrm>
            <a:off x="868680" y="3383280"/>
            <a:ext cx="6583680" cy="1234440"/>
          </a:xfrm>
          <a:prstGeom prst="roundRect">
            <a:avLst/>
          </a:prstGeom>
          <a:solidFill>
            <a:srgbClr val="FFFFFF"/>
          </a:solidFill>
          <a:ln w="15875">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520440"/>
            <a:ext cx="6126480" cy="4114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B1B2E"/>
                </a:solidFill>
                <a:latin typeface="Calibri"/>
              </a:rPr>
              <a:t>Mời trải nghiệm trực tiếp hệ thống demo:</a:t>
            </a:r>
          </a:p>
        </p:txBody>
      </p:sp>
      <p:sp>
        <p:nvSpPr>
          <p:cNvPr id="11" name="TextBox 10"/>
          <p:cNvSpPr txBox="1"/>
          <p:nvPr/>
        </p:nvSpPr>
        <p:spPr>
          <a:xfrm>
            <a:off x="1143000" y="3931920"/>
            <a:ext cx="6126480" cy="5486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700" b="1" i="0">
                <a:solidFill>
                  <a:srgbClr val="2E2E40"/>
                </a:solidFill>
                <a:latin typeface="Calibri"/>
              </a:rPr>
              <a:t>https://och-aicdp.aipower.vn</a:t>
            </a:r>
            <a:r>
              <a:rPr sz="1200" b="0" i="0">
                <a:solidFill>
                  <a:srgbClr val="565564"/>
                </a:solidFill>
                <a:latin typeface="Calibri"/>
              </a:rPr>
              <a:t>    (tài khoản: admin / Och@2026)</a:t>
            </a:r>
          </a:p>
        </p:txBody>
      </p:sp>
      <p:sp>
        <p:nvSpPr>
          <p:cNvPr id="12" name="TextBox 11"/>
          <p:cNvSpPr txBox="1"/>
          <p:nvPr/>
        </p:nvSpPr>
        <p:spPr>
          <a:xfrm>
            <a:off x="868680" y="5029200"/>
            <a:ext cx="6583680"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C39851"/>
                </a:solidFill>
                <a:latin typeface="Calibri"/>
              </a:rPr>
              <a:t>Phát triển bởi AIPOWER  ·  aipower.vn</a:t>
            </a:r>
          </a:p>
        </p:txBody>
      </p:sp>
      <p:pic>
        <p:nvPicPr>
          <p:cNvPr id="13" name="Picture 12" descr="aipower-logo.png"/>
          <p:cNvPicPr>
            <a:picLocks noChangeAspect="1"/>
          </p:cNvPicPr>
          <p:nvPr/>
        </p:nvPicPr>
        <p:blipFill>
          <a:blip r:embed="rId3"/>
          <a:stretch>
            <a:fillRect/>
          </a:stretch>
        </p:blipFill>
        <p:spPr>
          <a:xfrm>
            <a:off x="868680" y="5623560"/>
            <a:ext cx="1463040" cy="612157"/>
          </a:xfrm>
          <a:prstGeom prst="rect">
            <a:avLst/>
          </a:prstGeom>
        </p:spPr>
      </p:pic>
      <p:sp>
        <p:nvSpPr>
          <p:cNvPr id="14" name="TextBox 13"/>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15" name="TextBox 14"/>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38160" y="0"/>
            <a:ext cx="4144975" cy="6858000"/>
          </a:xfrm>
          <a:prstGeom prst="rect">
            <a:avLst/>
          </a:prstGeom>
          <a:solidFill>
            <a:srgbClr val="E7D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103120"/>
            <a:ext cx="36576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C39851"/>
                </a:solidFill>
                <a:latin typeface="Calibri"/>
              </a:rPr>
              <a:t>PHỤ LỤC · Tư liệu tham khảo</a:t>
            </a:r>
          </a:p>
        </p:txBody>
      </p:sp>
      <p:sp>
        <p:nvSpPr>
          <p:cNvPr id="6" name="TextBox 5"/>
          <p:cNvSpPr txBox="1"/>
          <p:nvPr/>
        </p:nvSpPr>
        <p:spPr>
          <a:xfrm>
            <a:off x="914400" y="2487168"/>
            <a:ext cx="9601200" cy="1463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5800" b="1" i="0">
                <a:solidFill>
                  <a:srgbClr val="2E2E40"/>
                </a:solidFill>
                <a:latin typeface="Georgia"/>
              </a:rPr>
              <a:t>PHỤ LỤC</a:t>
            </a:r>
          </a:p>
        </p:txBody>
      </p:sp>
      <p:sp>
        <p:nvSpPr>
          <p:cNvPr id="7" name="Rectangle 6"/>
          <p:cNvSpPr/>
          <p:nvPr/>
        </p:nvSpPr>
        <p:spPr>
          <a:xfrm>
            <a:off x="941832" y="4297680"/>
            <a:ext cx="21945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4526280"/>
            <a:ext cx="8778240" cy="1097280"/>
          </a:xfrm>
          <a:prstGeom prst="rect">
            <a:avLst/>
          </a:prstGeom>
          <a:noFill/>
        </p:spPr>
        <p:txBody>
          <a:bodyPr wrap="square" anchor="t" lIns="25400" rIns="25400" tIns="12700" bIns="12700">
            <a:spAutoFit/>
          </a:bodyPr>
          <a:lstStyle/>
          <a:p>
            <a:pPr algn="l">
              <a:lnSpc>
                <a:spcPct val="120000"/>
              </a:lnSpc>
              <a:spcBef>
                <a:spcPts val="0"/>
              </a:spcBef>
              <a:spcAft>
                <a:spcPts val="400"/>
              </a:spcAft>
            </a:pPr>
            <a:r>
              <a:rPr sz="1500" b="0" i="0">
                <a:solidFill>
                  <a:srgbClr val="565564"/>
                </a:solidFill>
                <a:latin typeface="Calibri"/>
              </a:rPr>
              <a:t>Thị trường CDP (số liệu &amp; nguồn), kiến trúc kỹ thuật chi tiết và nguồn tham khảo.</a:t>
            </a:r>
          </a:p>
        </p:txBody>
      </p:sp>
      <p:sp>
        <p:nvSpPr>
          <p:cNvPr id="9" name="TextBox 8"/>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10" name="TextBox 9"/>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1/10</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Thị trường CDP — Bối cảnh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31</a:t>
            </a:r>
          </a:p>
        </p:txBody>
      </p:sp>
      <p:sp>
        <p:nvSpPr>
          <p:cNvPr id="8" name="TextBox 7"/>
          <p:cNvSpPr txBox="1"/>
          <p:nvPr/>
        </p:nvSpPr>
        <p:spPr>
          <a:xfrm>
            <a:off x="566928" y="1920240"/>
            <a:ext cx="10972800" cy="100584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700" b="1" i="0">
                <a:solidFill>
                  <a:srgbClr val="2E2E40"/>
                </a:solidFill>
                <a:latin typeface="Calibri"/>
              </a:rPr>
              <a:t>CDP là một trong những hạ tầng martech tăng trưởng nhanh nhất thế giới.</a:t>
            </a:r>
          </a:p>
        </p:txBody>
      </p:sp>
      <p:sp>
        <p:nvSpPr>
          <p:cNvPr id="9" name="Rectangle 8"/>
          <p:cNvSpPr/>
          <p:nvPr/>
        </p:nvSpPr>
        <p:spPr>
          <a:xfrm>
            <a:off x="566928" y="320040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20040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3649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2" name="TextBox 11"/>
          <p:cNvSpPr txBox="1"/>
          <p:nvPr/>
        </p:nvSpPr>
        <p:spPr>
          <a:xfrm>
            <a:off x="768096" y="382219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Tăng trưởng nhanh nhất martech</a:t>
            </a:r>
          </a:p>
        </p:txBody>
      </p:sp>
      <p:sp>
        <p:nvSpPr>
          <p:cNvPr id="13" name="TextBox 12"/>
          <p:cNvSpPr txBox="1"/>
          <p:nvPr/>
        </p:nvSpPr>
        <p:spPr>
          <a:xfrm>
            <a:off x="768096" y="4133087"/>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Nhu cầu hợp nhất dữ liệu khách hàng bùng nổ ở mọi ngành.</a:t>
            </a:r>
          </a:p>
        </p:txBody>
      </p:sp>
      <p:sp>
        <p:nvSpPr>
          <p:cNvPr id="14" name="Rectangle 13"/>
          <p:cNvSpPr/>
          <p:nvPr/>
        </p:nvSpPr>
        <p:spPr>
          <a:xfrm>
            <a:off x="4270248" y="320040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320040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1416" y="33649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7" name="TextBox 16"/>
          <p:cNvSpPr txBox="1"/>
          <p:nvPr/>
        </p:nvSpPr>
        <p:spPr>
          <a:xfrm>
            <a:off x="4471416" y="382219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Động lực chính: dữ liệu phân mảnh</a:t>
            </a:r>
          </a:p>
        </p:txBody>
      </p:sp>
      <p:sp>
        <p:nvSpPr>
          <p:cNvPr id="18" name="TextBox 17"/>
          <p:cNvSpPr txBox="1"/>
          <p:nvPr/>
        </p:nvSpPr>
        <p:spPr>
          <a:xfrm>
            <a:off x="4471416" y="4133087"/>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Doanh nghiệp không có hồ sơ khách toàn diện — đúng bài toán OCH.</a:t>
            </a:r>
          </a:p>
        </p:txBody>
      </p:sp>
      <p:sp>
        <p:nvSpPr>
          <p:cNvPr id="19" name="Rectangle 18"/>
          <p:cNvSpPr/>
          <p:nvPr/>
        </p:nvSpPr>
        <p:spPr>
          <a:xfrm>
            <a:off x="7973567" y="320040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7" y="320040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336499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2" name="TextBox 21"/>
          <p:cNvSpPr txBox="1"/>
          <p:nvPr/>
        </p:nvSpPr>
        <p:spPr>
          <a:xfrm>
            <a:off x="8174736" y="3822191"/>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AI thúc đẩy nhu cầu</a:t>
            </a:r>
          </a:p>
        </p:txBody>
      </p:sp>
      <p:sp>
        <p:nvSpPr>
          <p:cNvPr id="23" name="TextBox 22"/>
          <p:cNvSpPr txBox="1"/>
          <p:nvPr/>
        </p:nvSpPr>
        <p:spPr>
          <a:xfrm>
            <a:off x="8174736" y="4133087"/>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Cá nhân hoá bằng AI cần một nền dữ liệu hợp nhất, sạch, realtime.</a:t>
            </a:r>
          </a:p>
        </p:txBody>
      </p:sp>
      <p:sp>
        <p:nvSpPr>
          <p:cNvPr id="24" name="TextBox 23"/>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Tổng hợp Grand View Research, MarketsandMarkets, CDP Institute, Twilio Segment (2024–2025).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2/10 · SỐ LIỆU NHIỀU NGUỒN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Quy mô thị trường CDP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32</a:t>
            </a:r>
          </a:p>
        </p:txBody>
      </p:sp>
      <p:sp>
        <p:nvSpPr>
          <p:cNvPr id="8" name="Rectangle 7"/>
          <p:cNvSpPr/>
          <p:nvPr/>
        </p:nvSpPr>
        <p:spPr>
          <a:xfrm>
            <a:off x="566928" y="1874519"/>
            <a:ext cx="365760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74519"/>
            <a:ext cx="347472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FFFFFF"/>
                </a:solidFill>
                <a:latin typeface="Calibri"/>
              </a:rPr>
              <a:t>Nguồn nghiên cứu</a:t>
            </a:r>
          </a:p>
        </p:txBody>
      </p:sp>
      <p:sp>
        <p:nvSpPr>
          <p:cNvPr id="10" name="Rectangle 9"/>
          <p:cNvSpPr/>
          <p:nvPr/>
        </p:nvSpPr>
        <p:spPr>
          <a:xfrm>
            <a:off x="4224528" y="1874519"/>
            <a:ext cx="283464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5968" y="1874519"/>
            <a:ext cx="265176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FFFFFF"/>
                </a:solidFill>
                <a:latin typeface="Calibri"/>
              </a:rPr>
              <a:t>Hiện tại</a:t>
            </a:r>
          </a:p>
        </p:txBody>
      </p:sp>
      <p:sp>
        <p:nvSpPr>
          <p:cNvPr id="12" name="Rectangle 11"/>
          <p:cNvSpPr/>
          <p:nvPr/>
        </p:nvSpPr>
        <p:spPr>
          <a:xfrm>
            <a:off x="7059168" y="1874519"/>
            <a:ext cx="301752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1874519"/>
            <a:ext cx="2834639"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FFFFFF"/>
                </a:solidFill>
                <a:latin typeface="Calibri"/>
              </a:rPr>
              <a:t>Dự báo</a:t>
            </a:r>
          </a:p>
        </p:txBody>
      </p:sp>
      <p:sp>
        <p:nvSpPr>
          <p:cNvPr id="14" name="Rectangle 13"/>
          <p:cNvSpPr/>
          <p:nvPr/>
        </p:nvSpPr>
        <p:spPr>
          <a:xfrm>
            <a:off x="10076688" y="1874519"/>
            <a:ext cx="155448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68128" y="1874519"/>
            <a:ext cx="1371600" cy="5029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FFFFFF"/>
                </a:solidFill>
                <a:latin typeface="Calibri"/>
              </a:rPr>
              <a:t>CAGR</a:t>
            </a:r>
          </a:p>
        </p:txBody>
      </p:sp>
      <p:sp>
        <p:nvSpPr>
          <p:cNvPr id="16" name="Rectangle 15"/>
          <p:cNvSpPr/>
          <p:nvPr/>
        </p:nvSpPr>
        <p:spPr>
          <a:xfrm>
            <a:off x="566928" y="2377439"/>
            <a:ext cx="3657600" cy="749808"/>
          </a:xfrm>
          <a:prstGeom prst="rect">
            <a:avLst/>
          </a:prstGeom>
          <a:solidFill>
            <a:srgbClr val="E7DDC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377439"/>
            <a:ext cx="343814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2E2E40"/>
                </a:solidFill>
                <a:latin typeface="Calibri"/>
              </a:rPr>
              <a:t>Grand View Research</a:t>
            </a:r>
          </a:p>
        </p:txBody>
      </p:sp>
      <p:sp>
        <p:nvSpPr>
          <p:cNvPr id="18" name="Rectangle 17"/>
          <p:cNvSpPr/>
          <p:nvPr/>
        </p:nvSpPr>
        <p:spPr>
          <a:xfrm>
            <a:off x="4224528" y="2377439"/>
            <a:ext cx="283464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34256" y="2377439"/>
            <a:ext cx="261518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8,26 tỷ USD (2025)</a:t>
            </a:r>
          </a:p>
        </p:txBody>
      </p:sp>
      <p:sp>
        <p:nvSpPr>
          <p:cNvPr id="20" name="Rectangle 19"/>
          <p:cNvSpPr/>
          <p:nvPr/>
        </p:nvSpPr>
        <p:spPr>
          <a:xfrm>
            <a:off x="7059168" y="2377439"/>
            <a:ext cx="301752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68896" y="2377439"/>
            <a:ext cx="2798063"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58,41 tỷ USD (2033)</a:t>
            </a:r>
          </a:p>
        </p:txBody>
      </p:sp>
      <p:sp>
        <p:nvSpPr>
          <p:cNvPr id="22" name="Rectangle 21"/>
          <p:cNvSpPr/>
          <p:nvPr/>
        </p:nvSpPr>
        <p:spPr>
          <a:xfrm>
            <a:off x="10076688" y="2377439"/>
            <a:ext cx="155448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86415" y="2377439"/>
            <a:ext cx="1335024" cy="74980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2E2E40"/>
                </a:solidFill>
                <a:latin typeface="Calibri"/>
              </a:rPr>
              <a:t>27,8%</a:t>
            </a:r>
          </a:p>
        </p:txBody>
      </p:sp>
      <p:sp>
        <p:nvSpPr>
          <p:cNvPr id="24" name="Rectangle 23"/>
          <p:cNvSpPr/>
          <p:nvPr/>
        </p:nvSpPr>
        <p:spPr>
          <a:xfrm>
            <a:off x="566928" y="3127247"/>
            <a:ext cx="3657600" cy="749808"/>
          </a:xfrm>
          <a:prstGeom prst="rect">
            <a:avLst/>
          </a:prstGeom>
          <a:solidFill>
            <a:srgbClr val="E7DDC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127247"/>
            <a:ext cx="343814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2E2E40"/>
                </a:solidFill>
                <a:latin typeface="Calibri"/>
              </a:rPr>
              <a:t>MarketsandMarkets</a:t>
            </a:r>
          </a:p>
        </p:txBody>
      </p:sp>
      <p:sp>
        <p:nvSpPr>
          <p:cNvPr id="26" name="Rectangle 25"/>
          <p:cNvSpPr/>
          <p:nvPr/>
        </p:nvSpPr>
        <p:spPr>
          <a:xfrm>
            <a:off x="4224528" y="3127247"/>
            <a:ext cx="283464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34256" y="3127247"/>
            <a:ext cx="261518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9,72 tỷ USD (2025)</a:t>
            </a:r>
          </a:p>
        </p:txBody>
      </p:sp>
      <p:sp>
        <p:nvSpPr>
          <p:cNvPr id="28" name="Rectangle 27"/>
          <p:cNvSpPr/>
          <p:nvPr/>
        </p:nvSpPr>
        <p:spPr>
          <a:xfrm>
            <a:off x="7059168" y="3127247"/>
            <a:ext cx="301752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68896" y="3127247"/>
            <a:ext cx="2798063"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37,11 tỷ USD (2030)</a:t>
            </a:r>
          </a:p>
        </p:txBody>
      </p:sp>
      <p:sp>
        <p:nvSpPr>
          <p:cNvPr id="30" name="Rectangle 29"/>
          <p:cNvSpPr/>
          <p:nvPr/>
        </p:nvSpPr>
        <p:spPr>
          <a:xfrm>
            <a:off x="10076688" y="3127247"/>
            <a:ext cx="155448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86415" y="3127247"/>
            <a:ext cx="1335024" cy="74980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2E2E40"/>
                </a:solidFill>
                <a:latin typeface="Calibri"/>
              </a:rPr>
              <a:t>30,7%</a:t>
            </a:r>
          </a:p>
        </p:txBody>
      </p:sp>
      <p:sp>
        <p:nvSpPr>
          <p:cNvPr id="32" name="Rectangle 31"/>
          <p:cNvSpPr/>
          <p:nvPr/>
        </p:nvSpPr>
        <p:spPr>
          <a:xfrm>
            <a:off x="566928" y="3877055"/>
            <a:ext cx="3657600" cy="749808"/>
          </a:xfrm>
          <a:prstGeom prst="rect">
            <a:avLst/>
          </a:prstGeom>
          <a:solidFill>
            <a:srgbClr val="E7DDC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877055"/>
            <a:ext cx="343814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2E2E40"/>
                </a:solidFill>
                <a:latin typeface="Calibri"/>
              </a:rPr>
              <a:t>Fortune Business Insights</a:t>
            </a:r>
          </a:p>
        </p:txBody>
      </p:sp>
      <p:sp>
        <p:nvSpPr>
          <p:cNvPr id="34" name="Rectangle 33"/>
          <p:cNvSpPr/>
          <p:nvPr/>
        </p:nvSpPr>
        <p:spPr>
          <a:xfrm>
            <a:off x="4224528" y="3877055"/>
            <a:ext cx="283464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3877055"/>
            <a:ext cx="261518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3,28 tỷ USD (2025)</a:t>
            </a:r>
          </a:p>
        </p:txBody>
      </p:sp>
      <p:sp>
        <p:nvSpPr>
          <p:cNvPr id="36" name="Rectangle 35"/>
          <p:cNvSpPr/>
          <p:nvPr/>
        </p:nvSpPr>
        <p:spPr>
          <a:xfrm>
            <a:off x="7059168" y="3877055"/>
            <a:ext cx="301752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68896" y="3877055"/>
            <a:ext cx="2798063"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17,03 tỷ USD (2034)</a:t>
            </a:r>
          </a:p>
        </p:txBody>
      </p:sp>
      <p:sp>
        <p:nvSpPr>
          <p:cNvPr id="38" name="Rectangle 37"/>
          <p:cNvSpPr/>
          <p:nvPr/>
        </p:nvSpPr>
        <p:spPr>
          <a:xfrm>
            <a:off x="10076688" y="3877055"/>
            <a:ext cx="155448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186415" y="3877055"/>
            <a:ext cx="1335024" cy="74980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2E2E40"/>
                </a:solidFill>
                <a:latin typeface="Calibri"/>
              </a:rPr>
              <a:t>19,6%</a:t>
            </a:r>
          </a:p>
        </p:txBody>
      </p:sp>
      <p:sp>
        <p:nvSpPr>
          <p:cNvPr id="40" name="Rectangle 39"/>
          <p:cNvSpPr/>
          <p:nvPr/>
        </p:nvSpPr>
        <p:spPr>
          <a:xfrm>
            <a:off x="566928" y="4626864"/>
            <a:ext cx="3657600" cy="749808"/>
          </a:xfrm>
          <a:prstGeom prst="rect">
            <a:avLst/>
          </a:prstGeom>
          <a:solidFill>
            <a:srgbClr val="E7DDC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4626864"/>
            <a:ext cx="343814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2E2E40"/>
                </a:solidFill>
                <a:latin typeface="Calibri"/>
              </a:rPr>
              <a:t>Data Bridge Market Research</a:t>
            </a:r>
          </a:p>
        </p:txBody>
      </p:sp>
      <p:sp>
        <p:nvSpPr>
          <p:cNvPr id="42" name="Rectangle 41"/>
          <p:cNvSpPr/>
          <p:nvPr/>
        </p:nvSpPr>
        <p:spPr>
          <a:xfrm>
            <a:off x="4224528" y="4626864"/>
            <a:ext cx="283464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626864"/>
            <a:ext cx="261518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8,34 tỷ USD (2024)</a:t>
            </a:r>
          </a:p>
        </p:txBody>
      </p:sp>
      <p:sp>
        <p:nvSpPr>
          <p:cNvPr id="44" name="Rectangle 43"/>
          <p:cNvSpPr/>
          <p:nvPr/>
        </p:nvSpPr>
        <p:spPr>
          <a:xfrm>
            <a:off x="7059168" y="4626864"/>
            <a:ext cx="301752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68896" y="4626864"/>
            <a:ext cx="2798063"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85,18 tỷ USD (2032)</a:t>
            </a:r>
          </a:p>
        </p:txBody>
      </p:sp>
      <p:sp>
        <p:nvSpPr>
          <p:cNvPr id="46" name="Rectangle 45"/>
          <p:cNvSpPr/>
          <p:nvPr/>
        </p:nvSpPr>
        <p:spPr>
          <a:xfrm>
            <a:off x="10076688" y="4626864"/>
            <a:ext cx="1554480" cy="74980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186415" y="4626864"/>
            <a:ext cx="1335024" cy="74980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2E2E40"/>
                </a:solidFill>
                <a:latin typeface="Calibri"/>
              </a:rPr>
              <a:t>33,7%</a:t>
            </a:r>
          </a:p>
        </p:txBody>
      </p:sp>
      <p:sp>
        <p:nvSpPr>
          <p:cNvPr id="48" name="Rectangle 47"/>
          <p:cNvSpPr/>
          <p:nvPr/>
        </p:nvSpPr>
        <p:spPr>
          <a:xfrm>
            <a:off x="566928" y="5376671"/>
            <a:ext cx="3657600" cy="749808"/>
          </a:xfrm>
          <a:prstGeom prst="rect">
            <a:avLst/>
          </a:prstGeom>
          <a:solidFill>
            <a:srgbClr val="E7DDC8"/>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656" y="5376671"/>
            <a:ext cx="343814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1" i="0">
                <a:solidFill>
                  <a:srgbClr val="2E2E40"/>
                </a:solidFill>
                <a:latin typeface="Calibri"/>
              </a:rPr>
              <a:t>CDP Institute</a:t>
            </a:r>
          </a:p>
        </p:txBody>
      </p:sp>
      <p:sp>
        <p:nvSpPr>
          <p:cNvPr id="50" name="Rectangle 49"/>
          <p:cNvSpPr/>
          <p:nvPr/>
        </p:nvSpPr>
        <p:spPr>
          <a:xfrm>
            <a:off x="4224528" y="5376671"/>
            <a:ext cx="283464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76671"/>
            <a:ext cx="2615184"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2,4 tỷ USD (2024)</a:t>
            </a:r>
          </a:p>
        </p:txBody>
      </p:sp>
      <p:sp>
        <p:nvSpPr>
          <p:cNvPr id="52" name="Rectangle 51"/>
          <p:cNvSpPr/>
          <p:nvPr/>
        </p:nvSpPr>
        <p:spPr>
          <a:xfrm>
            <a:off x="7059168" y="5376671"/>
            <a:ext cx="301752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68896" y="5376671"/>
            <a:ext cx="2798063" cy="74980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150" b="0" i="0">
                <a:solidFill>
                  <a:srgbClr val="1B1B2E"/>
                </a:solidFill>
                <a:latin typeface="Calibri"/>
              </a:rPr>
              <a:t>28,2 tỷ USD (2028)</a:t>
            </a:r>
          </a:p>
        </p:txBody>
      </p:sp>
      <p:sp>
        <p:nvSpPr>
          <p:cNvPr id="54" name="Rectangle 53"/>
          <p:cNvSpPr/>
          <p:nvPr/>
        </p:nvSpPr>
        <p:spPr>
          <a:xfrm>
            <a:off x="10076688" y="5376671"/>
            <a:ext cx="1554480" cy="74980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86415" y="5376671"/>
            <a:ext cx="1335024" cy="74980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150" b="1" i="0">
                <a:solidFill>
                  <a:srgbClr val="2E2E40"/>
                </a:solidFill>
                <a:latin typeface="Calibri"/>
              </a:rPr>
              <a:t>39,9%</a:t>
            </a:r>
          </a:p>
        </p:txBody>
      </p:sp>
      <p:sp>
        <p:nvSpPr>
          <p:cNvPr id="56" name="TextBox 55"/>
          <p:cNvSpPr txBox="1"/>
          <p:nvPr/>
        </p:nvSpPr>
        <p:spPr>
          <a:xfrm>
            <a:off x="566928" y="594360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0" i="1">
                <a:solidFill>
                  <a:srgbClr val="2E2E40"/>
                </a:solidFill>
                <a:latin typeface="Calibri"/>
              </a:rPr>
              <a:t>Khác biệt con số do phương pháp/định nghĩa khác nhau — nhưng MỌI nguồn đều tăng trưởng hai chữ số.</a:t>
            </a:r>
          </a:p>
        </p:txBody>
      </p:sp>
      <p:sp>
        <p:nvSpPr>
          <p:cNvPr id="57" name="TextBox 56"/>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grandviewresearch.com · marketsandmarkets.com (Report 94223554) · fortunebusinessinsights.com · databridgemarketresearch.com · cdpinstitute.org (2024–2025).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3/10</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Tốc độ tăng trưởng (CAGR)</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33</a:t>
            </a:r>
          </a:p>
        </p:txBody>
      </p:sp>
      <p:sp>
        <p:nvSpPr>
          <p:cNvPr id="8" name="Rectangle 7"/>
          <p:cNvSpPr/>
          <p:nvPr/>
        </p:nvSpPr>
        <p:spPr>
          <a:xfrm>
            <a:off x="960120" y="1783080"/>
            <a:ext cx="10241280" cy="373075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agr.png"/>
          <p:cNvPicPr>
            <a:picLocks noChangeAspect="1"/>
          </p:cNvPicPr>
          <p:nvPr/>
        </p:nvPicPr>
        <p:blipFill>
          <a:blip r:embed="rId2"/>
          <a:stretch>
            <a:fillRect/>
          </a:stretch>
        </p:blipFill>
        <p:spPr>
          <a:xfrm>
            <a:off x="2030786" y="1828800"/>
            <a:ext cx="8099947" cy="3639312"/>
          </a:xfrm>
          <a:prstGeom prst="rect">
            <a:avLst/>
          </a:prstGeom>
        </p:spPr>
      </p:pic>
      <p:sp>
        <p:nvSpPr>
          <p:cNvPr id="10" name="TextBox 9"/>
          <p:cNvSpPr txBox="1"/>
          <p:nvPr/>
        </p:nvSpPr>
        <p:spPr>
          <a:xfrm>
            <a:off x="960120" y="5550408"/>
            <a:ext cx="1024128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CAGR dự báo theo từng hãng — tất cả đều ở mức hai chữ số (19,6%–39,9%).</a:t>
            </a:r>
          </a:p>
        </p:txBody>
      </p:sp>
      <p:sp>
        <p:nvSpPr>
          <p:cNvPr id="11" name="TextBox 10"/>
          <p:cNvSpPr txBox="1"/>
          <p:nvPr/>
        </p:nvSpPr>
        <p:spPr>
          <a:xfrm>
            <a:off x="566928" y="598932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50" b="1" i="0">
                <a:solidFill>
                  <a:srgbClr val="2E2E40"/>
                </a:solidFill>
                <a:latin typeface="Calibri"/>
              </a:rPr>
              <a:t>Thông điệp: </a:t>
            </a:r>
            <a:r>
              <a:rPr sz="1150" b="0" i="0">
                <a:solidFill>
                  <a:srgbClr val="1B1B2E"/>
                </a:solidFill>
                <a:latin typeface="Calibri"/>
              </a:rPr>
              <a:t>dù nguồn nào, CDP đều tăng trưởng hai chữ số mạnh mẽ — thị trường đang tăng tốc.</a:t>
            </a:r>
          </a:p>
        </p:txBody>
      </p:sp>
      <p:sp>
        <p:nvSpPr>
          <p:cNvPr id="12" name="TextBox 11"/>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Grand View Research; MarketsandMarkets; Fortune Business Insights; Data Bridge Market Research; CDP Institute (2024–2025).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4/10</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Quy mô thị trường — hiện tại vs dự báo</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34</a:t>
            </a:r>
          </a:p>
        </p:txBody>
      </p:sp>
      <p:sp>
        <p:nvSpPr>
          <p:cNvPr id="8" name="Rectangle 7"/>
          <p:cNvSpPr/>
          <p:nvPr/>
        </p:nvSpPr>
        <p:spPr>
          <a:xfrm>
            <a:off x="960120" y="1783080"/>
            <a:ext cx="10241280" cy="3730752"/>
          </a:xfrm>
          <a:prstGeom prst="rect">
            <a:avLst/>
          </a:prstGeom>
          <a:solidFill>
            <a:srgbClr val="FFFFFF"/>
          </a:solidFill>
          <a:ln w="15875">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arketsize.png"/>
          <p:cNvPicPr>
            <a:picLocks noChangeAspect="1"/>
          </p:cNvPicPr>
          <p:nvPr/>
        </p:nvPicPr>
        <p:blipFill>
          <a:blip r:embed="rId2"/>
          <a:stretch>
            <a:fillRect/>
          </a:stretch>
        </p:blipFill>
        <p:spPr>
          <a:xfrm>
            <a:off x="1866819" y="1828800"/>
            <a:ext cx="8427880" cy="3639312"/>
          </a:xfrm>
          <a:prstGeom prst="rect">
            <a:avLst/>
          </a:prstGeom>
        </p:spPr>
      </p:pic>
      <p:sp>
        <p:nvSpPr>
          <p:cNvPr id="10" name="TextBox 9"/>
          <p:cNvSpPr txBox="1"/>
          <p:nvPr/>
        </p:nvSpPr>
        <p:spPr>
          <a:xfrm>
            <a:off x="960120" y="5550408"/>
            <a:ext cx="10241280" cy="292608"/>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50" b="0" i="1">
                <a:solidFill>
                  <a:srgbClr val="565564"/>
                </a:solidFill>
                <a:latin typeface="Calibri"/>
              </a:rPr>
              <a:t>Quy mô CDP (tỷ USD): hiện tại (2024–25) so với dự báo, theo từng nguồn.</a:t>
            </a:r>
          </a:p>
        </p:txBody>
      </p:sp>
      <p:sp>
        <p:nvSpPr>
          <p:cNvPr id="11" name="TextBox 10"/>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grandviewresearch.com · marketsandmarkets.com · fortunebusinessinsights.com · databridgemarketresearch.com · cdpinstitute.org.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5/10 · GARTNER 2024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Mức độ ứng dụng CDP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35</a:t>
            </a:r>
          </a:p>
        </p:txBody>
      </p:sp>
      <p:sp>
        <p:nvSpPr>
          <p:cNvPr id="8" name="Rectangle 7"/>
          <p:cNvSpPr/>
          <p:nvPr/>
        </p:nvSpPr>
        <p:spPr>
          <a:xfrm>
            <a:off x="566928" y="2011680"/>
            <a:ext cx="3474720" cy="20116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1168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240280"/>
            <a:ext cx="3474720" cy="9144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600" b="1" i="0">
                <a:solidFill>
                  <a:srgbClr val="C39851"/>
                </a:solidFill>
                <a:latin typeface="Georgia"/>
              </a:rPr>
              <a:t>41%</a:t>
            </a:r>
          </a:p>
        </p:txBody>
      </p:sp>
      <p:sp>
        <p:nvSpPr>
          <p:cNvPr id="11" name="TextBox 10"/>
          <p:cNvSpPr txBox="1"/>
          <p:nvPr/>
        </p:nvSpPr>
        <p:spPr>
          <a:xfrm>
            <a:off x="795528" y="3200400"/>
            <a:ext cx="301752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200" b="0" i="0">
                <a:solidFill>
                  <a:srgbClr val="565564"/>
                </a:solidFill>
                <a:latin typeface="Calibri"/>
              </a:rPr>
              <a:t>doanh nghiệp ĐÃ triển khai CDP</a:t>
            </a:r>
          </a:p>
        </p:txBody>
      </p:sp>
      <p:sp>
        <p:nvSpPr>
          <p:cNvPr id="12" name="Rectangle 11"/>
          <p:cNvSpPr/>
          <p:nvPr/>
        </p:nvSpPr>
        <p:spPr>
          <a:xfrm>
            <a:off x="4270248" y="2011680"/>
            <a:ext cx="3474720" cy="20116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201168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0248" y="2240280"/>
            <a:ext cx="3474720" cy="9144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600" b="1" i="0">
                <a:solidFill>
                  <a:srgbClr val="C39851"/>
                </a:solidFill>
                <a:latin typeface="Georgia"/>
              </a:rPr>
              <a:t>36%</a:t>
            </a:r>
          </a:p>
        </p:txBody>
      </p:sp>
      <p:sp>
        <p:nvSpPr>
          <p:cNvPr id="15" name="TextBox 14"/>
          <p:cNvSpPr txBox="1"/>
          <p:nvPr/>
        </p:nvSpPr>
        <p:spPr>
          <a:xfrm>
            <a:off x="4498848" y="3200400"/>
            <a:ext cx="301752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200" b="0" i="0">
                <a:solidFill>
                  <a:srgbClr val="565564"/>
                </a:solidFill>
                <a:latin typeface="Calibri"/>
              </a:rPr>
              <a:t>đang cân nhắc triển khai</a:t>
            </a:r>
          </a:p>
        </p:txBody>
      </p:sp>
      <p:sp>
        <p:nvSpPr>
          <p:cNvPr id="16" name="Rectangle 15"/>
          <p:cNvSpPr/>
          <p:nvPr/>
        </p:nvSpPr>
        <p:spPr>
          <a:xfrm>
            <a:off x="7973567" y="2011680"/>
            <a:ext cx="3474720" cy="20116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73567" y="201168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7" y="2240280"/>
            <a:ext cx="3474720" cy="9144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4600" b="1" i="0">
                <a:solidFill>
                  <a:srgbClr val="C39851"/>
                </a:solidFill>
                <a:latin typeface="Georgia"/>
              </a:rPr>
              <a:t>22%</a:t>
            </a:r>
          </a:p>
        </p:txBody>
      </p:sp>
      <p:sp>
        <p:nvSpPr>
          <p:cNvPr id="19" name="TextBox 18"/>
          <p:cNvSpPr txBox="1"/>
          <p:nvPr/>
        </p:nvSpPr>
        <p:spPr>
          <a:xfrm>
            <a:off x="8202167" y="3200400"/>
            <a:ext cx="3017520" cy="7315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200" b="0" i="0">
                <a:solidFill>
                  <a:srgbClr val="565564"/>
                </a:solidFill>
                <a:latin typeface="Calibri"/>
              </a:rPr>
              <a:t>marketer tận dụng CDP ở mức cao</a:t>
            </a:r>
          </a:p>
        </p:txBody>
      </p:sp>
      <p:sp>
        <p:nvSpPr>
          <p:cNvPr id="20" name="Rectangle 19"/>
          <p:cNvSpPr/>
          <p:nvPr/>
        </p:nvSpPr>
        <p:spPr>
          <a:xfrm>
            <a:off x="566928" y="4389120"/>
            <a:ext cx="11064240" cy="1280160"/>
          </a:xfrm>
          <a:prstGeom prst="rect">
            <a:avLst/>
          </a:prstGeom>
          <a:solidFill>
            <a:srgbClr val="E7DDC8"/>
          </a:solidFill>
          <a:ln w="1270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389120"/>
            <a:ext cx="10607040" cy="1280160"/>
          </a:xfrm>
          <a:prstGeom prst="rect">
            <a:avLst/>
          </a:prstGeom>
          <a:noFill/>
        </p:spPr>
        <p:txBody>
          <a:bodyPr wrap="square" anchor="ctr" lIns="25400" rIns="25400" tIns="12700" bIns="12700">
            <a:spAutoFit/>
          </a:bodyPr>
          <a:lstStyle/>
          <a:p>
            <a:pPr algn="l">
              <a:lnSpc>
                <a:spcPct val="110000"/>
              </a:lnSpc>
              <a:spcBef>
                <a:spcPts val="0"/>
              </a:spcBef>
              <a:spcAft>
                <a:spcPts val="400"/>
              </a:spcAft>
            </a:pPr>
            <a:r>
              <a:rPr sz="1400" b="1" i="0">
                <a:solidFill>
                  <a:srgbClr val="2E2E40"/>
                </a:solidFill>
                <a:latin typeface="Calibri"/>
              </a:rPr>
              <a:t>Khoảng trống “triển khai nhưng chưa tận dụng”: </a:t>
            </a:r>
          </a:p>
          <a:p>
            <a:pPr algn="l">
              <a:lnSpc>
                <a:spcPct val="110000"/>
              </a:lnSpc>
              <a:spcBef>
                <a:spcPts val="0"/>
              </a:spcBef>
              <a:spcAft>
                <a:spcPts val="400"/>
              </a:spcAft>
            </a:pPr>
            <a:r>
              <a:rPr sz="1250" b="0" i="0">
                <a:solidFill>
                  <a:srgbClr val="1B1B2E"/>
                </a:solidFill>
                <a:latin typeface="Calibri"/>
              </a:rPr>
              <a:t>nhiều doanh nghiệp đã có CDP nhưng chưa khai thác hết. Lợi thế thuộc về nơi biến dữ liệu thành HÀNH ĐỘNG — đúng định hướng AI hành động của AICDP cho OCH.</a:t>
            </a:r>
          </a:p>
        </p:txBody>
      </p:sp>
      <p:sp>
        <p:nvSpPr>
          <p:cNvPr id="22" name="TextBox 21"/>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Gartner — khảo sát ứng dụng CDP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6/10 · STATISTA / CDP INSTITUTE 06-2024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Ngành CDP &amp; nhà cung cấp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36</a:t>
            </a:r>
          </a:p>
        </p:txBody>
      </p:sp>
      <p:sp>
        <p:nvSpPr>
          <p:cNvPr id="8" name="TextBox 7"/>
          <p:cNvSpPr txBox="1"/>
          <p:nvPr/>
        </p:nvSpPr>
        <p:spPr>
          <a:xfrm>
            <a:off x="566928" y="1874519"/>
            <a:ext cx="10972800" cy="4572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2E2E40"/>
                </a:solidFill>
                <a:latin typeface="Calibri"/>
              </a:rPr>
              <a:t>194 nhà cung cấp CDP trên toàn cầu</a:t>
            </a:r>
            <a:r>
              <a:rPr sz="1300" b="0" i="0">
                <a:solidFill>
                  <a:srgbClr val="565564"/>
                </a:solidFill>
                <a:latin typeface="Calibri"/>
              </a:rPr>
              <a:t>  (+5% so với 12-2023)</a:t>
            </a:r>
          </a:p>
        </p:txBody>
      </p:sp>
      <p:sp>
        <p:nvSpPr>
          <p:cNvPr id="9" name="TextBox 8"/>
          <p:cNvSpPr txBox="1"/>
          <p:nvPr/>
        </p:nvSpPr>
        <p:spPr>
          <a:xfrm>
            <a:off x="566928" y="2514600"/>
            <a:ext cx="539496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THEO QUỐC GIA</a:t>
            </a:r>
          </a:p>
        </p:txBody>
      </p:sp>
      <p:sp>
        <p:nvSpPr>
          <p:cNvPr id="10" name="Rectangle 9"/>
          <p:cNvSpPr/>
          <p:nvPr/>
        </p:nvSpPr>
        <p:spPr>
          <a:xfrm>
            <a:off x="566928" y="292608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2608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92608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Hoa Kỳ</a:t>
            </a:r>
          </a:p>
        </p:txBody>
      </p:sp>
      <p:sp>
        <p:nvSpPr>
          <p:cNvPr id="13" name="TextBox 12"/>
          <p:cNvSpPr txBox="1"/>
          <p:nvPr/>
        </p:nvSpPr>
        <p:spPr>
          <a:xfrm>
            <a:off x="3840480" y="292608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89 vendor</a:t>
            </a:r>
          </a:p>
        </p:txBody>
      </p:sp>
      <p:sp>
        <p:nvSpPr>
          <p:cNvPr id="14" name="Rectangle 13"/>
          <p:cNvSpPr/>
          <p:nvPr/>
        </p:nvSpPr>
        <p:spPr>
          <a:xfrm>
            <a:off x="566928" y="370332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0332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0332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Anh</a:t>
            </a:r>
          </a:p>
        </p:txBody>
      </p:sp>
      <p:sp>
        <p:nvSpPr>
          <p:cNvPr id="17" name="TextBox 16"/>
          <p:cNvSpPr txBox="1"/>
          <p:nvPr/>
        </p:nvSpPr>
        <p:spPr>
          <a:xfrm>
            <a:off x="3840480" y="370332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14 vendor</a:t>
            </a:r>
          </a:p>
        </p:txBody>
      </p:sp>
      <p:sp>
        <p:nvSpPr>
          <p:cNvPr id="18" name="Rectangle 17"/>
          <p:cNvSpPr/>
          <p:nvPr/>
        </p:nvSpPr>
        <p:spPr>
          <a:xfrm>
            <a:off x="566928" y="448056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8056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8056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Ấn Độ</a:t>
            </a:r>
          </a:p>
        </p:txBody>
      </p:sp>
      <p:sp>
        <p:nvSpPr>
          <p:cNvPr id="21" name="TextBox 20"/>
          <p:cNvSpPr txBox="1"/>
          <p:nvPr/>
        </p:nvSpPr>
        <p:spPr>
          <a:xfrm>
            <a:off x="3840480" y="448056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13 vendor</a:t>
            </a:r>
          </a:p>
        </p:txBody>
      </p:sp>
      <p:sp>
        <p:nvSpPr>
          <p:cNvPr id="22" name="TextBox 21"/>
          <p:cNvSpPr txBox="1"/>
          <p:nvPr/>
        </p:nvSpPr>
        <p:spPr>
          <a:xfrm>
            <a:off x="6309360" y="2514600"/>
            <a:ext cx="530352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C39851"/>
                </a:solidFill>
                <a:latin typeface="Calibri"/>
              </a:rPr>
              <a:t>PHÂN LOẠI THEO CHỨC NĂNG</a:t>
            </a:r>
          </a:p>
        </p:txBody>
      </p:sp>
      <p:sp>
        <p:nvSpPr>
          <p:cNvPr id="23" name="Rectangle 22"/>
          <p:cNvSpPr/>
          <p:nvPr/>
        </p:nvSpPr>
        <p:spPr>
          <a:xfrm>
            <a:off x="6309360" y="292608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92608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92608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Campaign</a:t>
            </a:r>
          </a:p>
        </p:txBody>
      </p:sp>
      <p:sp>
        <p:nvSpPr>
          <p:cNvPr id="26" name="TextBox 25"/>
          <p:cNvSpPr txBox="1"/>
          <p:nvPr/>
        </p:nvSpPr>
        <p:spPr>
          <a:xfrm>
            <a:off x="9601200" y="292608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34%</a:t>
            </a:r>
          </a:p>
        </p:txBody>
      </p:sp>
      <p:sp>
        <p:nvSpPr>
          <p:cNvPr id="27" name="Rectangle 26"/>
          <p:cNvSpPr/>
          <p:nvPr/>
        </p:nvSpPr>
        <p:spPr>
          <a:xfrm>
            <a:off x="6309360" y="370332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70332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370332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Delivery</a:t>
            </a:r>
          </a:p>
        </p:txBody>
      </p:sp>
      <p:sp>
        <p:nvSpPr>
          <p:cNvPr id="30" name="TextBox 29"/>
          <p:cNvSpPr txBox="1"/>
          <p:nvPr/>
        </p:nvSpPr>
        <p:spPr>
          <a:xfrm>
            <a:off x="9601200" y="370332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33%</a:t>
            </a:r>
          </a:p>
        </p:txBody>
      </p:sp>
      <p:sp>
        <p:nvSpPr>
          <p:cNvPr id="31" name="Rectangle 30"/>
          <p:cNvSpPr/>
          <p:nvPr/>
        </p:nvSpPr>
        <p:spPr>
          <a:xfrm>
            <a:off x="6309360" y="4480560"/>
            <a:ext cx="5303520" cy="64008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480560"/>
            <a:ext cx="82296" cy="64008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4480560"/>
            <a:ext cx="3200400" cy="64008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2E2E40"/>
                </a:solidFill>
                <a:latin typeface="Calibri"/>
              </a:rPr>
              <a:t>Analytics</a:t>
            </a:r>
          </a:p>
        </p:txBody>
      </p:sp>
      <p:sp>
        <p:nvSpPr>
          <p:cNvPr id="34" name="TextBox 33"/>
          <p:cNvSpPr txBox="1"/>
          <p:nvPr/>
        </p:nvSpPr>
        <p:spPr>
          <a:xfrm>
            <a:off x="9601200" y="4480560"/>
            <a:ext cx="1828800" cy="64008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1" i="0">
                <a:solidFill>
                  <a:srgbClr val="C39851"/>
                </a:solidFill>
                <a:latin typeface="Calibri"/>
              </a:rPr>
              <a:t>18%</a:t>
            </a:r>
          </a:p>
        </p:txBody>
      </p:sp>
      <p:sp>
        <p:nvSpPr>
          <p:cNvPr id="35" name="TextBox 34"/>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Statista / CDP Institute — Industry Update, tháng 06-2024.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7/10 · TWILIO SEGMENT 2024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Nỗi đau #1 — Dữ liệu phân mảnh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37</a:t>
            </a:r>
          </a:p>
        </p:txBody>
      </p:sp>
      <p:sp>
        <p:nvSpPr>
          <p:cNvPr id="8" name="Rectangle 7"/>
          <p:cNvSpPr/>
          <p:nvPr/>
        </p:nvSpPr>
        <p:spPr>
          <a:xfrm>
            <a:off x="566928" y="2011680"/>
            <a:ext cx="5257800" cy="2377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11680"/>
            <a:ext cx="5257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286000"/>
            <a:ext cx="5257800" cy="10972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6000" b="1" i="0">
                <a:solidFill>
                  <a:srgbClr val="C39851"/>
                </a:solidFill>
                <a:latin typeface="Georgia"/>
              </a:rPr>
              <a:t>16%</a:t>
            </a:r>
          </a:p>
        </p:txBody>
      </p:sp>
      <p:sp>
        <p:nvSpPr>
          <p:cNvPr id="11" name="TextBox 10"/>
          <p:cNvSpPr txBox="1"/>
          <p:nvPr/>
        </p:nvSpPr>
        <p:spPr>
          <a:xfrm>
            <a:off x="932688" y="3520440"/>
            <a:ext cx="4526280" cy="822960"/>
          </a:xfrm>
          <a:prstGeom prst="rect">
            <a:avLst/>
          </a:prstGeom>
          <a:noFill/>
        </p:spPr>
        <p:txBody>
          <a:bodyPr wrap="square" anchor="t" lIns="25400" rIns="25400" tIns="12700" bIns="12700">
            <a:spAutoFit/>
          </a:bodyPr>
          <a:lstStyle/>
          <a:p>
            <a:pPr algn="ctr">
              <a:lnSpc>
                <a:spcPct val="105000"/>
              </a:lnSpc>
              <a:spcBef>
                <a:spcPts val="0"/>
              </a:spcBef>
              <a:spcAft>
                <a:spcPts val="400"/>
              </a:spcAft>
            </a:pPr>
            <a:r>
              <a:rPr sz="1300" b="0" i="0">
                <a:solidFill>
                  <a:srgbClr val="565564"/>
                </a:solidFill>
                <a:latin typeface="Calibri"/>
              </a:rPr>
              <a:t>thương hiệu “hoàn toàn đồng ý” CÓ ĐỦ dữ liệu để hiểu khách hàng</a:t>
            </a:r>
          </a:p>
        </p:txBody>
      </p:sp>
      <p:sp>
        <p:nvSpPr>
          <p:cNvPr id="12" name="Rectangle 11"/>
          <p:cNvSpPr/>
          <p:nvPr/>
        </p:nvSpPr>
        <p:spPr>
          <a:xfrm>
            <a:off x="6099048" y="2011680"/>
            <a:ext cx="5257800" cy="23774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9048" y="2011680"/>
            <a:ext cx="525780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2286000"/>
            <a:ext cx="5257800" cy="10972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6000" b="1" i="0">
                <a:solidFill>
                  <a:srgbClr val="C39851"/>
                </a:solidFill>
                <a:latin typeface="Georgia"/>
              </a:rPr>
              <a:t>19%</a:t>
            </a:r>
          </a:p>
        </p:txBody>
      </p:sp>
      <p:sp>
        <p:nvSpPr>
          <p:cNvPr id="15" name="TextBox 14"/>
          <p:cNvSpPr txBox="1"/>
          <p:nvPr/>
        </p:nvSpPr>
        <p:spPr>
          <a:xfrm>
            <a:off x="6464808" y="3520440"/>
            <a:ext cx="4526280" cy="822960"/>
          </a:xfrm>
          <a:prstGeom prst="rect">
            <a:avLst/>
          </a:prstGeom>
          <a:noFill/>
        </p:spPr>
        <p:txBody>
          <a:bodyPr wrap="square" anchor="t" lIns="25400" rIns="25400" tIns="12700" bIns="12700">
            <a:spAutoFit/>
          </a:bodyPr>
          <a:lstStyle/>
          <a:p>
            <a:pPr algn="ctr">
              <a:lnSpc>
                <a:spcPct val="105000"/>
              </a:lnSpc>
              <a:spcBef>
                <a:spcPts val="0"/>
              </a:spcBef>
              <a:spcAft>
                <a:spcPts val="400"/>
              </a:spcAft>
            </a:pPr>
            <a:r>
              <a:rPr sz="1300" b="0" i="0">
                <a:solidFill>
                  <a:srgbClr val="565564"/>
                </a:solidFill>
                <a:latin typeface="Calibri"/>
              </a:rPr>
              <a:t>“hoàn toàn đồng ý” có HỒ SƠ khách hàng toàn diện</a:t>
            </a:r>
          </a:p>
        </p:txBody>
      </p:sp>
      <p:sp>
        <p:nvSpPr>
          <p:cNvPr id="16" name="TextBox 15"/>
          <p:cNvSpPr txBox="1"/>
          <p:nvPr/>
        </p:nvSpPr>
        <p:spPr>
          <a:xfrm>
            <a:off x="566928" y="4709160"/>
            <a:ext cx="11064240" cy="914400"/>
          </a:xfrm>
          <a:prstGeom prst="rect">
            <a:avLst/>
          </a:prstGeom>
          <a:noFill/>
        </p:spPr>
        <p:txBody>
          <a:bodyPr wrap="square" anchor="ctr" lIns="25400" rIns="25400" tIns="12700" bIns="12700">
            <a:spAutoFit/>
          </a:bodyPr>
          <a:lstStyle/>
          <a:p>
            <a:pPr algn="ctr">
              <a:lnSpc>
                <a:spcPct val="110000"/>
              </a:lnSpc>
              <a:spcBef>
                <a:spcPts val="0"/>
              </a:spcBef>
              <a:spcAft>
                <a:spcPts val="400"/>
              </a:spcAft>
            </a:pPr>
            <a:r>
              <a:rPr sz="1400" b="1" i="0">
                <a:solidFill>
                  <a:srgbClr val="2E2E40"/>
                </a:solidFill>
                <a:latin typeface="Calibri"/>
              </a:rPr>
              <a:t>Hơn 80% thương hiệu THIẾU nền dữ liệu khách hàng toàn diện — đây chính là rào cản lớn nhất, và là lý do CDP tồn tại.</a:t>
            </a:r>
          </a:p>
        </p:txBody>
      </p:sp>
      <p:sp>
        <p:nvSpPr>
          <p:cNvPr id="17" name="TextBox 16"/>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Twilio Segment — The State of Personalization 2024 (segment.com/state-of-personalization-report).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8/10</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Giá trị của cá nhân hoá</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38</a:t>
            </a:r>
          </a:p>
        </p:txBody>
      </p:sp>
      <p:sp>
        <p:nvSpPr>
          <p:cNvPr id="8" name="Rectangle 7"/>
          <p:cNvSpPr/>
          <p:nvPr/>
        </p:nvSpPr>
        <p:spPr>
          <a:xfrm>
            <a:off x="566928" y="2011680"/>
            <a:ext cx="5349240" cy="3291840"/>
          </a:xfrm>
          <a:prstGeom prst="rect">
            <a:avLst/>
          </a:prstGeom>
          <a:solidFill>
            <a:srgbClr val="FFFFFF"/>
          </a:solidFill>
          <a:ln w="1905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377440"/>
            <a:ext cx="5349240" cy="11887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6600" b="1" i="0">
                <a:solidFill>
                  <a:srgbClr val="C39851"/>
                </a:solidFill>
                <a:latin typeface="Georgia"/>
              </a:rPr>
              <a:t>+54%</a:t>
            </a:r>
          </a:p>
        </p:txBody>
      </p:sp>
      <p:sp>
        <p:nvSpPr>
          <p:cNvPr id="10" name="TextBox 9"/>
          <p:cNvSpPr txBox="1"/>
          <p:nvPr/>
        </p:nvSpPr>
        <p:spPr>
          <a:xfrm>
            <a:off x="914400" y="3794760"/>
            <a:ext cx="4663440" cy="1280160"/>
          </a:xfrm>
          <a:prstGeom prst="rect">
            <a:avLst/>
          </a:prstGeom>
          <a:noFill/>
        </p:spPr>
        <p:txBody>
          <a:bodyPr wrap="square" anchor="t" lIns="25400" rIns="25400" tIns="12700" bIns="12700">
            <a:spAutoFit/>
          </a:bodyPr>
          <a:lstStyle/>
          <a:p>
            <a:pPr algn="ctr">
              <a:lnSpc>
                <a:spcPct val="115000"/>
              </a:lnSpc>
              <a:spcBef>
                <a:spcPts val="0"/>
              </a:spcBef>
              <a:spcAft>
                <a:spcPts val="400"/>
              </a:spcAft>
            </a:pPr>
            <a:r>
              <a:rPr sz="1500" b="1" i="0">
                <a:solidFill>
                  <a:srgbClr val="2E2E40"/>
                </a:solidFill>
                <a:latin typeface="Calibri"/>
              </a:rPr>
              <a:t>khách chi nhiều hơn trung bình khi được cá nhân hoá bằng AI</a:t>
            </a:r>
          </a:p>
        </p:txBody>
      </p:sp>
      <p:sp>
        <p:nvSpPr>
          <p:cNvPr id="11" name="Rectangle 10"/>
          <p:cNvSpPr/>
          <p:nvPr/>
        </p:nvSpPr>
        <p:spPr>
          <a:xfrm>
            <a:off x="6263640" y="2011680"/>
            <a:ext cx="5349240" cy="3291840"/>
          </a:xfrm>
          <a:prstGeom prst="rect">
            <a:avLst/>
          </a:prstGeom>
          <a:solidFill>
            <a:srgbClr val="FFFFFF"/>
          </a:solidFill>
          <a:ln w="19050">
            <a:solidFill>
              <a:srgbClr val="C398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2377440"/>
            <a:ext cx="5349240" cy="118872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6600" b="1" i="0">
                <a:solidFill>
                  <a:srgbClr val="2E2E40"/>
                </a:solidFill>
                <a:latin typeface="Georgia"/>
              </a:rPr>
              <a:t>72%</a:t>
            </a:r>
          </a:p>
        </p:txBody>
      </p:sp>
      <p:sp>
        <p:nvSpPr>
          <p:cNvPr id="13" name="TextBox 12"/>
          <p:cNvSpPr txBox="1"/>
          <p:nvPr/>
        </p:nvSpPr>
        <p:spPr>
          <a:xfrm>
            <a:off x="6629400" y="3794760"/>
            <a:ext cx="4663440" cy="1280160"/>
          </a:xfrm>
          <a:prstGeom prst="rect">
            <a:avLst/>
          </a:prstGeom>
          <a:noFill/>
        </p:spPr>
        <p:txBody>
          <a:bodyPr wrap="square" anchor="t" lIns="25400" rIns="25400" tIns="12700" bIns="12700">
            <a:spAutoFit/>
          </a:bodyPr>
          <a:lstStyle/>
          <a:p>
            <a:pPr algn="ctr">
              <a:lnSpc>
                <a:spcPct val="115000"/>
              </a:lnSpc>
              <a:spcBef>
                <a:spcPts val="0"/>
              </a:spcBef>
              <a:spcAft>
                <a:spcPts val="400"/>
              </a:spcAft>
            </a:pPr>
            <a:r>
              <a:rPr sz="1500" b="1" i="0">
                <a:solidFill>
                  <a:srgbClr val="2E2E40"/>
                </a:solidFill>
                <a:latin typeface="Calibri"/>
              </a:rPr>
              <a:t>người tiêu dùng KỲ VỌNG được trải nghiệm cá nhân hoá</a:t>
            </a:r>
          </a:p>
        </p:txBody>
      </p:sp>
      <p:sp>
        <p:nvSpPr>
          <p:cNvPr id="14" name="TextBox 13"/>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Twilio Segment — State of Personalization 2024 (+54%); McKinsey &amp; Company (72%, dẫn qua báo cáo Twilio).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9/10 · TWILIO SEGMENT 2024</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Xu hướng — AI &amp; cá nhân hoá dự đoán</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39</a:t>
            </a:r>
          </a:p>
        </p:txBody>
      </p:sp>
      <p:sp>
        <p:nvSpPr>
          <p:cNvPr id="8" name="Rectangle 7"/>
          <p:cNvSpPr/>
          <p:nvPr/>
        </p:nvSpPr>
        <p:spPr>
          <a:xfrm>
            <a:off x="566928" y="2103120"/>
            <a:ext cx="3474720" cy="30175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0312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468880"/>
            <a:ext cx="3474720" cy="10972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5000" b="1" i="0">
                <a:solidFill>
                  <a:srgbClr val="C39851"/>
                </a:solidFill>
                <a:latin typeface="Georgia"/>
              </a:rPr>
              <a:t>7/10</a:t>
            </a:r>
          </a:p>
        </p:txBody>
      </p:sp>
      <p:sp>
        <p:nvSpPr>
          <p:cNvPr id="11" name="TextBox 10"/>
          <p:cNvSpPr txBox="1"/>
          <p:nvPr/>
        </p:nvSpPr>
        <p:spPr>
          <a:xfrm>
            <a:off x="841247" y="3794760"/>
            <a:ext cx="2926080" cy="1188720"/>
          </a:xfrm>
          <a:prstGeom prst="rect">
            <a:avLst/>
          </a:prstGeom>
          <a:noFill/>
        </p:spPr>
        <p:txBody>
          <a:bodyPr wrap="square" anchor="t" lIns="25400" rIns="25400" tIns="12700" bIns="12700">
            <a:spAutoFit/>
          </a:bodyPr>
          <a:lstStyle/>
          <a:p>
            <a:pPr algn="ctr">
              <a:lnSpc>
                <a:spcPct val="110000"/>
              </a:lnSpc>
              <a:spcBef>
                <a:spcPts val="0"/>
              </a:spcBef>
              <a:spcAft>
                <a:spcPts val="400"/>
              </a:spcAft>
            </a:pPr>
            <a:r>
              <a:rPr sz="1300" b="0" i="0">
                <a:solidFill>
                  <a:srgbClr val="565564"/>
                </a:solidFill>
                <a:latin typeface="Calibri"/>
              </a:rPr>
              <a:t>doanh nghiệp đã dùng AI để cá nhân hoá</a:t>
            </a:r>
          </a:p>
        </p:txBody>
      </p:sp>
      <p:sp>
        <p:nvSpPr>
          <p:cNvPr id="12" name="Rectangle 11"/>
          <p:cNvSpPr/>
          <p:nvPr/>
        </p:nvSpPr>
        <p:spPr>
          <a:xfrm>
            <a:off x="4270248" y="2103120"/>
            <a:ext cx="3474720" cy="30175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210312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0248" y="2468880"/>
            <a:ext cx="3474720" cy="10972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5000" b="1" i="0">
                <a:solidFill>
                  <a:srgbClr val="C39851"/>
                </a:solidFill>
                <a:latin typeface="Georgia"/>
              </a:rPr>
              <a:t>86%</a:t>
            </a:r>
          </a:p>
        </p:txBody>
      </p:sp>
      <p:sp>
        <p:nvSpPr>
          <p:cNvPr id="15" name="TextBox 14"/>
          <p:cNvSpPr txBox="1"/>
          <p:nvPr/>
        </p:nvSpPr>
        <p:spPr>
          <a:xfrm>
            <a:off x="4544568" y="3794760"/>
            <a:ext cx="2926080" cy="1188720"/>
          </a:xfrm>
          <a:prstGeom prst="rect">
            <a:avLst/>
          </a:prstGeom>
          <a:noFill/>
        </p:spPr>
        <p:txBody>
          <a:bodyPr wrap="square" anchor="t" lIns="25400" rIns="25400" tIns="12700" bIns="12700">
            <a:spAutoFit/>
          </a:bodyPr>
          <a:lstStyle/>
          <a:p>
            <a:pPr algn="ctr">
              <a:lnSpc>
                <a:spcPct val="110000"/>
              </a:lnSpc>
              <a:spcBef>
                <a:spcPts val="0"/>
              </a:spcBef>
              <a:spcAft>
                <a:spcPts val="400"/>
              </a:spcAft>
            </a:pPr>
            <a:r>
              <a:rPr sz="1300" b="0" i="0">
                <a:solidFill>
                  <a:srgbClr val="565564"/>
                </a:solidFill>
                <a:latin typeface="Calibri"/>
              </a:rPr>
              <a:t>kỳ vọng chuyển từ cá nhân hoá phản ứng → DỰ ĐOÁN</a:t>
            </a:r>
          </a:p>
        </p:txBody>
      </p:sp>
      <p:sp>
        <p:nvSpPr>
          <p:cNvPr id="16" name="Rectangle 15"/>
          <p:cNvSpPr/>
          <p:nvPr/>
        </p:nvSpPr>
        <p:spPr>
          <a:xfrm>
            <a:off x="7973567" y="2103120"/>
            <a:ext cx="3474720" cy="30175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73567" y="2103120"/>
            <a:ext cx="347472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7" y="2468880"/>
            <a:ext cx="3474720" cy="10972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5000" b="1" i="0">
                <a:solidFill>
                  <a:srgbClr val="C39851"/>
                </a:solidFill>
                <a:latin typeface="Georgia"/>
              </a:rPr>
              <a:t>89%</a:t>
            </a:r>
          </a:p>
        </p:txBody>
      </p:sp>
      <p:sp>
        <p:nvSpPr>
          <p:cNvPr id="19" name="TextBox 18"/>
          <p:cNvSpPr txBox="1"/>
          <p:nvPr/>
        </p:nvSpPr>
        <p:spPr>
          <a:xfrm>
            <a:off x="8247888" y="3794760"/>
            <a:ext cx="2926080" cy="1188720"/>
          </a:xfrm>
          <a:prstGeom prst="rect">
            <a:avLst/>
          </a:prstGeom>
          <a:noFill/>
        </p:spPr>
        <p:txBody>
          <a:bodyPr wrap="square" anchor="t" lIns="25400" rIns="25400" tIns="12700" bIns="12700">
            <a:spAutoFit/>
          </a:bodyPr>
          <a:lstStyle/>
          <a:p>
            <a:pPr algn="ctr">
              <a:lnSpc>
                <a:spcPct val="110000"/>
              </a:lnSpc>
              <a:spcBef>
                <a:spcPts val="0"/>
              </a:spcBef>
              <a:spcAft>
                <a:spcPts val="400"/>
              </a:spcAft>
            </a:pPr>
            <a:r>
              <a:rPr sz="1300" b="0" i="0">
                <a:solidFill>
                  <a:srgbClr val="565564"/>
                </a:solidFill>
                <a:latin typeface="Calibri"/>
              </a:rPr>
              <a:t>tin dùng AI có đạo đức là lợi thế cạnh tranh</a:t>
            </a:r>
          </a:p>
        </p:txBody>
      </p:sp>
      <p:sp>
        <p:nvSpPr>
          <p:cNvPr id="20" name="TextBox 19"/>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Twilio Segment — The State of Personalization 2024 (twilio.com · segment.com).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THỊ TRƯỜNG · 10/10 · KẾT PHẦN THỊ TRƯỜNG</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Hàm ý cho OCH</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40</a:t>
            </a:r>
          </a:p>
        </p:txBody>
      </p:sp>
      <p:sp>
        <p:nvSpPr>
          <p:cNvPr id="8" name="TextBox 7"/>
          <p:cNvSpPr txBox="1"/>
          <p:nvPr/>
        </p:nvSpPr>
        <p:spPr>
          <a:xfrm>
            <a:off x="566928" y="1965960"/>
            <a:ext cx="10972800" cy="914400"/>
          </a:xfrm>
          <a:prstGeom prst="rect">
            <a:avLst/>
          </a:prstGeom>
          <a:noFill/>
        </p:spPr>
        <p:txBody>
          <a:bodyPr wrap="square" anchor="t" lIns="25400" rIns="25400" tIns="12700" bIns="12700">
            <a:spAutoFit/>
          </a:bodyPr>
          <a:lstStyle/>
          <a:p>
            <a:pPr algn="l">
              <a:lnSpc>
                <a:spcPct val="115000"/>
              </a:lnSpc>
              <a:spcBef>
                <a:spcPts val="0"/>
              </a:spcBef>
              <a:spcAft>
                <a:spcPts val="400"/>
              </a:spcAft>
            </a:pPr>
            <a:r>
              <a:rPr sz="1800" b="1" i="0">
                <a:solidFill>
                  <a:srgbClr val="2E2E40"/>
                </a:solidFill>
                <a:latin typeface="Calibri"/>
              </a:rPr>
              <a:t>Thị trường bùng nổ + dữ liệu phân mảnh là rào cản #1 → OCH nên đi trước.</a:t>
            </a:r>
          </a:p>
        </p:txBody>
      </p:sp>
      <p:sp>
        <p:nvSpPr>
          <p:cNvPr id="9" name="Rectangle 8"/>
          <p:cNvSpPr/>
          <p:nvPr/>
        </p:nvSpPr>
        <p:spPr>
          <a:xfrm>
            <a:off x="566928" y="310896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10896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2735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2" name="TextBox 11"/>
          <p:cNvSpPr txBox="1"/>
          <p:nvPr/>
        </p:nvSpPr>
        <p:spPr>
          <a:xfrm>
            <a:off x="768096" y="37307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Thị trường tăng tốc</a:t>
            </a:r>
          </a:p>
        </p:txBody>
      </p:sp>
      <p:sp>
        <p:nvSpPr>
          <p:cNvPr id="13" name="TextBox 12"/>
          <p:cNvSpPr txBox="1"/>
          <p:nvPr/>
        </p:nvSpPr>
        <p:spPr>
          <a:xfrm>
            <a:off x="768096" y="4041648"/>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CDP tăng trưởng hai chữ số — đi trước là lợi thế cạnh tranh.</a:t>
            </a:r>
          </a:p>
        </p:txBody>
      </p:sp>
      <p:sp>
        <p:nvSpPr>
          <p:cNvPr id="14" name="Rectangle 13"/>
          <p:cNvSpPr/>
          <p:nvPr/>
        </p:nvSpPr>
        <p:spPr>
          <a:xfrm>
            <a:off x="4270248" y="310896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310896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1416" y="32735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7" name="TextBox 16"/>
          <p:cNvSpPr txBox="1"/>
          <p:nvPr/>
        </p:nvSpPr>
        <p:spPr>
          <a:xfrm>
            <a:off x="4471416" y="37307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Rào cản là dữ liệu phân mảnh</a:t>
            </a:r>
          </a:p>
        </p:txBody>
      </p:sp>
      <p:sp>
        <p:nvSpPr>
          <p:cNvPr id="18" name="TextBox 17"/>
          <p:cNvSpPr txBox="1"/>
          <p:nvPr/>
        </p:nvSpPr>
        <p:spPr>
          <a:xfrm>
            <a:off x="4471416" y="4041648"/>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Đúng bài toán OCH đang gặp — CDP giải quyết tận gốc.</a:t>
            </a:r>
          </a:p>
        </p:txBody>
      </p:sp>
      <p:sp>
        <p:nvSpPr>
          <p:cNvPr id="19" name="Rectangle 18"/>
          <p:cNvSpPr/>
          <p:nvPr/>
        </p:nvSpPr>
        <p:spPr>
          <a:xfrm>
            <a:off x="7973567" y="3108960"/>
            <a:ext cx="3474720" cy="22860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3567" y="3108960"/>
            <a:ext cx="64008" cy="22860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32735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2" name="TextBox 21"/>
          <p:cNvSpPr txBox="1"/>
          <p:nvPr/>
        </p:nvSpPr>
        <p:spPr>
          <a:xfrm>
            <a:off x="8174736" y="37307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OCH đi trước với AICDP</a:t>
            </a:r>
          </a:p>
        </p:txBody>
      </p:sp>
      <p:sp>
        <p:nvSpPr>
          <p:cNvPr id="23" name="TextBox 22"/>
          <p:cNvSpPr txBox="1"/>
          <p:nvPr/>
        </p:nvSpPr>
        <p:spPr>
          <a:xfrm>
            <a:off x="8174736" y="4041648"/>
            <a:ext cx="3118103" cy="124358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200" b="0" i="0">
                <a:solidFill>
                  <a:srgbClr val="565564"/>
                </a:solidFill>
                <a:latin typeface="Calibri"/>
              </a:rPr>
              <a:t>Self-host tại VN, may đo F&amp;B + Khách sạn, AI hành động.</a:t>
            </a:r>
          </a:p>
        </p:txBody>
      </p:sp>
      <p:sp>
        <p:nvSpPr>
          <p:cNvPr id="24" name="TextBox 23"/>
          <p:cNvSpPr txBox="1"/>
          <p:nvPr/>
        </p:nvSpPr>
        <p:spPr>
          <a:xfrm>
            <a:off x="566928" y="6355080"/>
            <a:ext cx="11064240" cy="3200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850" b="1" i="0">
                <a:solidFill>
                  <a:srgbClr val="2E2E40"/>
                </a:solidFill>
                <a:latin typeface="Calibri"/>
              </a:rPr>
              <a:t>Nguồn: </a:t>
            </a:r>
            <a:r>
              <a:rPr sz="850" b="0" i="1">
                <a:solidFill>
                  <a:srgbClr val="565564"/>
                </a:solidFill>
                <a:latin typeface="Calibri"/>
              </a:rPr>
              <a:t>Tổng hợp các nguồn ở trên (2024–2025).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KIẾN TRÚC THẬT</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Mô hình tích hợp kỹ thuật tổng thể</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41</a:t>
            </a:r>
          </a:p>
        </p:txBody>
      </p:sp>
      <p:sp>
        <p:nvSpPr>
          <p:cNvPr id="8" name="Rectangle 7"/>
          <p:cNvSpPr/>
          <p:nvPr/>
        </p:nvSpPr>
        <p:spPr>
          <a:xfrm>
            <a:off x="566928"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NGUỒN DỮ LIỆU</a:t>
            </a:r>
          </a:p>
        </p:txBody>
      </p:sp>
      <p:sp>
        <p:nvSpPr>
          <p:cNvPr id="11" name="TextBox 10"/>
          <p:cNvSpPr txBox="1"/>
          <p:nvPr/>
        </p:nvSpPr>
        <p:spPr>
          <a:xfrm>
            <a:off x="67665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0" i="1">
                <a:solidFill>
                  <a:srgbClr val="C39851"/>
                </a:solidFill>
                <a:latin typeface="Calibri"/>
              </a:rPr>
              <a:t>POS (F&amp;B)</a:t>
            </a:r>
          </a:p>
          <a:p>
            <a:pPr algn="ctr">
              <a:lnSpc>
                <a:spcPct val="105000"/>
              </a:lnSpc>
              <a:spcBef>
                <a:spcPts val="0"/>
              </a:spcBef>
              <a:spcAft>
                <a:spcPts val="300"/>
              </a:spcAft>
            </a:pPr>
            <a:r>
              <a:rPr sz="1050" b="0" i="1">
                <a:solidFill>
                  <a:srgbClr val="C39851"/>
                </a:solidFill>
                <a:latin typeface="Calibri"/>
              </a:rPr>
              <a:t>PMS (Khách sạn)</a:t>
            </a:r>
          </a:p>
          <a:p>
            <a:pPr algn="ctr">
              <a:lnSpc>
                <a:spcPct val="105000"/>
              </a:lnSpc>
              <a:spcBef>
                <a:spcPts val="0"/>
              </a:spcBef>
              <a:spcAft>
                <a:spcPts val="300"/>
              </a:spcAft>
            </a:pPr>
            <a:r>
              <a:rPr sz="1050" b="1" i="0">
                <a:solidFill>
                  <a:srgbClr val="FFFFFF"/>
                </a:solidFill>
                <a:latin typeface="Calibri"/>
              </a:rPr>
              <a:t>Web/App SDK</a:t>
            </a:r>
          </a:p>
          <a:p>
            <a:pPr algn="ctr">
              <a:lnSpc>
                <a:spcPct val="105000"/>
              </a:lnSpc>
              <a:spcBef>
                <a:spcPts val="0"/>
              </a:spcBef>
              <a:spcAft>
                <a:spcPts val="300"/>
              </a:spcAft>
            </a:pPr>
            <a:r>
              <a:rPr sz="1050" b="1" i="0">
                <a:solidFill>
                  <a:srgbClr val="FFFFFF"/>
                </a:solidFill>
                <a:latin typeface="Calibri"/>
              </a:rPr>
              <a:t>E-commerce</a:t>
            </a:r>
          </a:p>
          <a:p>
            <a:pPr algn="ctr">
              <a:lnSpc>
                <a:spcPct val="105000"/>
              </a:lnSpc>
              <a:spcBef>
                <a:spcPts val="0"/>
              </a:spcBef>
              <a:spcAft>
                <a:spcPts val="300"/>
              </a:spcAft>
            </a:pPr>
            <a:r>
              <a:rPr sz="1050" b="1" i="0">
                <a:solidFill>
                  <a:srgbClr val="FFFFFF"/>
                </a:solidFill>
                <a:latin typeface="Calibri"/>
              </a:rPr>
              <a:t>Form / CSKH</a:t>
            </a:r>
          </a:p>
        </p:txBody>
      </p:sp>
      <p:sp>
        <p:nvSpPr>
          <p:cNvPr id="12" name="Right Arrow 11"/>
          <p:cNvSpPr/>
          <p:nvPr/>
        </p:nvSpPr>
        <p:spPr>
          <a:xfrm>
            <a:off x="303580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4728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INGESTION</a:t>
            </a:r>
          </a:p>
        </p:txBody>
      </p:sp>
      <p:sp>
        <p:nvSpPr>
          <p:cNvPr id="16" name="TextBox 15"/>
          <p:cNvSpPr txBox="1"/>
          <p:nvPr/>
        </p:nvSpPr>
        <p:spPr>
          <a:xfrm>
            <a:off x="355701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RudderStack OSS</a:t>
            </a:r>
          </a:p>
          <a:p>
            <a:pPr algn="ctr">
              <a:lnSpc>
                <a:spcPct val="105000"/>
              </a:lnSpc>
              <a:spcBef>
                <a:spcPts val="0"/>
              </a:spcBef>
              <a:spcAft>
                <a:spcPts val="300"/>
              </a:spcAft>
            </a:pPr>
            <a:r>
              <a:rPr sz="1050" b="0" i="1">
                <a:solidFill>
                  <a:srgbClr val="C39851"/>
                </a:solidFill>
                <a:latin typeface="Calibri"/>
              </a:rPr>
              <a:t>(thu sự kiện + định tuyến)</a:t>
            </a:r>
          </a:p>
          <a:p>
            <a:pPr algn="ctr">
              <a:lnSpc>
                <a:spcPct val="105000"/>
              </a:lnSpc>
              <a:spcBef>
                <a:spcPts val="0"/>
              </a:spcBef>
              <a:spcAft>
                <a:spcPts val="300"/>
              </a:spcAft>
            </a:pPr>
            <a:r>
              <a:rPr sz="1050" b="1" i="0">
                <a:solidFill>
                  <a:srgbClr val="FFFFFF"/>
                </a:solidFill>
                <a:latin typeface="Calibri"/>
              </a:rPr>
              <a:t>core-api / NestJS</a:t>
            </a:r>
          </a:p>
          <a:p>
            <a:pPr algn="ctr">
              <a:lnSpc>
                <a:spcPct val="105000"/>
              </a:lnSpc>
              <a:spcBef>
                <a:spcPts val="0"/>
              </a:spcBef>
              <a:spcAft>
                <a:spcPts val="300"/>
              </a:spcAft>
            </a:pPr>
            <a:r>
              <a:rPr sz="1050" b="1" i="0">
                <a:solidFill>
                  <a:srgbClr val="FFFFFF"/>
                </a:solidFill>
                <a:latin typeface="Calibri"/>
              </a:rPr>
              <a:t>REST/HTTP + SDK</a:t>
            </a:r>
          </a:p>
        </p:txBody>
      </p:sp>
      <p:sp>
        <p:nvSpPr>
          <p:cNvPr id="17" name="Right Arrow 16"/>
          <p:cNvSpPr/>
          <p:nvPr/>
        </p:nvSpPr>
        <p:spPr>
          <a:xfrm>
            <a:off x="591616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27648" y="2331720"/>
            <a:ext cx="2423160" cy="21031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7648"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LƯU TRỮ</a:t>
            </a:r>
          </a:p>
        </p:txBody>
      </p:sp>
      <p:sp>
        <p:nvSpPr>
          <p:cNvPr id="21" name="TextBox 20"/>
          <p:cNvSpPr txBox="1"/>
          <p:nvPr/>
        </p:nvSpPr>
        <p:spPr>
          <a:xfrm>
            <a:off x="6437376"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PostgreSQL 18</a:t>
            </a:r>
          </a:p>
          <a:p>
            <a:pPr algn="ctr">
              <a:lnSpc>
                <a:spcPct val="105000"/>
              </a:lnSpc>
              <a:spcBef>
                <a:spcPts val="0"/>
              </a:spcBef>
              <a:spcAft>
                <a:spcPts val="300"/>
              </a:spcAft>
            </a:pPr>
            <a:r>
              <a:rPr sz="1050" b="0" i="1">
                <a:solidFill>
                  <a:srgbClr val="C39851"/>
                </a:solidFill>
                <a:latin typeface="Calibri"/>
              </a:rPr>
              <a:t>(system of record, ACID)</a:t>
            </a:r>
          </a:p>
          <a:p>
            <a:pPr algn="ctr">
              <a:lnSpc>
                <a:spcPct val="105000"/>
              </a:lnSpc>
              <a:spcBef>
                <a:spcPts val="0"/>
              </a:spcBef>
              <a:spcAft>
                <a:spcPts val="300"/>
              </a:spcAft>
            </a:pPr>
            <a:r>
              <a:rPr sz="1050" b="0" i="1">
                <a:solidFill>
                  <a:srgbClr val="C39851"/>
                </a:solidFill>
                <a:latin typeface="Calibri"/>
              </a:rPr>
              <a:t>ClickHouse (OLAP)</a:t>
            </a:r>
          </a:p>
          <a:p>
            <a:pPr algn="ctr">
              <a:lnSpc>
                <a:spcPct val="105000"/>
              </a:lnSpc>
              <a:spcBef>
                <a:spcPts val="0"/>
              </a:spcBef>
              <a:spcAft>
                <a:spcPts val="300"/>
              </a:spcAft>
            </a:pPr>
            <a:r>
              <a:rPr sz="1050" b="0" i="1">
                <a:solidFill>
                  <a:srgbClr val="C39851"/>
                </a:solidFill>
                <a:latin typeface="Calibri"/>
              </a:rPr>
              <a:t>MinIO (object store)</a:t>
            </a:r>
          </a:p>
          <a:p>
            <a:pPr algn="ctr">
              <a:lnSpc>
                <a:spcPct val="105000"/>
              </a:lnSpc>
              <a:spcBef>
                <a:spcPts val="0"/>
              </a:spcBef>
              <a:spcAft>
                <a:spcPts val="300"/>
              </a:spcAft>
            </a:pPr>
            <a:r>
              <a:rPr sz="1050" b="0" i="1">
                <a:solidFill>
                  <a:srgbClr val="C39851"/>
                </a:solidFill>
                <a:latin typeface="Calibri"/>
              </a:rPr>
              <a:t>Redis (cache)</a:t>
            </a:r>
          </a:p>
        </p:txBody>
      </p:sp>
      <p:sp>
        <p:nvSpPr>
          <p:cNvPr id="22" name="Right Arrow 21"/>
          <p:cNvSpPr/>
          <p:nvPr/>
        </p:nvSpPr>
        <p:spPr>
          <a:xfrm>
            <a:off x="8796528" y="3218687"/>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08007" y="2331720"/>
            <a:ext cx="2423160" cy="21031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08007" y="2331720"/>
            <a:ext cx="2423160" cy="4572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08007" y="2331720"/>
            <a:ext cx="2423160"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2E2E40"/>
                </a:solidFill>
                <a:latin typeface="Calibri"/>
              </a:rPr>
              <a:t>KÍCH HOẠT</a:t>
            </a:r>
          </a:p>
        </p:txBody>
      </p:sp>
      <p:sp>
        <p:nvSpPr>
          <p:cNvPr id="26" name="TextBox 25"/>
          <p:cNvSpPr txBox="1"/>
          <p:nvPr/>
        </p:nvSpPr>
        <p:spPr>
          <a:xfrm>
            <a:off x="9317735" y="2898648"/>
            <a:ext cx="2203704" cy="1444751"/>
          </a:xfrm>
          <a:prstGeom prst="rect">
            <a:avLst/>
          </a:prstGeom>
          <a:noFill/>
        </p:spPr>
        <p:txBody>
          <a:bodyPr wrap="square" anchor="t" lIns="25400" rIns="25400" tIns="12700" bIns="12700">
            <a:spAutoFit/>
          </a:bodyPr>
          <a:lstStyle/>
          <a:p>
            <a:pPr algn="ctr">
              <a:lnSpc>
                <a:spcPct val="105000"/>
              </a:lnSpc>
              <a:spcBef>
                <a:spcPts val="0"/>
              </a:spcBef>
              <a:spcAft>
                <a:spcPts val="300"/>
              </a:spcAft>
            </a:pPr>
            <a:r>
              <a:rPr sz="1050" b="1" i="0">
                <a:solidFill>
                  <a:srgbClr val="FFFFFF"/>
                </a:solidFill>
                <a:latin typeface="Calibri"/>
              </a:rPr>
              <a:t>Reverse-ETL</a:t>
            </a:r>
          </a:p>
          <a:p>
            <a:pPr algn="ctr">
              <a:lnSpc>
                <a:spcPct val="105000"/>
              </a:lnSpc>
              <a:spcBef>
                <a:spcPts val="0"/>
              </a:spcBef>
              <a:spcAft>
                <a:spcPts val="300"/>
              </a:spcAft>
            </a:pPr>
            <a:r>
              <a:rPr sz="1050" b="0" i="1">
                <a:solidFill>
                  <a:srgbClr val="C39851"/>
                </a:solidFill>
                <a:latin typeface="Calibri"/>
              </a:rPr>
              <a:t>(RudderStack)</a:t>
            </a:r>
          </a:p>
          <a:p>
            <a:pPr algn="ctr">
              <a:lnSpc>
                <a:spcPct val="105000"/>
              </a:lnSpc>
              <a:spcBef>
                <a:spcPts val="0"/>
              </a:spcBef>
              <a:spcAft>
                <a:spcPts val="300"/>
              </a:spcAft>
            </a:pPr>
            <a:r>
              <a:rPr sz="1050" b="1" i="0">
                <a:solidFill>
                  <a:srgbClr val="C39851"/>
                </a:solidFill>
                <a:latin typeface="Calibri"/>
              </a:rPr>
              <a:t>→ Email / SMS</a:t>
            </a:r>
          </a:p>
          <a:p>
            <a:pPr algn="ctr">
              <a:lnSpc>
                <a:spcPct val="105000"/>
              </a:lnSpc>
              <a:spcBef>
                <a:spcPts val="0"/>
              </a:spcBef>
              <a:spcAft>
                <a:spcPts val="300"/>
              </a:spcAft>
            </a:pPr>
            <a:r>
              <a:rPr sz="1050" b="1" i="0">
                <a:solidFill>
                  <a:srgbClr val="C39851"/>
                </a:solidFill>
                <a:latin typeface="Calibri"/>
              </a:rPr>
              <a:t>→ Zalo ZNS</a:t>
            </a:r>
          </a:p>
          <a:p>
            <a:pPr algn="ctr">
              <a:lnSpc>
                <a:spcPct val="105000"/>
              </a:lnSpc>
              <a:spcBef>
                <a:spcPts val="0"/>
              </a:spcBef>
              <a:spcAft>
                <a:spcPts val="300"/>
              </a:spcAft>
            </a:pPr>
            <a:r>
              <a:rPr sz="1050" b="1" i="0">
                <a:solidFill>
                  <a:srgbClr val="C39851"/>
                </a:solidFill>
                <a:latin typeface="Calibri"/>
              </a:rPr>
              <a:t>→ Google / Meta / BI</a:t>
            </a:r>
          </a:p>
        </p:txBody>
      </p:sp>
      <p:sp>
        <p:nvSpPr>
          <p:cNvPr id="27" name="Rectangle 26"/>
          <p:cNvSpPr/>
          <p:nvPr/>
        </p:nvSpPr>
        <p:spPr>
          <a:xfrm>
            <a:off x="566928" y="4800600"/>
            <a:ext cx="11064240" cy="68580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800600"/>
            <a:ext cx="82296" cy="68580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800600"/>
            <a:ext cx="10607040" cy="685800"/>
          </a:xfrm>
          <a:prstGeom prst="rect">
            <a:avLst/>
          </a:prstGeom>
          <a:noFill/>
        </p:spPr>
        <p:txBody>
          <a:bodyPr wrap="square" anchor="ctr" lIns="25400" rIns="25400" tIns="12700" bIns="12700">
            <a:spAutoFit/>
          </a:bodyPr>
          <a:lstStyle/>
          <a:p>
            <a:pPr algn="l">
              <a:lnSpc>
                <a:spcPct val="105000"/>
              </a:lnSpc>
              <a:spcBef>
                <a:spcPts val="0"/>
              </a:spcBef>
              <a:spcAft>
                <a:spcPts val="400"/>
              </a:spcAft>
            </a:pPr>
            <a:r>
              <a:rPr sz="1150" b="1" i="0">
                <a:solidFill>
                  <a:srgbClr val="2E2E40"/>
                </a:solidFill>
                <a:latin typeface="Calibri"/>
              </a:rPr>
              <a:t>Chống trùng dữ liệu (idempotency): </a:t>
            </a:r>
            <a:r>
              <a:rPr sz="1150" b="0" i="0">
                <a:solidFill>
                  <a:srgbClr val="1B1B2E"/>
                </a:solidFill>
                <a:latin typeface="Calibri"/>
              </a:rPr>
              <a:t>mỗi giao dịch POS có khoá duy nhất {thương hiệu}:{cửa hàng}:{mã giao dịch} — gửi lại bao nhiêu lần cũng chỉ ghi nhận MỘT lần, không nhân đôi doanh thu.</a:t>
            </a:r>
          </a:p>
        </p:txBody>
      </p:sp>
      <p:sp>
        <p:nvSpPr>
          <p:cNvPr id="30" name="TextBox 29"/>
          <p:cNvSpPr txBox="1"/>
          <p:nvPr/>
        </p:nvSpPr>
        <p:spPr>
          <a:xfrm>
            <a:off x="566928" y="5623560"/>
            <a:ext cx="10972800" cy="64008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00" b="1" i="0">
                <a:solidFill>
                  <a:srgbClr val="2E2E40"/>
                </a:solidFill>
                <a:latin typeface="Calibri"/>
              </a:rPr>
              <a:t>core-api (NestJS) </a:t>
            </a:r>
            <a:r>
              <a:rPr sz="1100" b="0" i="0">
                <a:solidFill>
                  <a:srgbClr val="565564"/>
                </a:solidFill>
                <a:latin typeface="Calibri"/>
              </a:rPr>
              <a:t>gom định danh + loyalty + consent + ingestion trong MỘT giao dịch ACID — đảm bảo đúng tiền, đúng người ngay tại điểm bán.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CÁC MÔ HÌNH TÍCH HỢP</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Phương pháp kết nối &amp; đồng bộ dữ liệu</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42</a:t>
            </a:r>
          </a:p>
        </p:txBody>
      </p:sp>
      <p:sp>
        <p:nvSpPr>
          <p:cNvPr id="8" name="Rectangle 7"/>
          <p:cNvSpPr/>
          <p:nvPr/>
        </p:nvSpPr>
        <p:spPr>
          <a:xfrm>
            <a:off x="566928" y="1965960"/>
            <a:ext cx="283464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965960"/>
            <a:ext cx="265176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Mô hình</a:t>
            </a:r>
          </a:p>
        </p:txBody>
      </p:sp>
      <p:sp>
        <p:nvSpPr>
          <p:cNvPr id="10" name="Rectangle 9"/>
          <p:cNvSpPr/>
          <p:nvPr/>
        </p:nvSpPr>
        <p:spPr>
          <a:xfrm>
            <a:off x="3401568" y="1965960"/>
            <a:ext cx="384048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93008" y="1965960"/>
            <a:ext cx="365760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Khi nào dùng</a:t>
            </a:r>
          </a:p>
        </p:txBody>
      </p:sp>
      <p:sp>
        <p:nvSpPr>
          <p:cNvPr id="12" name="Rectangle 11"/>
          <p:cNvSpPr/>
          <p:nvPr/>
        </p:nvSpPr>
        <p:spPr>
          <a:xfrm>
            <a:off x="7242048" y="1965960"/>
            <a:ext cx="4389120" cy="5029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33488" y="1965960"/>
            <a:ext cx="4206240" cy="50292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FFFFFF"/>
                </a:solidFill>
                <a:latin typeface="Calibri"/>
              </a:rPr>
              <a:t>Ví dụ tại OCH</a:t>
            </a:r>
          </a:p>
        </p:txBody>
      </p:sp>
      <p:sp>
        <p:nvSpPr>
          <p:cNvPr id="14" name="Rectangle 13"/>
          <p:cNvSpPr/>
          <p:nvPr/>
        </p:nvSpPr>
        <p:spPr>
          <a:xfrm>
            <a:off x="566928" y="2468880"/>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468880"/>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Streaming realtime</a:t>
            </a:r>
          </a:p>
        </p:txBody>
      </p:sp>
      <p:sp>
        <p:nvSpPr>
          <p:cNvPr id="16" name="Rectangle 15"/>
          <p:cNvSpPr/>
          <p:nvPr/>
        </p:nvSpPr>
        <p:spPr>
          <a:xfrm>
            <a:off x="3401568" y="2468880"/>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11296" y="2468880"/>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Cần dữ liệu tức thời khi có sự kiện</a:t>
            </a:r>
          </a:p>
        </p:txBody>
      </p:sp>
      <p:sp>
        <p:nvSpPr>
          <p:cNvPr id="18" name="Rectangle 17"/>
          <p:cNvSpPr/>
          <p:nvPr/>
        </p:nvSpPr>
        <p:spPr>
          <a:xfrm>
            <a:off x="7242048" y="2468880"/>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51775" y="2468880"/>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Giao dịch POS, sự kiện web/app → nạp ngay</a:t>
            </a:r>
          </a:p>
        </p:txBody>
      </p:sp>
      <p:sp>
        <p:nvSpPr>
          <p:cNvPr id="20" name="Rectangle 19"/>
          <p:cNvSpPr/>
          <p:nvPr/>
        </p:nvSpPr>
        <p:spPr>
          <a:xfrm>
            <a:off x="566928" y="3127248"/>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27248"/>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Batch / theo lịch</a:t>
            </a:r>
          </a:p>
        </p:txBody>
      </p:sp>
      <p:sp>
        <p:nvSpPr>
          <p:cNvPr id="22" name="Rectangle 21"/>
          <p:cNvSpPr/>
          <p:nvPr/>
        </p:nvSpPr>
        <p:spPr>
          <a:xfrm>
            <a:off x="3401568" y="3127248"/>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11296" y="3127248"/>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Dữ liệu lớn, không cần tức thời</a:t>
            </a:r>
          </a:p>
        </p:txBody>
      </p:sp>
      <p:sp>
        <p:nvSpPr>
          <p:cNvPr id="24" name="Rectangle 23"/>
          <p:cNvSpPr/>
          <p:nvPr/>
        </p:nvSpPr>
        <p:spPr>
          <a:xfrm>
            <a:off x="7242048" y="3127248"/>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1775" y="3127248"/>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Danh mục sản phẩm, đồng bộ đêm từ file/DB</a:t>
            </a:r>
          </a:p>
        </p:txBody>
      </p:sp>
      <p:sp>
        <p:nvSpPr>
          <p:cNvPr id="26" name="Rectangle 25"/>
          <p:cNvSpPr/>
          <p:nvPr/>
        </p:nvSpPr>
        <p:spPr>
          <a:xfrm>
            <a:off x="566928" y="3785616"/>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785616"/>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CDC (Change Data Capture)</a:t>
            </a:r>
          </a:p>
        </p:txBody>
      </p:sp>
      <p:sp>
        <p:nvSpPr>
          <p:cNvPr id="28" name="Rectangle 27"/>
          <p:cNvSpPr/>
          <p:nvPr/>
        </p:nvSpPr>
        <p:spPr>
          <a:xfrm>
            <a:off x="3401568" y="3785616"/>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3785616"/>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Bắt thay đổi từ CSDL nguồn</a:t>
            </a:r>
          </a:p>
        </p:txBody>
      </p:sp>
      <p:sp>
        <p:nvSpPr>
          <p:cNvPr id="30" name="Rectangle 29"/>
          <p:cNvSpPr/>
          <p:nvPr/>
        </p:nvSpPr>
        <p:spPr>
          <a:xfrm>
            <a:off x="7242048" y="3785616"/>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51775" y="3785616"/>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Cập nhật hồ sơ khách từ hệ thống cũ</a:t>
            </a:r>
          </a:p>
        </p:txBody>
      </p:sp>
      <p:sp>
        <p:nvSpPr>
          <p:cNvPr id="32" name="Rectangle 31"/>
          <p:cNvSpPr/>
          <p:nvPr/>
        </p:nvSpPr>
        <p:spPr>
          <a:xfrm>
            <a:off x="566928" y="4443984"/>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443984"/>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Reverse-ETL</a:t>
            </a:r>
          </a:p>
        </p:txBody>
      </p:sp>
      <p:sp>
        <p:nvSpPr>
          <p:cNvPr id="34" name="Rectangle 33"/>
          <p:cNvSpPr/>
          <p:nvPr/>
        </p:nvSpPr>
        <p:spPr>
          <a:xfrm>
            <a:off x="3401568" y="4443984"/>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11296" y="4443984"/>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Đẩy từ kho dữ liệu ra công cụ SaaS</a:t>
            </a:r>
          </a:p>
        </p:txBody>
      </p:sp>
      <p:sp>
        <p:nvSpPr>
          <p:cNvPr id="36" name="Rectangle 35"/>
          <p:cNvSpPr/>
          <p:nvPr/>
        </p:nvSpPr>
        <p:spPr>
          <a:xfrm>
            <a:off x="7242048" y="4443984"/>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51775" y="4443984"/>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Đẩy tệp Audience sang Zalo ZNS / Ads</a:t>
            </a:r>
          </a:p>
        </p:txBody>
      </p:sp>
      <p:sp>
        <p:nvSpPr>
          <p:cNvPr id="38" name="Rectangle 37"/>
          <p:cNvSpPr/>
          <p:nvPr/>
        </p:nvSpPr>
        <p:spPr>
          <a:xfrm>
            <a:off x="566928" y="5102352"/>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5102352"/>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Webhook</a:t>
            </a:r>
          </a:p>
        </p:txBody>
      </p:sp>
      <p:sp>
        <p:nvSpPr>
          <p:cNvPr id="40" name="Rectangle 39"/>
          <p:cNvSpPr/>
          <p:nvPr/>
        </p:nvSpPr>
        <p:spPr>
          <a:xfrm>
            <a:off x="3401568" y="5102352"/>
            <a:ext cx="384048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11296" y="5102352"/>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Nguồn chủ động “gọi” khi có sự kiện</a:t>
            </a:r>
          </a:p>
        </p:txBody>
      </p:sp>
      <p:sp>
        <p:nvSpPr>
          <p:cNvPr id="42" name="Rectangle 41"/>
          <p:cNvSpPr/>
          <p:nvPr/>
        </p:nvSpPr>
        <p:spPr>
          <a:xfrm>
            <a:off x="7242048" y="5102352"/>
            <a:ext cx="4389120" cy="658368"/>
          </a:xfrm>
          <a:prstGeom prst="rect">
            <a:avLst/>
          </a:prstGeom>
          <a:solidFill>
            <a:srgbClr val="F7F6F2"/>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51775" y="5102352"/>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Cổng thanh toán / đối tác báo sự kiện</a:t>
            </a:r>
          </a:p>
        </p:txBody>
      </p:sp>
      <p:sp>
        <p:nvSpPr>
          <p:cNvPr id="44" name="Rectangle 43"/>
          <p:cNvSpPr/>
          <p:nvPr/>
        </p:nvSpPr>
        <p:spPr>
          <a:xfrm>
            <a:off x="566928" y="5760720"/>
            <a:ext cx="2834640" cy="658368"/>
          </a:xfrm>
          <a:prstGeom prst="rect">
            <a:avLst/>
          </a:prstGeom>
          <a:solidFill>
            <a:srgbClr val="3D3D54"/>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5760720"/>
            <a:ext cx="263347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1" i="0">
                <a:solidFill>
                  <a:srgbClr val="FFFFFF"/>
                </a:solidFill>
                <a:latin typeface="Calibri"/>
              </a:rPr>
              <a:t>API REST</a:t>
            </a:r>
          </a:p>
        </p:txBody>
      </p:sp>
      <p:sp>
        <p:nvSpPr>
          <p:cNvPr id="46" name="Rectangle 45"/>
          <p:cNvSpPr/>
          <p:nvPr/>
        </p:nvSpPr>
        <p:spPr>
          <a:xfrm>
            <a:off x="3401568" y="5760720"/>
            <a:ext cx="384048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511296" y="5760720"/>
            <a:ext cx="363931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Tích hợp linh hoạt hai chiều</a:t>
            </a:r>
          </a:p>
        </p:txBody>
      </p:sp>
      <p:sp>
        <p:nvSpPr>
          <p:cNvPr id="48" name="Rectangle 47"/>
          <p:cNvSpPr/>
          <p:nvPr/>
        </p:nvSpPr>
        <p:spPr>
          <a:xfrm>
            <a:off x="7242048" y="5760720"/>
            <a:ext cx="4389120" cy="658368"/>
          </a:xfrm>
          <a:prstGeom prst="rect">
            <a:avLst/>
          </a:prstGeom>
          <a:solidFill>
            <a:srgbClr val="FFFFFF"/>
          </a:solidFill>
          <a:ln w="635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51775" y="5760720"/>
            <a:ext cx="4187952" cy="658368"/>
          </a:xfrm>
          <a:prstGeom prst="rect">
            <a:avLst/>
          </a:prstGeom>
          <a:noFill/>
        </p:spPr>
        <p:txBody>
          <a:bodyPr wrap="square" anchor="ctr" lIns="25400" rIns="25400" tIns="12700" bIns="12700">
            <a:spAutoFit/>
          </a:bodyPr>
          <a:lstStyle/>
          <a:p>
            <a:pPr algn="l">
              <a:lnSpc>
                <a:spcPct val="95000"/>
              </a:lnSpc>
              <a:spcBef>
                <a:spcPts val="0"/>
              </a:spcBef>
              <a:spcAft>
                <a:spcPts val="400"/>
              </a:spcAft>
            </a:pPr>
            <a:r>
              <a:rPr sz="1100" b="0" i="0">
                <a:solidFill>
                  <a:srgbClr val="1B1B2E"/>
                </a:solidFill>
                <a:latin typeface="Calibri"/>
              </a:rPr>
              <a:t>Hệ thống khác của OCH đọc/ghi dữ liệu</a:t>
            </a:r>
          </a:p>
        </p:txBody>
      </p:sp>
      <p:sp>
        <p:nvSpPr>
          <p:cNvPr id="50" name="TextBox 49"/>
          <p:cNvSpPr txBox="1"/>
          <p:nvPr/>
        </p:nvSpPr>
        <p:spPr>
          <a:xfrm>
            <a:off x="566928" y="6172200"/>
            <a:ext cx="10972800" cy="36576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000" b="1" i="0">
                <a:solidFill>
                  <a:srgbClr val="2E2E40"/>
                </a:solidFill>
                <a:latin typeface="Calibri"/>
              </a:rPr>
              <a:t>Chú thích: </a:t>
            </a:r>
            <a:r>
              <a:rPr sz="1000" b="0" i="1">
                <a:solidFill>
                  <a:srgbClr val="565564"/>
                </a:solidFill>
                <a:latin typeface="Calibri"/>
              </a:rPr>
              <a:t>ETL/reverse-ETL = luồng đưa dữ liệu vào/ra kho; CDC = bắt thay đổi ở CSDL; Webhook = nguồn tự động “gọi” khi có sự kiện.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PIPELINE DỮ LIỆU</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ELT vs ETL — Cách tiếp cận của hệ thống</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43</a:t>
            </a:r>
          </a:p>
        </p:txBody>
      </p:sp>
      <p:sp>
        <p:nvSpPr>
          <p:cNvPr id="8" name="Rectangle 7"/>
          <p:cNvSpPr/>
          <p:nvPr/>
        </p:nvSpPr>
        <p:spPr>
          <a:xfrm>
            <a:off x="566928" y="1874519"/>
            <a:ext cx="5394960" cy="14173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64008" cy="1417320"/>
          </a:xfrm>
          <a:prstGeom prst="rect">
            <a:avLst/>
          </a:prstGeom>
          <a:solidFill>
            <a:srgbClr val="5655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508406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ETL — Transform trước khi load</a:t>
            </a:r>
          </a:p>
        </p:txBody>
      </p:sp>
      <p:sp>
        <p:nvSpPr>
          <p:cNvPr id="11" name="TextBox 10"/>
          <p:cNvSpPr txBox="1"/>
          <p:nvPr/>
        </p:nvSpPr>
        <p:spPr>
          <a:xfrm>
            <a:off x="768096" y="2350008"/>
            <a:ext cx="5038344" cy="8321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Biến đổi dữ liệu TRƯỚC rồi mới nạp vào kho. Cứng nhắc, khó thay đổi khi cần phân tích mới.</a:t>
            </a:r>
          </a:p>
        </p:txBody>
      </p:sp>
      <p:sp>
        <p:nvSpPr>
          <p:cNvPr id="12" name="Rectangle 11"/>
          <p:cNvSpPr/>
          <p:nvPr/>
        </p:nvSpPr>
        <p:spPr>
          <a:xfrm>
            <a:off x="6236208" y="1874519"/>
            <a:ext cx="5394960" cy="141732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1874519"/>
            <a:ext cx="64008" cy="1417320"/>
          </a:xfrm>
          <a:prstGeom prst="rect">
            <a:avLst/>
          </a:prstGeom>
          <a:solidFill>
            <a:srgbClr val="2F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039112"/>
            <a:ext cx="508406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2E2E40"/>
                </a:solidFill>
                <a:latin typeface="Calibri"/>
              </a:rPr>
              <a:t>ELT — Load thô trước, Transform sau</a:t>
            </a:r>
          </a:p>
        </p:txBody>
      </p:sp>
      <p:sp>
        <p:nvSpPr>
          <p:cNvPr id="15" name="TextBox 14"/>
          <p:cNvSpPr txBox="1"/>
          <p:nvPr/>
        </p:nvSpPr>
        <p:spPr>
          <a:xfrm>
            <a:off x="6437376" y="2350008"/>
            <a:ext cx="5038344" cy="83210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50" b="0" i="0">
                <a:solidFill>
                  <a:srgbClr val="565564"/>
                </a:solidFill>
                <a:latin typeface="Calibri"/>
              </a:rPr>
              <a:t>Nạp dữ liệu THÔ về kho trước, rồi chuẩn hoá &amp; tính toán trong kho. Linh hoạt, giữ được dữ liệu gốc.</a:t>
            </a:r>
          </a:p>
        </p:txBody>
      </p:sp>
      <p:sp>
        <p:nvSpPr>
          <p:cNvPr id="16" name="TextBox 15"/>
          <p:cNvSpPr txBox="1"/>
          <p:nvPr/>
        </p:nvSpPr>
        <p:spPr>
          <a:xfrm>
            <a:off x="566928" y="3520440"/>
            <a:ext cx="109728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Hệ thống OCH dùng hướng ELT + streaming ingestion:</a:t>
            </a:r>
          </a:p>
        </p:txBody>
      </p:sp>
      <p:sp>
        <p:nvSpPr>
          <p:cNvPr id="17" name="Rectangle 16"/>
          <p:cNvSpPr/>
          <p:nvPr/>
        </p:nvSpPr>
        <p:spPr>
          <a:xfrm>
            <a:off x="566928" y="4069080"/>
            <a:ext cx="2423160" cy="14173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Extract</a:t>
            </a:r>
          </a:p>
        </p:txBody>
      </p:sp>
      <p:sp>
        <p:nvSpPr>
          <p:cNvPr id="20" name="TextBox 19"/>
          <p:cNvSpPr txBox="1"/>
          <p:nvPr/>
        </p:nvSpPr>
        <p:spPr>
          <a:xfrm>
            <a:off x="67665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Trích xuất từ POS, PMS, web/app, form</a:t>
            </a:r>
          </a:p>
        </p:txBody>
      </p:sp>
      <p:sp>
        <p:nvSpPr>
          <p:cNvPr id="21" name="Right Arrow 20"/>
          <p:cNvSpPr/>
          <p:nvPr/>
        </p:nvSpPr>
        <p:spPr>
          <a:xfrm>
            <a:off x="303580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4069080"/>
            <a:ext cx="2423160" cy="14173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4728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Load (raw)</a:t>
            </a:r>
          </a:p>
        </p:txBody>
      </p:sp>
      <p:sp>
        <p:nvSpPr>
          <p:cNvPr id="25" name="TextBox 24"/>
          <p:cNvSpPr txBox="1"/>
          <p:nvPr/>
        </p:nvSpPr>
        <p:spPr>
          <a:xfrm>
            <a:off x="355701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Nạp dữ liệu THÔ về hệ thống (PostgreSQL / MinIO)</a:t>
            </a:r>
          </a:p>
        </p:txBody>
      </p:sp>
      <p:sp>
        <p:nvSpPr>
          <p:cNvPr id="26" name="Right Arrow 25"/>
          <p:cNvSpPr/>
          <p:nvPr/>
        </p:nvSpPr>
        <p:spPr>
          <a:xfrm>
            <a:off x="591616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27648" y="4069080"/>
            <a:ext cx="2423160" cy="1417320"/>
          </a:xfrm>
          <a:prstGeom prst="rect">
            <a:avLst/>
          </a:prstGeom>
          <a:solidFill>
            <a:srgbClr val="2E2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27648"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Transform</a:t>
            </a:r>
          </a:p>
        </p:txBody>
      </p:sp>
      <p:sp>
        <p:nvSpPr>
          <p:cNvPr id="30" name="TextBox 29"/>
          <p:cNvSpPr txBox="1"/>
          <p:nvPr/>
        </p:nvSpPr>
        <p:spPr>
          <a:xfrm>
            <a:off x="6437376"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Chuẩn hoá thành canonical model + đặc trưng (feature)</a:t>
            </a:r>
          </a:p>
        </p:txBody>
      </p:sp>
      <p:sp>
        <p:nvSpPr>
          <p:cNvPr id="31" name="Right Arrow 30"/>
          <p:cNvSpPr/>
          <p:nvPr/>
        </p:nvSpPr>
        <p:spPr>
          <a:xfrm>
            <a:off x="8796528" y="4613148"/>
            <a:ext cx="365760" cy="329184"/>
          </a:xfrm>
          <a:prstGeom prst="rightArrow">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08007" y="4069080"/>
            <a:ext cx="2423160" cy="1417320"/>
          </a:xfrm>
          <a:prstGeom prst="rect">
            <a:avLst/>
          </a:prstGeom>
          <a:solidFill>
            <a:srgbClr val="3D3D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08007" y="4069080"/>
            <a:ext cx="2423160" cy="54864"/>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17735" y="4197096"/>
            <a:ext cx="2203704" cy="45720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250" b="1" i="0">
                <a:solidFill>
                  <a:srgbClr val="FFFFFF"/>
                </a:solidFill>
                <a:latin typeface="Calibri"/>
              </a:rPr>
              <a:t>Serve</a:t>
            </a:r>
          </a:p>
        </p:txBody>
      </p:sp>
      <p:sp>
        <p:nvSpPr>
          <p:cNvPr id="35" name="TextBox 34"/>
          <p:cNvSpPr txBox="1"/>
          <p:nvPr/>
        </p:nvSpPr>
        <p:spPr>
          <a:xfrm>
            <a:off x="9317735" y="4636008"/>
            <a:ext cx="2203704" cy="7772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000" b="0" i="0">
                <a:solidFill>
                  <a:srgbClr val="D8D6E0"/>
                </a:solidFill>
                <a:latin typeface="Calibri"/>
              </a:rPr>
              <a:t>Phục vụ phân tích trong ClickHouse + Profile API</a:t>
            </a:r>
          </a:p>
        </p:txBody>
      </p:sp>
      <p:sp>
        <p:nvSpPr>
          <p:cNvPr id="36" name="TextBox 35"/>
          <p:cNvSpPr txBox="1"/>
          <p:nvPr/>
        </p:nvSpPr>
        <p:spPr>
          <a:xfrm>
            <a:off x="566928" y="5760720"/>
            <a:ext cx="10972800" cy="54864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150" b="1" i="0">
                <a:solidFill>
                  <a:srgbClr val="2E2E40"/>
                </a:solidFill>
                <a:latin typeface="Calibri"/>
              </a:rPr>
              <a:t>Kết quả: </a:t>
            </a:r>
            <a:r>
              <a:rPr sz="1150" b="0" i="0">
                <a:solidFill>
                  <a:srgbClr val="1B1B2E"/>
                </a:solidFill>
                <a:latin typeface="Calibri"/>
              </a:rPr>
              <a:t>nạp thô nhanh (không mất dữ liệu gốc), chuẩn hoá thành mô hình chuẩn để phân tích cột (OLAP) trong ClickHouse. Công cụ transform như dbt có thể bổ sung khi mở rộng.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PHỤ LỤC KỸ THUẬT · GIAO THỨC &amp; AN TOÀN</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Chuẩn kết nối &amp; bảo mật tích hợp</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44</a:t>
            </a:r>
          </a:p>
        </p:txBody>
      </p:sp>
      <p:sp>
        <p:nvSpPr>
          <p:cNvPr id="8" name="Rectangle 7"/>
          <p:cNvSpPr/>
          <p:nvPr/>
        </p:nvSpPr>
        <p:spPr>
          <a:xfrm>
            <a:off x="56692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1" name="TextBox 10"/>
          <p:cNvSpPr txBox="1"/>
          <p:nvPr/>
        </p:nvSpPr>
        <p:spPr>
          <a:xfrm>
            <a:off x="76809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REST/HTTP API + SDK</a:t>
            </a:r>
          </a:p>
        </p:txBody>
      </p:sp>
      <p:sp>
        <p:nvSpPr>
          <p:cNvPr id="12" name="TextBox 11"/>
          <p:cNvSpPr txBox="1"/>
          <p:nvPr/>
        </p:nvSpPr>
        <p:spPr>
          <a:xfrm>
            <a:off x="76809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Kết nối chuẩn cho web, app, server — dễ tích hợp mọi hệ thống.</a:t>
            </a:r>
          </a:p>
        </p:txBody>
      </p:sp>
      <p:sp>
        <p:nvSpPr>
          <p:cNvPr id="13" name="Rectangle 12"/>
          <p:cNvSpPr/>
          <p:nvPr/>
        </p:nvSpPr>
        <p:spPr>
          <a:xfrm>
            <a:off x="4270248"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16" name="TextBox 15"/>
          <p:cNvSpPr txBox="1"/>
          <p:nvPr/>
        </p:nvSpPr>
        <p:spPr>
          <a:xfrm>
            <a:off x="447141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Webhook</a:t>
            </a:r>
          </a:p>
        </p:txBody>
      </p:sp>
      <p:sp>
        <p:nvSpPr>
          <p:cNvPr id="17" name="TextBox 16"/>
          <p:cNvSpPr txBox="1"/>
          <p:nvPr/>
        </p:nvSpPr>
        <p:spPr>
          <a:xfrm>
            <a:off x="447141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Nguồn chủ động “gọi” hệ thống khi có sự kiện — realtime, ít độ trễ.</a:t>
            </a:r>
          </a:p>
        </p:txBody>
      </p:sp>
      <p:sp>
        <p:nvSpPr>
          <p:cNvPr id="18" name="Rectangle 17"/>
          <p:cNvSpPr/>
          <p:nvPr/>
        </p:nvSpPr>
        <p:spPr>
          <a:xfrm>
            <a:off x="7973567" y="1874519"/>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7" y="1874519"/>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03911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1" name="TextBox 20"/>
          <p:cNvSpPr txBox="1"/>
          <p:nvPr/>
        </p:nvSpPr>
        <p:spPr>
          <a:xfrm>
            <a:off x="8174736" y="249631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API key theo vai trò (RBAC)</a:t>
            </a:r>
          </a:p>
        </p:txBody>
      </p:sp>
      <p:sp>
        <p:nvSpPr>
          <p:cNvPr id="22" name="TextBox 21"/>
          <p:cNvSpPr txBox="1"/>
          <p:nvPr/>
        </p:nvSpPr>
        <p:spPr>
          <a:xfrm>
            <a:off x="8174736" y="280720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Mỗi kết nối có khoá riêng, quyền hạn theo vai trò — kiểm soát chặt ai làm gì.</a:t>
            </a:r>
          </a:p>
        </p:txBody>
      </p:sp>
      <p:sp>
        <p:nvSpPr>
          <p:cNvPr id="23" name="Rectangle 22"/>
          <p:cNvSpPr/>
          <p:nvPr/>
        </p:nvSpPr>
        <p:spPr>
          <a:xfrm>
            <a:off x="56692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26" name="TextBox 25"/>
          <p:cNvSpPr txBox="1"/>
          <p:nvPr/>
        </p:nvSpPr>
        <p:spPr>
          <a:xfrm>
            <a:off x="76809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Cổng consent (deny-by-default)</a:t>
            </a:r>
          </a:p>
        </p:txBody>
      </p:sp>
      <p:sp>
        <p:nvSpPr>
          <p:cNvPr id="27" name="TextBox 26"/>
          <p:cNvSpPr txBox="1"/>
          <p:nvPr/>
        </p:nvSpPr>
        <p:spPr>
          <a:xfrm>
            <a:off x="76809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Ở khâu kích hoạt: chưa đồng ý thì KHÔNG gửi — mặc định an toàn.</a:t>
            </a:r>
          </a:p>
        </p:txBody>
      </p:sp>
      <p:sp>
        <p:nvSpPr>
          <p:cNvPr id="28" name="Rectangle 27"/>
          <p:cNvSpPr/>
          <p:nvPr/>
        </p:nvSpPr>
        <p:spPr>
          <a:xfrm>
            <a:off x="4270248"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70248"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1" name="TextBox 30"/>
          <p:cNvSpPr txBox="1"/>
          <p:nvPr/>
        </p:nvSpPr>
        <p:spPr>
          <a:xfrm>
            <a:off x="447141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Idempotency chống trùng</a:t>
            </a:r>
          </a:p>
        </p:txBody>
      </p:sp>
      <p:sp>
        <p:nvSpPr>
          <p:cNvPr id="32" name="TextBox 31"/>
          <p:cNvSpPr txBox="1"/>
          <p:nvPr/>
        </p:nvSpPr>
        <p:spPr>
          <a:xfrm>
            <a:off x="447141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Khoá giao dịch duy nhất — gửi lại nhiều lần chỉ ghi nhận một lần.</a:t>
            </a:r>
          </a:p>
        </p:txBody>
      </p:sp>
      <p:sp>
        <p:nvSpPr>
          <p:cNvPr id="33" name="Rectangle 32"/>
          <p:cNvSpPr/>
          <p:nvPr/>
        </p:nvSpPr>
        <p:spPr>
          <a:xfrm>
            <a:off x="7973567" y="4023360"/>
            <a:ext cx="3474720" cy="1920240"/>
          </a:xfrm>
          <a:prstGeom prst="rect">
            <a:avLst/>
          </a:prstGeom>
          <a:solidFill>
            <a:srgbClr val="FFFFFF"/>
          </a:solidFill>
          <a:ln w="12700">
            <a:solidFill>
              <a:srgbClr val="DE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73567" y="4023360"/>
            <a:ext cx="64008" cy="1920240"/>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74736" y="4187952"/>
            <a:ext cx="3273551"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2000" b="0" i="0">
                <a:solidFill>
                  <a:srgbClr val="C39851"/>
                </a:solidFill>
                <a:latin typeface="Calibri"/>
              </a:rPr>
              <a:t>🇻🇳</a:t>
            </a:r>
          </a:p>
        </p:txBody>
      </p:sp>
      <p:sp>
        <p:nvSpPr>
          <p:cNvPr id="36" name="TextBox 35"/>
          <p:cNvSpPr txBox="1"/>
          <p:nvPr/>
        </p:nvSpPr>
        <p:spPr>
          <a:xfrm>
            <a:off x="8174736" y="4645152"/>
            <a:ext cx="3163824"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1" i="0">
                <a:solidFill>
                  <a:srgbClr val="2E2E40"/>
                </a:solidFill>
                <a:latin typeface="Calibri"/>
              </a:rPr>
              <a:t>Residency dữ liệu tại VN</a:t>
            </a:r>
          </a:p>
        </p:txBody>
      </p:sp>
      <p:sp>
        <p:nvSpPr>
          <p:cNvPr id="37" name="TextBox 36"/>
          <p:cNvSpPr txBox="1"/>
          <p:nvPr/>
        </p:nvSpPr>
        <p:spPr>
          <a:xfrm>
            <a:off x="8174736" y="4956048"/>
            <a:ext cx="3118103" cy="877824"/>
          </a:xfrm>
          <a:prstGeom prst="rect">
            <a:avLst/>
          </a:prstGeom>
          <a:noFill/>
        </p:spPr>
        <p:txBody>
          <a:bodyPr wrap="square" anchor="t" lIns="25400" rIns="25400" tIns="12700" bIns="12700">
            <a:spAutoFit/>
          </a:bodyPr>
          <a:lstStyle/>
          <a:p>
            <a:pPr algn="l">
              <a:lnSpc>
                <a:spcPct val="105000"/>
              </a:lnSpc>
              <a:spcBef>
                <a:spcPts val="0"/>
              </a:spcBef>
              <a:spcAft>
                <a:spcPts val="300"/>
              </a:spcAft>
            </a:pPr>
            <a:r>
              <a:rPr sz="1100" b="0" i="0">
                <a:solidFill>
                  <a:srgbClr val="565564"/>
                </a:solidFill>
                <a:latin typeface="Calibri"/>
              </a:rPr>
              <a:t>Dữ liệu lưu &amp; xử lý trong nước — chủ quyền và tuân thủ pháp lý.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 y="-54864"/>
            <a:ext cx="12301423" cy="6967728"/>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515600" cy="27432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C39851"/>
                </a:solidFill>
                <a:latin typeface="Calibri"/>
              </a:rPr>
              <a:t>TRÍCH DẪN ĐẦY ĐỦ · MINH BẠCH</a:t>
            </a:r>
          </a:p>
        </p:txBody>
      </p:sp>
      <p:sp>
        <p:nvSpPr>
          <p:cNvPr id="4" name="TextBox 3"/>
          <p:cNvSpPr txBox="1"/>
          <p:nvPr/>
        </p:nvSpPr>
        <p:spPr>
          <a:xfrm>
            <a:off x="548640" y="658368"/>
            <a:ext cx="11064240" cy="68580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2E2E40"/>
                </a:solidFill>
                <a:latin typeface="Georgia"/>
              </a:rPr>
              <a:t>Nguồn tham khảo</a:t>
            </a:r>
          </a:p>
        </p:txBody>
      </p:sp>
      <p:sp>
        <p:nvSpPr>
          <p:cNvPr id="5" name="Rectangle 4"/>
          <p:cNvSpPr/>
          <p:nvPr/>
        </p:nvSpPr>
        <p:spPr>
          <a:xfrm>
            <a:off x="576072" y="1371600"/>
            <a:ext cx="1051560" cy="50292"/>
          </a:xfrm>
          <a:prstGeom prst="rect">
            <a:avLst/>
          </a:prstGeom>
          <a:solidFill>
            <a:srgbClr val="C398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473952"/>
            <a:ext cx="8686800" cy="3200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900" b="1" i="0">
                <a:solidFill>
                  <a:srgbClr val="565564"/>
                </a:solidFill>
                <a:latin typeface="Calibri"/>
              </a:rPr>
              <a:t>OCH · Customer Data Platform</a:t>
            </a:r>
            <a:r>
              <a:rPr sz="900" b="0" i="0">
                <a:solidFill>
                  <a:srgbClr val="565564"/>
                </a:solidFill>
                <a:latin typeface="Calibri"/>
              </a:rPr>
              <a:t>  —  Phát triển bởi AIPOWER</a:t>
            </a:r>
          </a:p>
        </p:txBody>
      </p:sp>
      <p:sp>
        <p:nvSpPr>
          <p:cNvPr id="7" name="TextBox 6"/>
          <p:cNvSpPr txBox="1"/>
          <p:nvPr/>
        </p:nvSpPr>
        <p:spPr>
          <a:xfrm>
            <a:off x="10789920" y="6473952"/>
            <a:ext cx="914400" cy="320040"/>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900" b="1" i="0">
                <a:solidFill>
                  <a:srgbClr val="565564"/>
                </a:solidFill>
                <a:latin typeface="Calibri"/>
              </a:rPr>
              <a:t>45</a:t>
            </a:r>
          </a:p>
        </p:txBody>
      </p:sp>
      <p:sp>
        <p:nvSpPr>
          <p:cNvPr id="8" name="TextBox 7"/>
          <p:cNvSpPr txBox="1"/>
          <p:nvPr/>
        </p:nvSpPr>
        <p:spPr>
          <a:xfrm>
            <a:off x="566928" y="1965960"/>
            <a:ext cx="11064240" cy="4206240"/>
          </a:xfrm>
          <a:prstGeom prst="rect">
            <a:avLst/>
          </a:prstGeom>
          <a:noFill/>
        </p:spPr>
        <p:txBody>
          <a:bodyPr wrap="square" lIns="25400" rIns="25400" tIns="25400">
            <a:spAutoFit/>
          </a:bodyPr>
          <a:lstStyle/>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Grand View Research — Customer Data Platform Market: grandviewresearch.com/industry-analysis/customer-data-platform-market</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MarketsandMarkets — Customer Data Platform Market (Report 94223554): marketsandmarkets.com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Fortune Business Insights — Customer Data Platform Market: fortunebusinessinsights.com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Data Bridge Market Research — Customer Data Platform Market: databridgemarketresearch.com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CDP Institute — Industry Update / Member Report 2024: cdpinstitute.org</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Statista — Customer Data Platform vendors: statista.com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Gartner — Khảo sát ứng dụng CDP 2024: gartner.com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Twilio Segment — The State of Personalization 2024: segment.com/state-of-personalization-report · twilio.com</a:t>
            </a:r>
          </a:p>
          <a:p>
            <a:pPr>
              <a:lnSpc>
                <a:spcPct val="105000"/>
              </a:lnSpc>
              <a:spcBef>
                <a:spcPts val="0"/>
              </a:spcBef>
              <a:spcAft>
                <a:spcPts val="1000"/>
              </a:spcAft>
            </a:pPr>
            <a:r>
              <a:rPr sz="1000" b="1">
                <a:solidFill>
                  <a:srgbClr val="C39851"/>
                </a:solidFill>
                <a:latin typeface="Calibri"/>
              </a:rPr>
              <a:t>•  </a:t>
            </a:r>
            <a:r>
              <a:rPr sz="1200">
                <a:solidFill>
                  <a:srgbClr val="1B1B2E"/>
                </a:solidFill>
                <a:latin typeface="Calibri"/>
              </a:rPr>
              <a:t>McKinsey &amp; Company — Next in Personalization (72%, dẫn qua báo cáo Twilio).</a:t>
            </a:r>
          </a:p>
        </p:txBody>
      </p:sp>
      <p:sp>
        <p:nvSpPr>
          <p:cNvPr id="9" name="TextBox 8"/>
          <p:cNvSpPr txBox="1"/>
          <p:nvPr/>
        </p:nvSpPr>
        <p:spPr>
          <a:xfrm>
            <a:off x="566928" y="6035040"/>
            <a:ext cx="10972800" cy="365760"/>
          </a:xfrm>
          <a:prstGeom prst="rect">
            <a:avLst/>
          </a:prstGeom>
          <a:noFill/>
        </p:spPr>
        <p:txBody>
          <a:bodyPr wrap="square" anchor="t" lIns="25400" rIns="25400" tIns="12700" bIns="12700">
            <a:spAutoFit/>
          </a:bodyPr>
          <a:lstStyle/>
          <a:p>
            <a:pPr algn="l">
              <a:lnSpc>
                <a:spcPct val="105000"/>
              </a:lnSpc>
              <a:spcBef>
                <a:spcPts val="0"/>
              </a:spcBef>
              <a:spcAft>
                <a:spcPts val="400"/>
              </a:spcAft>
            </a:pPr>
            <a:r>
              <a:rPr sz="1000" b="0" i="1">
                <a:solidFill>
                  <a:srgbClr val="565564"/>
                </a:solidFill>
                <a:latin typeface="Calibri"/>
              </a:rPr>
              <a:t>Lưu ý: con số thị trường lấy nguyên từ các hãng nghiên cứu; số liệu đối thủ trong bảng so sánh chỉ nêu định tính, không suy diễn con số.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