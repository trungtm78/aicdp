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580375" y="502920"/>
            <a:ext cx="4315968" cy="5852160"/>
          </a:xfrm>
          <a:prstGeom prst="rect">
            <a:avLst/>
          </a:prstGeom>
          <a:solidFill>
            <a:srgbClr val="FFFFFF"/>
          </a:solidFill>
          <a:ln w="15875">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och-hero.jpg"/>
          <p:cNvPicPr>
            <a:picLocks noChangeAspect="1"/>
          </p:cNvPicPr>
          <p:nvPr/>
        </p:nvPicPr>
        <p:blipFill>
          <a:blip r:embed="rId2"/>
          <a:stretch>
            <a:fillRect/>
          </a:stretch>
        </p:blipFill>
        <p:spPr>
          <a:xfrm>
            <a:off x="7635240" y="2244625"/>
            <a:ext cx="4206240" cy="2368748"/>
          </a:xfrm>
          <a:prstGeom prst="rect">
            <a:avLst/>
          </a:prstGeom>
        </p:spPr>
      </p:pic>
      <p:sp>
        <p:nvSpPr>
          <p:cNvPr id="5" name="Rectangle 4"/>
          <p:cNvSpPr/>
          <p:nvPr/>
        </p:nvSpPr>
        <p:spPr>
          <a:xfrm>
            <a:off x="0" y="0"/>
            <a:ext cx="201168" cy="6858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71600"/>
            <a:ext cx="6583680" cy="12344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8600" b="1" i="0">
                <a:solidFill>
                  <a:srgbClr val="2E2E40"/>
                </a:solidFill>
                <a:latin typeface="Georgia"/>
              </a:rPr>
              <a:t>OCH</a:t>
            </a:r>
          </a:p>
        </p:txBody>
      </p:sp>
      <p:sp>
        <p:nvSpPr>
          <p:cNvPr id="7" name="Rectangle 6"/>
          <p:cNvSpPr/>
          <p:nvPr/>
        </p:nvSpPr>
        <p:spPr>
          <a:xfrm>
            <a:off x="868680" y="2651760"/>
            <a:ext cx="2651760" cy="41148"/>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2743200"/>
            <a:ext cx="658368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C39851"/>
                </a:solidFill>
                <a:latin typeface="Calibri"/>
              </a:rPr>
              <a:t>O N E   C A P I T A L   H O S P I T A L I T Y</a:t>
            </a:r>
          </a:p>
        </p:txBody>
      </p:sp>
      <p:sp>
        <p:nvSpPr>
          <p:cNvPr id="9" name="TextBox 8"/>
          <p:cNvSpPr txBox="1"/>
          <p:nvPr/>
        </p:nvSpPr>
        <p:spPr>
          <a:xfrm>
            <a:off x="822960" y="3383280"/>
            <a:ext cx="676656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900" b="1" i="0">
                <a:solidFill>
                  <a:srgbClr val="2E2E40"/>
                </a:solidFill>
                <a:latin typeface="Georgia"/>
              </a:rPr>
              <a:t>CUSTOMER DATA PLATFORM</a:t>
            </a:r>
          </a:p>
        </p:txBody>
      </p:sp>
      <p:sp>
        <p:nvSpPr>
          <p:cNvPr id="10" name="TextBox 9"/>
          <p:cNvSpPr txBox="1"/>
          <p:nvPr/>
        </p:nvSpPr>
        <p:spPr>
          <a:xfrm>
            <a:off x="868680" y="4114800"/>
            <a:ext cx="6492240" cy="914400"/>
          </a:xfrm>
          <a:prstGeom prst="rect">
            <a:avLst/>
          </a:prstGeom>
          <a:noFill/>
        </p:spPr>
        <p:txBody>
          <a:bodyPr wrap="square" anchor="t" lIns="25400" rIns="25400" tIns="12700" bIns="12700">
            <a:spAutoFit/>
          </a:bodyPr>
          <a:lstStyle/>
          <a:p>
            <a:pPr algn="l">
              <a:lnSpc>
                <a:spcPct val="115000"/>
              </a:lnSpc>
              <a:spcBef>
                <a:spcPts val="0"/>
              </a:spcBef>
              <a:spcAft>
                <a:spcPts val="400"/>
              </a:spcAft>
            </a:pPr>
            <a:r>
              <a:rPr sz="1500" b="0" i="1">
                <a:solidFill>
                  <a:srgbClr val="565564"/>
                </a:solidFill>
                <a:latin typeface="Calibri"/>
              </a:rPr>
              <a:t>Nền tảng Dữ liệu Khách hàng hợp nhất cho hệ sinh thái đa thương hiệu</a:t>
            </a:r>
          </a:p>
        </p:txBody>
      </p:sp>
      <p:sp>
        <p:nvSpPr>
          <p:cNvPr id="11" name="Rectangle 10"/>
          <p:cNvSpPr/>
          <p:nvPr/>
        </p:nvSpPr>
        <p:spPr>
          <a:xfrm>
            <a:off x="822960" y="5623560"/>
            <a:ext cx="6400800" cy="18288"/>
          </a:xfrm>
          <a:prstGeom prst="rect">
            <a:avLst/>
          </a:prstGeom>
          <a:solidFill>
            <a:srgbClr val="DED8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760720"/>
            <a:ext cx="365760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0" i="0">
                <a:solidFill>
                  <a:srgbClr val="565564"/>
                </a:solidFill>
                <a:latin typeface="Calibri"/>
              </a:rPr>
              <a:t>Được phát triển bởi</a:t>
            </a:r>
          </a:p>
        </p:txBody>
      </p:sp>
      <p:pic>
        <p:nvPicPr>
          <p:cNvPr id="13" name="Picture 12" descr="aipower-logo.png"/>
          <p:cNvPicPr>
            <a:picLocks noChangeAspect="1"/>
          </p:cNvPicPr>
          <p:nvPr/>
        </p:nvPicPr>
        <p:blipFill>
          <a:blip r:embed="rId3"/>
          <a:stretch>
            <a:fillRect/>
          </a:stretch>
        </p:blipFill>
        <p:spPr>
          <a:xfrm>
            <a:off x="2880360" y="5596128"/>
            <a:ext cx="1463040" cy="612157"/>
          </a:xfrm>
          <a:prstGeom prst="rect">
            <a:avLst/>
          </a:prstGeom>
        </p:spPr>
      </p:pic>
      <p:sp>
        <p:nvSpPr>
          <p:cNvPr id="14" name="TextBox 13"/>
          <p:cNvSpPr txBox="1"/>
          <p:nvPr/>
        </p:nvSpPr>
        <p:spPr>
          <a:xfrm>
            <a:off x="822960" y="6355080"/>
            <a:ext cx="457200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Tài liệu giới thiệu hệ thống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BỐI CẢNH DOANH NGHIỆP</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OCH — Tập đoàn dịch vụ đa thương hiệu</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a:t>
            </a:r>
          </a:p>
        </p:txBody>
      </p:sp>
      <p:sp>
        <p:nvSpPr>
          <p:cNvPr id="8" name="TextBox 7"/>
          <p:cNvSpPr txBox="1"/>
          <p:nvPr/>
        </p:nvSpPr>
        <p:spPr>
          <a:xfrm>
            <a:off x="566928" y="1783080"/>
            <a:ext cx="11064240" cy="457200"/>
          </a:xfrm>
          <a:prstGeom prst="rect">
            <a:avLst/>
          </a:prstGeom>
          <a:noFill/>
        </p:spPr>
        <p:txBody>
          <a:bodyPr wrap="square" anchor="t" lIns="25400" rIns="25400" tIns="12700" bIns="12700">
            <a:spAutoFit/>
          </a:bodyPr>
          <a:lstStyle/>
          <a:p>
            <a:pPr algn="l">
              <a:lnSpc>
                <a:spcPct val="110000"/>
              </a:lnSpc>
              <a:spcBef>
                <a:spcPts val="0"/>
              </a:spcBef>
              <a:spcAft>
                <a:spcPts val="400"/>
              </a:spcAft>
            </a:pPr>
            <a:r>
              <a:rPr sz="1400" b="0" i="0">
                <a:solidFill>
                  <a:srgbClr val="1B1B2E"/>
                </a:solidFill>
                <a:latin typeface="Calibri"/>
              </a:rPr>
              <a:t>One Capital Hospitality vận hành hai nhóm ngành lớn với tệp khách hàng khổng lồ và chồng lấn:</a:t>
            </a:r>
          </a:p>
        </p:txBody>
      </p:sp>
      <p:sp>
        <p:nvSpPr>
          <p:cNvPr id="9" name="Rectangle 8"/>
          <p:cNvSpPr/>
          <p:nvPr/>
        </p:nvSpPr>
        <p:spPr>
          <a:xfrm>
            <a:off x="566928" y="2423160"/>
            <a:ext cx="5394960" cy="26974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423160"/>
            <a:ext cx="82296" cy="26974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423160"/>
            <a:ext cx="5394960" cy="548640"/>
          </a:xfrm>
          <a:prstGeom prst="rect">
            <a:avLst/>
          </a:prstGeom>
          <a:solidFill>
            <a:srgbClr val="E7D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23160"/>
            <a:ext cx="51206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500" b="1" i="0">
                <a:solidFill>
                  <a:srgbClr val="2E2E40"/>
                </a:solidFill>
                <a:latin typeface="Calibri"/>
              </a:rPr>
              <a:t>🍰  Thực phẩm &amp; Đồ uống (F&amp;B)</a:t>
            </a:r>
          </a:p>
        </p:txBody>
      </p:sp>
      <p:sp>
        <p:nvSpPr>
          <p:cNvPr id="13" name="TextBox 12"/>
          <p:cNvSpPr txBox="1"/>
          <p:nvPr/>
        </p:nvSpPr>
        <p:spPr>
          <a:xfrm>
            <a:off x="777240" y="3108960"/>
            <a:ext cx="5029200" cy="1920240"/>
          </a:xfrm>
          <a:prstGeom prst="rect">
            <a:avLst/>
          </a:prstGeom>
          <a:noFill/>
        </p:spPr>
        <p:txBody>
          <a:bodyPr wrap="square" lIns="25400" rIns="25400" tIns="25400">
            <a:spAutoFit/>
          </a:bodyPr>
          <a:lstStyle/>
          <a:p>
            <a:pPr>
              <a:lnSpc>
                <a:spcPct val="105000"/>
              </a:lnSpc>
              <a:spcBef>
                <a:spcPts val="0"/>
              </a:spcBef>
              <a:spcAft>
                <a:spcPts val="1100"/>
              </a:spcAft>
            </a:pPr>
            <a:r>
              <a:rPr sz="1150" b="1">
                <a:solidFill>
                  <a:srgbClr val="C39851"/>
                </a:solidFill>
                <a:latin typeface="Calibri"/>
              </a:rPr>
              <a:t>●  </a:t>
            </a:r>
            <a:r>
              <a:rPr sz="1350" b="1">
                <a:solidFill>
                  <a:srgbClr val="2E2E40"/>
                </a:solidFill>
                <a:latin typeface="Calibri"/>
              </a:rPr>
              <a:t>Givral</a:t>
            </a:r>
            <a:r>
              <a:rPr sz="1350">
                <a:solidFill>
                  <a:srgbClr val="1B1B2E"/>
                </a:solidFill>
                <a:latin typeface="Calibri"/>
              </a:rPr>
              <a:t> — thương hiệu bánh cao cấp Sài Gòn từ 1950</a:t>
            </a:r>
          </a:p>
          <a:p>
            <a:pPr>
              <a:lnSpc>
                <a:spcPct val="105000"/>
              </a:lnSpc>
              <a:spcBef>
                <a:spcPts val="0"/>
              </a:spcBef>
              <a:spcAft>
                <a:spcPts val="1100"/>
              </a:spcAft>
            </a:pPr>
            <a:r>
              <a:rPr sz="1150" b="1">
                <a:solidFill>
                  <a:srgbClr val="C39851"/>
                </a:solidFill>
                <a:latin typeface="Calibri"/>
              </a:rPr>
              <a:t>●  </a:t>
            </a:r>
            <a:r>
              <a:rPr sz="1350" b="1">
                <a:solidFill>
                  <a:srgbClr val="2E2E40"/>
                </a:solidFill>
                <a:latin typeface="Calibri"/>
              </a:rPr>
              <a:t>Kem Tràng Tiền</a:t>
            </a:r>
            <a:r>
              <a:rPr sz="1350">
                <a:solidFill>
                  <a:srgbClr val="1B1B2E"/>
                </a:solidFill>
                <a:latin typeface="Calibri"/>
              </a:rPr>
              <a:t> — biểu tượng Hà Nội từ 1958</a:t>
            </a:r>
          </a:p>
          <a:p>
            <a:pPr>
              <a:lnSpc>
                <a:spcPct val="105000"/>
              </a:lnSpc>
              <a:spcBef>
                <a:spcPts val="0"/>
              </a:spcBef>
              <a:spcAft>
                <a:spcPts val="1100"/>
              </a:spcAft>
            </a:pPr>
            <a:r>
              <a:rPr sz="1150" b="1">
                <a:solidFill>
                  <a:srgbClr val="C39851"/>
                </a:solidFill>
                <a:latin typeface="Calibri"/>
              </a:rPr>
              <a:t>●  </a:t>
            </a:r>
            <a:r>
              <a:rPr sz="1350" b="1">
                <a:solidFill>
                  <a:srgbClr val="2E2E40"/>
                </a:solidFill>
                <a:latin typeface="Calibri"/>
              </a:rPr>
              <a:t>Fuji</a:t>
            </a:r>
            <a:r>
              <a:rPr sz="1350">
                <a:solidFill>
                  <a:srgbClr val="1B1B2E"/>
                </a:solidFill>
                <a:latin typeface="Calibri"/>
              </a:rPr>
              <a:t> — chuỗi thực phẩm &amp; sản phẩm tươi</a:t>
            </a:r>
          </a:p>
        </p:txBody>
      </p:sp>
      <p:sp>
        <p:nvSpPr>
          <p:cNvPr id="14" name="Rectangle 13"/>
          <p:cNvSpPr/>
          <p:nvPr/>
        </p:nvSpPr>
        <p:spPr>
          <a:xfrm>
            <a:off x="6236208" y="2423160"/>
            <a:ext cx="5394960" cy="26974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2423160"/>
            <a:ext cx="82296" cy="26974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6208" y="2423160"/>
            <a:ext cx="5394960" cy="548640"/>
          </a:xfrm>
          <a:prstGeom prst="rect">
            <a:avLst/>
          </a:prstGeom>
          <a:solidFill>
            <a:srgbClr val="E7D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423160"/>
            <a:ext cx="51206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500" b="1" i="0">
                <a:solidFill>
                  <a:srgbClr val="2E2E40"/>
                </a:solidFill>
                <a:latin typeface="Calibri"/>
              </a:rPr>
              <a:t>🏨  Khách sạn &amp; Nghỉ dưỡng</a:t>
            </a:r>
          </a:p>
        </p:txBody>
      </p:sp>
      <p:sp>
        <p:nvSpPr>
          <p:cNvPr id="18" name="TextBox 17"/>
          <p:cNvSpPr txBox="1"/>
          <p:nvPr/>
        </p:nvSpPr>
        <p:spPr>
          <a:xfrm>
            <a:off x="6446520" y="3063240"/>
            <a:ext cx="5029200" cy="1920240"/>
          </a:xfrm>
          <a:prstGeom prst="rect">
            <a:avLst/>
          </a:prstGeom>
          <a:noFill/>
        </p:spPr>
        <p:txBody>
          <a:bodyPr wrap="square" lIns="25400" rIns="25400" tIns="25400">
            <a:spAutoFit/>
          </a:bodyPr>
          <a:lstStyle/>
          <a:p>
            <a:pPr>
              <a:lnSpc>
                <a:spcPct val="105000"/>
              </a:lnSpc>
              <a:spcBef>
                <a:spcPts val="0"/>
              </a:spcBef>
              <a:spcAft>
                <a:spcPts val="1100"/>
              </a:spcAft>
            </a:pPr>
            <a:r>
              <a:rPr sz="1150" b="1">
                <a:solidFill>
                  <a:srgbClr val="C39851"/>
                </a:solidFill>
                <a:latin typeface="Calibri"/>
              </a:rPr>
              <a:t>●  </a:t>
            </a:r>
            <a:r>
              <a:rPr sz="1350" b="1">
                <a:solidFill>
                  <a:srgbClr val="2E2E40"/>
                </a:solidFill>
                <a:latin typeface="Calibri"/>
              </a:rPr>
              <a:t>Sunrise Nha Trang</a:t>
            </a:r>
            <a:r>
              <a:rPr sz="1350">
                <a:solidFill>
                  <a:srgbClr val="1B1B2E"/>
                </a:solidFill>
                <a:latin typeface="Calibri"/>
              </a:rPr>
              <a:t> — resort biển 5 sao</a:t>
            </a:r>
          </a:p>
          <a:p>
            <a:pPr>
              <a:lnSpc>
                <a:spcPct val="105000"/>
              </a:lnSpc>
              <a:spcBef>
                <a:spcPts val="0"/>
              </a:spcBef>
              <a:spcAft>
                <a:spcPts val="1100"/>
              </a:spcAft>
            </a:pPr>
            <a:r>
              <a:rPr sz="1150" b="1">
                <a:solidFill>
                  <a:srgbClr val="C39851"/>
                </a:solidFill>
                <a:latin typeface="Calibri"/>
              </a:rPr>
              <a:t>●  </a:t>
            </a:r>
            <a:r>
              <a:rPr sz="1350" b="1">
                <a:solidFill>
                  <a:srgbClr val="2E2E40"/>
                </a:solidFill>
                <a:latin typeface="Calibri"/>
              </a:rPr>
              <a:t>StarCity Nha Trang</a:t>
            </a:r>
            <a:r>
              <a:rPr sz="1350">
                <a:solidFill>
                  <a:srgbClr val="1B1B2E"/>
                </a:solidFill>
                <a:latin typeface="Calibri"/>
              </a:rPr>
              <a:t> — khách sạn trung tâm biển</a:t>
            </a:r>
          </a:p>
          <a:p>
            <a:pPr>
              <a:lnSpc>
                <a:spcPct val="105000"/>
              </a:lnSpc>
              <a:spcBef>
                <a:spcPts val="0"/>
              </a:spcBef>
              <a:spcAft>
                <a:spcPts val="1100"/>
              </a:spcAft>
            </a:pPr>
            <a:r>
              <a:rPr sz="1150" b="1">
                <a:solidFill>
                  <a:srgbClr val="C39851"/>
                </a:solidFill>
                <a:latin typeface="Calibri"/>
              </a:rPr>
              <a:t>●  </a:t>
            </a:r>
            <a:r>
              <a:rPr sz="1350" b="1">
                <a:solidFill>
                  <a:srgbClr val="2E2E40"/>
                </a:solidFill>
                <a:latin typeface="Calibri"/>
              </a:rPr>
              <a:t>Dusit Le Palais Tú Hoa</a:t>
            </a:r>
            <a:r>
              <a:rPr sz="1350">
                <a:solidFill>
                  <a:srgbClr val="1B1B2E"/>
                </a:solidFill>
                <a:latin typeface="Calibri"/>
              </a:rPr>
              <a:t> — khách sạn cao cấp Hà Nội</a:t>
            </a:r>
          </a:p>
        </p:txBody>
      </p:sp>
      <p:sp>
        <p:nvSpPr>
          <p:cNvPr id="19" name="Rounded Rectangle 18"/>
          <p:cNvSpPr/>
          <p:nvPr/>
        </p:nvSpPr>
        <p:spPr>
          <a:xfrm>
            <a:off x="566928" y="5349240"/>
            <a:ext cx="11064240" cy="868680"/>
          </a:xfrm>
          <a:prstGeom prst="roundRect">
            <a:avLst/>
          </a:prstGeom>
          <a:solidFill>
            <a:srgbClr val="E7D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349240"/>
            <a:ext cx="10607040" cy="868680"/>
          </a:xfrm>
          <a:prstGeom prst="rect">
            <a:avLst/>
          </a:prstGeom>
          <a:noFill/>
        </p:spPr>
        <p:txBody>
          <a:bodyPr wrap="square" anchor="ctr" lIns="25400" rIns="25400" tIns="12700" bIns="12700">
            <a:spAutoFit/>
          </a:bodyPr>
          <a:lstStyle/>
          <a:p>
            <a:pPr algn="l">
              <a:lnSpc>
                <a:spcPct val="110000"/>
              </a:lnSpc>
              <a:spcBef>
                <a:spcPts val="0"/>
              </a:spcBef>
              <a:spcAft>
                <a:spcPts val="400"/>
              </a:spcAft>
            </a:pPr>
            <a:r>
              <a:rPr sz="1400" b="1" i="0">
                <a:solidFill>
                  <a:srgbClr val="2E2E40"/>
                </a:solidFill>
                <a:latin typeface="Calibri"/>
              </a:rPr>
              <a:t>Bài toán cốt lõi: </a:t>
            </a:r>
            <a:r>
              <a:rPr sz="1400" b="0" i="0">
                <a:solidFill>
                  <a:srgbClr val="1B1B2E"/>
                </a:solidFill>
                <a:latin typeface="Calibri"/>
              </a:rPr>
              <a:t>cùng một khách hàng nhưng lại </a:t>
            </a:r>
            <a:r>
              <a:rPr sz="1400" b="1" i="0">
                <a:solidFill>
                  <a:srgbClr val="B3372F"/>
                </a:solidFill>
                <a:latin typeface="Calibri"/>
              </a:rPr>
              <a:t>phân mảnh</a:t>
            </a:r>
            <a:r>
              <a:rPr sz="1400" b="0" i="0">
                <a:solidFill>
                  <a:srgbClr val="1B1B2E"/>
                </a:solidFill>
                <a:latin typeface="Calibri"/>
              </a:rPr>
              <a:t> giữa các thương hiệu — mỗi nơi chỉ thấy một mảnh, không ai thấy bức tranh toàn cảnh.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VÌ SAO OCH CẦN MỘT CDP</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Bài toán kinh doanh hôm nay</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a:t>
            </a:r>
          </a:p>
        </p:txBody>
      </p:sp>
      <p:sp>
        <p:nvSpPr>
          <p:cNvPr id="8" name="Rectangle 7"/>
          <p:cNvSpPr/>
          <p:nvPr/>
        </p:nvSpPr>
        <p:spPr>
          <a:xfrm>
            <a:off x="566928" y="1828800"/>
            <a:ext cx="3474720" cy="20574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28800"/>
            <a:ext cx="64008" cy="20574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99339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1" name="TextBox 10"/>
          <p:cNvSpPr txBox="1"/>
          <p:nvPr/>
        </p:nvSpPr>
        <p:spPr>
          <a:xfrm>
            <a:off x="768096" y="245059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Khách hàng bị chia nhỏ</a:t>
            </a:r>
          </a:p>
        </p:txBody>
      </p:sp>
      <p:sp>
        <p:nvSpPr>
          <p:cNvPr id="12" name="TextBox 11"/>
          <p:cNvSpPr txBox="1"/>
          <p:nvPr/>
        </p:nvSpPr>
        <p:spPr>
          <a:xfrm>
            <a:off x="768096" y="2761488"/>
            <a:ext cx="3118103" cy="101498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Một khách ăn bánh Givral, nghỉ Sunrise, mua kem Tràng Tiền — nhưng hệ thống xem là 3 người xa lạ.</a:t>
            </a:r>
          </a:p>
        </p:txBody>
      </p:sp>
      <p:sp>
        <p:nvSpPr>
          <p:cNvPr id="13" name="Rectangle 12"/>
          <p:cNvSpPr/>
          <p:nvPr/>
        </p:nvSpPr>
        <p:spPr>
          <a:xfrm>
            <a:off x="4224528" y="1828800"/>
            <a:ext cx="3474720" cy="20574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24528" y="1828800"/>
            <a:ext cx="64008" cy="20574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199339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6" name="TextBox 15"/>
          <p:cNvSpPr txBox="1"/>
          <p:nvPr/>
        </p:nvSpPr>
        <p:spPr>
          <a:xfrm>
            <a:off x="4425696" y="245059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Không nhận ra khách VIP tổng thể</a:t>
            </a:r>
          </a:p>
        </p:txBody>
      </p:sp>
      <p:sp>
        <p:nvSpPr>
          <p:cNvPr id="17" name="TextBox 16"/>
          <p:cNvSpPr txBox="1"/>
          <p:nvPr/>
        </p:nvSpPr>
        <p:spPr>
          <a:xfrm>
            <a:off x="4425696" y="2761488"/>
            <a:ext cx="3118103" cy="101498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Khách chi tiêu lớn trên toàn tập đoàn không được nhận diện, dễ mất vào tay đối thủ.</a:t>
            </a:r>
          </a:p>
        </p:txBody>
      </p:sp>
      <p:sp>
        <p:nvSpPr>
          <p:cNvPr id="18" name="Rectangle 17"/>
          <p:cNvSpPr/>
          <p:nvPr/>
        </p:nvSpPr>
        <p:spPr>
          <a:xfrm>
            <a:off x="7882127" y="1828800"/>
            <a:ext cx="3474720" cy="20574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82127" y="1828800"/>
            <a:ext cx="64008" cy="20574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83296" y="199339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1" name="TextBox 20"/>
          <p:cNvSpPr txBox="1"/>
          <p:nvPr/>
        </p:nvSpPr>
        <p:spPr>
          <a:xfrm>
            <a:off x="8083296" y="245059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Marketing rời rạc, chồng chéo</a:t>
            </a:r>
          </a:p>
        </p:txBody>
      </p:sp>
      <p:sp>
        <p:nvSpPr>
          <p:cNvPr id="22" name="TextBox 21"/>
          <p:cNvSpPr txBox="1"/>
          <p:nvPr/>
        </p:nvSpPr>
        <p:spPr>
          <a:xfrm>
            <a:off x="8083296" y="2761488"/>
            <a:ext cx="3118103" cy="101498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Mỗi thương hiệu gửi khuyến mãi riêng, không phối hợp — vừa tốn tiền vừa làm phiền khách.</a:t>
            </a:r>
          </a:p>
        </p:txBody>
      </p:sp>
      <p:sp>
        <p:nvSpPr>
          <p:cNvPr id="23" name="Rectangle 22"/>
          <p:cNvSpPr/>
          <p:nvPr/>
        </p:nvSpPr>
        <p:spPr>
          <a:xfrm>
            <a:off x="566928" y="4069080"/>
            <a:ext cx="3474720" cy="20574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069080"/>
            <a:ext cx="64008" cy="20574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23367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6" name="TextBox 25"/>
          <p:cNvSpPr txBox="1"/>
          <p:nvPr/>
        </p:nvSpPr>
        <p:spPr>
          <a:xfrm>
            <a:off x="768096" y="469087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Bỏ lỡ bán chéo F&amp;B ↔ Khách sạn</a:t>
            </a:r>
          </a:p>
        </p:txBody>
      </p:sp>
      <p:sp>
        <p:nvSpPr>
          <p:cNvPr id="27" name="TextBox 26"/>
          <p:cNvSpPr txBox="1"/>
          <p:nvPr/>
        </p:nvSpPr>
        <p:spPr>
          <a:xfrm>
            <a:off x="768096" y="5001768"/>
            <a:ext cx="3118103" cy="10149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Khách nghỉ khách sạn chưa từng được mời dùng F&amp;B và ngược lại — doanh thu bỏ ngỏ.</a:t>
            </a:r>
          </a:p>
        </p:txBody>
      </p:sp>
      <p:sp>
        <p:nvSpPr>
          <p:cNvPr id="28" name="Rectangle 27"/>
          <p:cNvSpPr/>
          <p:nvPr/>
        </p:nvSpPr>
        <p:spPr>
          <a:xfrm>
            <a:off x="4224528" y="4069080"/>
            <a:ext cx="3474720" cy="20574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24528" y="4069080"/>
            <a:ext cx="64008" cy="20574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25696" y="423367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1" name="TextBox 30"/>
          <p:cNvSpPr txBox="1"/>
          <p:nvPr/>
        </p:nvSpPr>
        <p:spPr>
          <a:xfrm>
            <a:off x="4425696" y="469087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Ra quyết định thiếu dữ liệu</a:t>
            </a:r>
          </a:p>
        </p:txBody>
      </p:sp>
      <p:sp>
        <p:nvSpPr>
          <p:cNvPr id="32" name="TextBox 31"/>
          <p:cNvSpPr txBox="1"/>
          <p:nvPr/>
        </p:nvSpPr>
        <p:spPr>
          <a:xfrm>
            <a:off x="4425696" y="5001768"/>
            <a:ext cx="3118103" cy="10149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Lãnh đạo không có một bức tranh khách hàng thống nhất, realtime để điều hành.</a:t>
            </a:r>
          </a:p>
        </p:txBody>
      </p:sp>
      <p:sp>
        <p:nvSpPr>
          <p:cNvPr id="33" name="Rectangle 32"/>
          <p:cNvSpPr/>
          <p:nvPr/>
        </p:nvSpPr>
        <p:spPr>
          <a:xfrm>
            <a:off x="7882127" y="4069080"/>
            <a:ext cx="3474720" cy="20574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82127" y="4069080"/>
            <a:ext cx="64008" cy="20574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83296" y="423367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6" name="TextBox 35"/>
          <p:cNvSpPr txBox="1"/>
          <p:nvPr/>
        </p:nvSpPr>
        <p:spPr>
          <a:xfrm>
            <a:off x="8083296" y="469087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Rủi ro tuân thủ &amp; quyền riêng tư</a:t>
            </a:r>
          </a:p>
        </p:txBody>
      </p:sp>
      <p:sp>
        <p:nvSpPr>
          <p:cNvPr id="37" name="TextBox 36"/>
          <p:cNvSpPr txBox="1"/>
          <p:nvPr/>
        </p:nvSpPr>
        <p:spPr>
          <a:xfrm>
            <a:off x="8083296" y="5001768"/>
            <a:ext cx="3118103" cy="10149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Không quản trị đồng ý (consent) tập trung khi luật dữ liệu ngày càng chặt.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TỪ PHÂN MẢNH ĐẾN MỘT SỰ THẬT DUY NHẤT</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Giải pháp: Nền tảng CDP hợp nhất</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a:t>
            </a:r>
          </a:p>
        </p:txBody>
      </p:sp>
      <p:sp>
        <p:nvSpPr>
          <p:cNvPr id="8" name="Rectangle 7"/>
          <p:cNvSpPr/>
          <p:nvPr/>
        </p:nvSpPr>
        <p:spPr>
          <a:xfrm>
            <a:off x="566928" y="1920240"/>
            <a:ext cx="5029200" cy="35661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20240"/>
            <a:ext cx="5029200" cy="548640"/>
          </a:xfrm>
          <a:prstGeom prst="rect">
            <a:avLst/>
          </a:prstGeom>
          <a:solidFill>
            <a:srgbClr val="E7D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46634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50" b="1" i="0">
                <a:solidFill>
                  <a:srgbClr val="2E2E40"/>
                </a:solidFill>
                <a:latin typeface="Calibri"/>
              </a:rPr>
              <a:t>TRƯỚC — Dữ liệu phân mảnh</a:t>
            </a:r>
          </a:p>
        </p:txBody>
      </p:sp>
      <p:sp>
        <p:nvSpPr>
          <p:cNvPr id="11" name="TextBox 10"/>
          <p:cNvSpPr txBox="1"/>
          <p:nvPr/>
        </p:nvSpPr>
        <p:spPr>
          <a:xfrm>
            <a:off x="822960" y="2651760"/>
            <a:ext cx="4572000" cy="2743200"/>
          </a:xfrm>
          <a:prstGeom prst="rect">
            <a:avLst/>
          </a:prstGeom>
          <a:noFill/>
        </p:spPr>
        <p:txBody>
          <a:bodyPr wrap="square" lIns="25400" rIns="25400" tIns="25400">
            <a:spAutoFit/>
          </a:bodyPr>
          <a:lstStyle/>
          <a:p>
            <a:pPr>
              <a:lnSpc>
                <a:spcPct val="105000"/>
              </a:lnSpc>
              <a:spcBef>
                <a:spcPts val="0"/>
              </a:spcBef>
              <a:spcAft>
                <a:spcPts val="1300"/>
              </a:spcAft>
            </a:pPr>
            <a:r>
              <a:rPr sz="1100" b="1">
                <a:solidFill>
                  <a:srgbClr val="565564"/>
                </a:solidFill>
                <a:latin typeface="Calibri"/>
              </a:rPr>
              <a:t>–  </a:t>
            </a:r>
            <a:r>
              <a:rPr sz="1300">
                <a:solidFill>
                  <a:srgbClr val="1B1B2E"/>
                </a:solidFill>
                <a:latin typeface="Calibri"/>
              </a:rPr>
              <a:t>Givral thấy 1 số điện thoại</a:t>
            </a:r>
          </a:p>
          <a:p>
            <a:pPr>
              <a:lnSpc>
                <a:spcPct val="105000"/>
              </a:lnSpc>
              <a:spcBef>
                <a:spcPts val="0"/>
              </a:spcBef>
              <a:spcAft>
                <a:spcPts val="1300"/>
              </a:spcAft>
            </a:pPr>
            <a:r>
              <a:rPr sz="1100" b="1">
                <a:solidFill>
                  <a:srgbClr val="565564"/>
                </a:solidFill>
                <a:latin typeface="Calibri"/>
              </a:rPr>
              <a:t>–  </a:t>
            </a:r>
            <a:r>
              <a:rPr sz="1300">
                <a:solidFill>
                  <a:srgbClr val="1B1B2E"/>
                </a:solidFill>
                <a:latin typeface="Calibri"/>
              </a:rPr>
              <a:t>Dusit thấy 1 email khác</a:t>
            </a:r>
          </a:p>
          <a:p>
            <a:pPr>
              <a:lnSpc>
                <a:spcPct val="105000"/>
              </a:lnSpc>
              <a:spcBef>
                <a:spcPts val="0"/>
              </a:spcBef>
              <a:spcAft>
                <a:spcPts val="1300"/>
              </a:spcAft>
            </a:pPr>
            <a:r>
              <a:rPr sz="1100" b="1">
                <a:solidFill>
                  <a:srgbClr val="565564"/>
                </a:solidFill>
                <a:latin typeface="Calibri"/>
              </a:rPr>
              <a:t>–  </a:t>
            </a:r>
            <a:r>
              <a:rPr sz="1300">
                <a:solidFill>
                  <a:srgbClr val="1B1B2E"/>
                </a:solidFill>
                <a:latin typeface="Calibri"/>
              </a:rPr>
              <a:t>Kem Tràng Tiền thấy 1 khách vãng lai</a:t>
            </a:r>
          </a:p>
          <a:p>
            <a:pPr>
              <a:lnSpc>
                <a:spcPct val="105000"/>
              </a:lnSpc>
              <a:spcBef>
                <a:spcPts val="0"/>
              </a:spcBef>
              <a:spcAft>
                <a:spcPts val="1300"/>
              </a:spcAft>
            </a:pPr>
            <a:r>
              <a:rPr sz="1100" b="1">
                <a:solidFill>
                  <a:srgbClr val="565564"/>
                </a:solidFill>
                <a:latin typeface="Calibri"/>
              </a:rPr>
              <a:t>–  </a:t>
            </a:r>
            <a:r>
              <a:rPr sz="1300">
                <a:solidFill>
                  <a:srgbClr val="1B1B2E"/>
                </a:solidFill>
                <a:latin typeface="Calibri"/>
              </a:rPr>
              <a:t>→ 3 mảnh rời của CÙNG một người</a:t>
            </a:r>
          </a:p>
        </p:txBody>
      </p:sp>
      <p:sp>
        <p:nvSpPr>
          <p:cNvPr id="12" name="Rectangle 11"/>
          <p:cNvSpPr/>
          <p:nvPr/>
        </p:nvSpPr>
        <p:spPr>
          <a:xfrm>
            <a:off x="6583680" y="1920240"/>
            <a:ext cx="5029200" cy="3566160"/>
          </a:xfrm>
          <a:prstGeom prst="rect">
            <a:avLst/>
          </a:prstGeom>
          <a:solidFill>
            <a:srgbClr val="FFFFFF"/>
          </a:solidFill>
          <a:ln w="19050">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1920240"/>
            <a:ext cx="5029200" cy="5486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1920240"/>
            <a:ext cx="46634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50" b="1" i="0">
                <a:solidFill>
                  <a:srgbClr val="2E2E40"/>
                </a:solidFill>
                <a:latin typeface="Calibri"/>
              </a:rPr>
              <a:t>SAU — Một OCH ID duy nhất</a:t>
            </a:r>
          </a:p>
        </p:txBody>
      </p:sp>
      <p:sp>
        <p:nvSpPr>
          <p:cNvPr id="15" name="TextBox 14"/>
          <p:cNvSpPr txBox="1"/>
          <p:nvPr/>
        </p:nvSpPr>
        <p:spPr>
          <a:xfrm>
            <a:off x="6858000" y="2651760"/>
            <a:ext cx="4572000" cy="2743200"/>
          </a:xfrm>
          <a:prstGeom prst="rect">
            <a:avLst/>
          </a:prstGeom>
          <a:noFill/>
        </p:spPr>
        <p:txBody>
          <a:bodyPr wrap="square" lIns="25400" rIns="25400" tIns="25400">
            <a:spAutoFit/>
          </a:bodyPr>
          <a:lstStyle/>
          <a:p>
            <a:pPr>
              <a:lnSpc>
                <a:spcPct val="105000"/>
              </a:lnSpc>
              <a:spcBef>
                <a:spcPts val="0"/>
              </a:spcBef>
              <a:spcAft>
                <a:spcPts val="1100"/>
              </a:spcAft>
            </a:pPr>
            <a:r>
              <a:rPr sz="1050" b="1">
                <a:solidFill>
                  <a:srgbClr val="C39851"/>
                </a:solidFill>
                <a:latin typeface="Calibri"/>
              </a:rPr>
              <a:t>●  </a:t>
            </a:r>
            <a:r>
              <a:rPr sz="1250" b="1">
                <a:solidFill>
                  <a:srgbClr val="2E2E40"/>
                </a:solidFill>
                <a:latin typeface="Calibri"/>
              </a:rPr>
              <a:t>Một mã khách hàng duy nhất</a:t>
            </a:r>
            <a:r>
              <a:rPr sz="1250">
                <a:solidFill>
                  <a:srgbClr val="1B1B2E"/>
                </a:solidFill>
                <a:latin typeface="Calibri"/>
              </a:rPr>
              <a:t> — gộp mọi thương hiệu</a:t>
            </a:r>
          </a:p>
          <a:p>
            <a:pPr>
              <a:lnSpc>
                <a:spcPct val="105000"/>
              </a:lnSpc>
              <a:spcBef>
                <a:spcPts val="0"/>
              </a:spcBef>
              <a:spcAft>
                <a:spcPts val="1100"/>
              </a:spcAft>
            </a:pPr>
            <a:r>
              <a:rPr sz="1050" b="1">
                <a:solidFill>
                  <a:srgbClr val="C39851"/>
                </a:solidFill>
                <a:latin typeface="Calibri"/>
              </a:rPr>
              <a:t>●  </a:t>
            </a:r>
            <a:r>
              <a:rPr sz="1250" b="1">
                <a:solidFill>
                  <a:srgbClr val="2E2E40"/>
                </a:solidFill>
                <a:latin typeface="Calibri"/>
              </a:rPr>
              <a:t>Hồ sơ 360°</a:t>
            </a:r>
            <a:r>
              <a:rPr sz="1250">
                <a:solidFill>
                  <a:srgbClr val="1B1B2E"/>
                </a:solidFill>
                <a:latin typeface="Calibri"/>
              </a:rPr>
              <a:t> — toàn bộ hành trình trong một nơi</a:t>
            </a:r>
          </a:p>
          <a:p>
            <a:pPr>
              <a:lnSpc>
                <a:spcPct val="105000"/>
              </a:lnSpc>
              <a:spcBef>
                <a:spcPts val="0"/>
              </a:spcBef>
              <a:spcAft>
                <a:spcPts val="1100"/>
              </a:spcAft>
            </a:pPr>
            <a:r>
              <a:rPr sz="1050" b="1">
                <a:solidFill>
                  <a:srgbClr val="C39851"/>
                </a:solidFill>
                <a:latin typeface="Calibri"/>
              </a:rPr>
              <a:t>●  </a:t>
            </a:r>
            <a:r>
              <a:rPr sz="1250" b="1">
                <a:solidFill>
                  <a:srgbClr val="2E2E40"/>
                </a:solidFill>
                <a:latin typeface="Calibri"/>
              </a:rPr>
              <a:t>Hạng &amp; giá trị tổng thể</a:t>
            </a:r>
            <a:r>
              <a:rPr sz="1250">
                <a:solidFill>
                  <a:srgbClr val="1B1B2E"/>
                </a:solidFill>
                <a:latin typeface="Calibri"/>
              </a:rPr>
              <a:t> — nhìn đúng khách VIP toàn tập đoàn</a:t>
            </a:r>
          </a:p>
          <a:p>
            <a:pPr>
              <a:lnSpc>
                <a:spcPct val="105000"/>
              </a:lnSpc>
              <a:spcBef>
                <a:spcPts val="0"/>
              </a:spcBef>
              <a:spcAft>
                <a:spcPts val="1100"/>
              </a:spcAft>
            </a:pPr>
            <a:r>
              <a:rPr sz="1050" b="1">
                <a:solidFill>
                  <a:srgbClr val="C39851"/>
                </a:solidFill>
                <a:latin typeface="Calibri"/>
              </a:rPr>
              <a:t>●  </a:t>
            </a:r>
            <a:r>
              <a:rPr sz="1250" b="1">
                <a:solidFill>
                  <a:srgbClr val="2E2E40"/>
                </a:solidFill>
                <a:latin typeface="Calibri"/>
              </a:rPr>
              <a:t>Sẵn sàng hành động</a:t>
            </a:r>
            <a:r>
              <a:rPr sz="1250">
                <a:solidFill>
                  <a:srgbClr val="1B1B2E"/>
                </a:solidFill>
                <a:latin typeface="Calibri"/>
              </a:rPr>
              <a:t> — cá nhân hoá &amp; bán chéo</a:t>
            </a:r>
          </a:p>
        </p:txBody>
      </p:sp>
      <p:sp>
        <p:nvSpPr>
          <p:cNvPr id="16" name="TextBox 15"/>
          <p:cNvSpPr txBox="1"/>
          <p:nvPr/>
        </p:nvSpPr>
        <p:spPr>
          <a:xfrm>
            <a:off x="566928" y="5669280"/>
            <a:ext cx="10972800" cy="6400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400" b="1" i="0">
                <a:solidFill>
                  <a:srgbClr val="C39851"/>
                </a:solidFill>
                <a:latin typeface="Calibri"/>
              </a:rPr>
              <a:t>OCH ID</a:t>
            </a:r>
            <a:r>
              <a:rPr sz="1400" b="0" i="0">
                <a:solidFill>
                  <a:srgbClr val="2E2E40"/>
                </a:solidFill>
                <a:latin typeface="Calibri"/>
              </a:rPr>
              <a:t>  =  một mã khách hàng duy nhất, hợp nhất mọi thương hiệu — nền tảng cho tất cả năng lực còn lại.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BỐN TRỤ CỘT CHÍNH</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Giá trị mang lại cho OCH</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5</a:t>
            </a:r>
          </a:p>
        </p:txBody>
      </p:sp>
      <p:sp>
        <p:nvSpPr>
          <p:cNvPr id="8" name="Rectangle 7"/>
          <p:cNvSpPr/>
          <p:nvPr/>
        </p:nvSpPr>
        <p:spPr>
          <a:xfrm>
            <a:off x="566928" y="1965960"/>
            <a:ext cx="525780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659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30552"/>
            <a:ext cx="505663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1" name="TextBox 10"/>
          <p:cNvSpPr txBox="1"/>
          <p:nvPr/>
        </p:nvSpPr>
        <p:spPr>
          <a:xfrm>
            <a:off x="768096" y="2587752"/>
            <a:ext cx="49469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2E2E40"/>
                </a:solidFill>
                <a:latin typeface="Calibri"/>
              </a:rPr>
              <a:t>Một OCH ID duy nhất</a:t>
            </a:r>
          </a:p>
        </p:txBody>
      </p:sp>
      <p:sp>
        <p:nvSpPr>
          <p:cNvPr id="12" name="TextBox 11"/>
          <p:cNvSpPr txBox="1"/>
          <p:nvPr/>
        </p:nvSpPr>
        <p:spPr>
          <a:xfrm>
            <a:off x="768096" y="2971800"/>
            <a:ext cx="4901183" cy="804672"/>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300" b="0" i="0">
                <a:solidFill>
                  <a:srgbClr val="565564"/>
                </a:solidFill>
                <a:latin typeface="Calibri"/>
              </a:rPr>
              <a:t>Nhận diện đúng một khách xuyên mọi thương hiệu.</a:t>
            </a:r>
          </a:p>
        </p:txBody>
      </p:sp>
      <p:sp>
        <p:nvSpPr>
          <p:cNvPr id="13" name="Rectangle 12"/>
          <p:cNvSpPr/>
          <p:nvPr/>
        </p:nvSpPr>
        <p:spPr>
          <a:xfrm>
            <a:off x="6099048" y="1965960"/>
            <a:ext cx="525780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9048" y="19659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0216" y="2130552"/>
            <a:ext cx="505663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6" name="TextBox 15"/>
          <p:cNvSpPr txBox="1"/>
          <p:nvPr/>
        </p:nvSpPr>
        <p:spPr>
          <a:xfrm>
            <a:off x="6300216" y="2587752"/>
            <a:ext cx="49469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2E2E40"/>
                </a:solidFill>
                <a:latin typeface="Calibri"/>
              </a:rPr>
              <a:t>Loyalty hợp nhất</a:t>
            </a:r>
          </a:p>
        </p:txBody>
      </p:sp>
      <p:sp>
        <p:nvSpPr>
          <p:cNvPr id="17" name="TextBox 16"/>
          <p:cNvSpPr txBox="1"/>
          <p:nvPr/>
        </p:nvSpPr>
        <p:spPr>
          <a:xfrm>
            <a:off x="6300216" y="2971800"/>
            <a:ext cx="4901183" cy="804672"/>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300" b="0" i="0">
                <a:solidFill>
                  <a:srgbClr val="565564"/>
                </a:solidFill>
                <a:latin typeface="Calibri"/>
              </a:rPr>
              <a:t>Tích &amp; đổi điểm dùng chung — giữ chân cả hệ sinh thái.</a:t>
            </a:r>
          </a:p>
        </p:txBody>
      </p:sp>
      <p:sp>
        <p:nvSpPr>
          <p:cNvPr id="18" name="Rectangle 17"/>
          <p:cNvSpPr/>
          <p:nvPr/>
        </p:nvSpPr>
        <p:spPr>
          <a:xfrm>
            <a:off x="566928" y="4114800"/>
            <a:ext cx="525780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11480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279392"/>
            <a:ext cx="505663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1" name="TextBox 20"/>
          <p:cNvSpPr txBox="1"/>
          <p:nvPr/>
        </p:nvSpPr>
        <p:spPr>
          <a:xfrm>
            <a:off x="768096" y="4736592"/>
            <a:ext cx="49469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2E2E40"/>
                </a:solidFill>
                <a:latin typeface="Calibri"/>
              </a:rPr>
              <a:t>Marketing tự động</a:t>
            </a:r>
          </a:p>
        </p:txBody>
      </p:sp>
      <p:sp>
        <p:nvSpPr>
          <p:cNvPr id="22" name="TextBox 21"/>
          <p:cNvSpPr txBox="1"/>
          <p:nvPr/>
        </p:nvSpPr>
        <p:spPr>
          <a:xfrm>
            <a:off x="768096" y="5120640"/>
            <a:ext cx="4901183" cy="804672"/>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300" b="0" i="0">
                <a:solidFill>
                  <a:srgbClr val="565564"/>
                </a:solidFill>
                <a:latin typeface="Calibri"/>
              </a:rPr>
              <a:t>Kịch bản cá nhân hoá chạy 24/7, đúng người đúng lúc.</a:t>
            </a:r>
          </a:p>
        </p:txBody>
      </p:sp>
      <p:sp>
        <p:nvSpPr>
          <p:cNvPr id="23" name="Rectangle 22"/>
          <p:cNvSpPr/>
          <p:nvPr/>
        </p:nvSpPr>
        <p:spPr>
          <a:xfrm>
            <a:off x="6099048" y="4114800"/>
            <a:ext cx="525780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9048" y="411480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0216" y="4279392"/>
            <a:ext cx="505663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6" name="TextBox 25"/>
          <p:cNvSpPr txBox="1"/>
          <p:nvPr/>
        </p:nvSpPr>
        <p:spPr>
          <a:xfrm>
            <a:off x="6300216" y="4736592"/>
            <a:ext cx="49469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2E2E40"/>
                </a:solidFill>
                <a:latin typeface="Calibri"/>
              </a:rPr>
              <a:t>AI bán chéo</a:t>
            </a:r>
          </a:p>
        </p:txBody>
      </p:sp>
      <p:sp>
        <p:nvSpPr>
          <p:cNvPr id="27" name="TextBox 26"/>
          <p:cNvSpPr txBox="1"/>
          <p:nvPr/>
        </p:nvSpPr>
        <p:spPr>
          <a:xfrm>
            <a:off x="6300216" y="5120640"/>
            <a:ext cx="4901183" cy="804672"/>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300" b="0" i="0">
                <a:solidFill>
                  <a:srgbClr val="565564"/>
                </a:solidFill>
                <a:latin typeface="Calibri"/>
              </a:rPr>
              <a:t>Gợi ý F&amp;B ↔ Khách sạn — tăng doanh thu trên mỗi khách.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TỪ DỮ LIỆU RỜI RẠC ĐẾN HÀNH ĐỘNG KINH DOANH</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Bức tranh tổng thể</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6</a:t>
            </a:r>
          </a:p>
        </p:txBody>
      </p:sp>
      <p:sp>
        <p:nvSpPr>
          <p:cNvPr id="8" name="TextBox 7"/>
          <p:cNvSpPr txBox="1"/>
          <p:nvPr/>
        </p:nvSpPr>
        <p:spPr>
          <a:xfrm>
            <a:off x="566928" y="1783080"/>
            <a:ext cx="274320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C39851"/>
                </a:solidFill>
                <a:latin typeface="Calibri"/>
              </a:rPr>
              <a:t>NGUỒN DỮ LIỆU</a:t>
            </a:r>
          </a:p>
        </p:txBody>
      </p:sp>
      <p:sp>
        <p:nvSpPr>
          <p:cNvPr id="9" name="Rectangle 8"/>
          <p:cNvSpPr/>
          <p:nvPr/>
        </p:nvSpPr>
        <p:spPr>
          <a:xfrm>
            <a:off x="566928" y="2148840"/>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48840"/>
            <a:ext cx="2606040" cy="54864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POS F&amp;B (Givral, KTT, Fuji)</a:t>
            </a:r>
          </a:p>
        </p:txBody>
      </p:sp>
      <p:sp>
        <p:nvSpPr>
          <p:cNvPr id="11" name="Rectangle 10"/>
          <p:cNvSpPr/>
          <p:nvPr/>
        </p:nvSpPr>
        <p:spPr>
          <a:xfrm>
            <a:off x="566928" y="2807208"/>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807208"/>
            <a:ext cx="2606040" cy="54864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PMS Khách sạn (Sunrise, StarCity, Dusit)</a:t>
            </a:r>
          </a:p>
        </p:txBody>
      </p:sp>
      <p:sp>
        <p:nvSpPr>
          <p:cNvPr id="13" name="Rectangle 12"/>
          <p:cNvSpPr/>
          <p:nvPr/>
        </p:nvSpPr>
        <p:spPr>
          <a:xfrm>
            <a:off x="566928" y="3465576"/>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65576"/>
            <a:ext cx="2606040" cy="54864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Website / Ứng dụng / E-commerce</a:t>
            </a:r>
          </a:p>
        </p:txBody>
      </p:sp>
      <p:sp>
        <p:nvSpPr>
          <p:cNvPr id="15" name="Rectangle 14"/>
          <p:cNvSpPr/>
          <p:nvPr/>
        </p:nvSpPr>
        <p:spPr>
          <a:xfrm>
            <a:off x="566928" y="4123944"/>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123944"/>
            <a:ext cx="2606040" cy="54864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Chăm sóc khách hàng (CSKH)</a:t>
            </a:r>
          </a:p>
        </p:txBody>
      </p:sp>
      <p:sp>
        <p:nvSpPr>
          <p:cNvPr id="17" name="Right Arrow 16"/>
          <p:cNvSpPr/>
          <p:nvPr/>
        </p:nvSpPr>
        <p:spPr>
          <a:xfrm>
            <a:off x="3456432" y="3154680"/>
            <a:ext cx="502920" cy="457200"/>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9080" y="1965960"/>
            <a:ext cx="4069080" cy="3337560"/>
          </a:xfrm>
          <a:prstGeom prst="rect">
            <a:avLst/>
          </a:prstGeom>
          <a:solidFill>
            <a:srgbClr val="FFFFFF"/>
          </a:solidFill>
          <a:ln w="19050">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69080" y="1965960"/>
            <a:ext cx="4069080" cy="50292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69080" y="1965960"/>
            <a:ext cx="4069080" cy="5029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500" b="1" i="0">
                <a:solidFill>
                  <a:srgbClr val="2E2E40"/>
                </a:solidFill>
                <a:latin typeface="Calibri"/>
              </a:rPr>
              <a:t>BỘ NÃO CDP</a:t>
            </a:r>
          </a:p>
        </p:txBody>
      </p:sp>
      <p:sp>
        <p:nvSpPr>
          <p:cNvPr id="21" name="Rounded Rectangle 20"/>
          <p:cNvSpPr/>
          <p:nvPr/>
        </p:nvSpPr>
        <p:spPr>
          <a:xfrm>
            <a:off x="4315968" y="2651760"/>
            <a:ext cx="3566160" cy="502920"/>
          </a:xfrm>
          <a:prstGeom prst="roundRect">
            <a:avLst/>
          </a:prstGeom>
          <a:solidFill>
            <a:srgbClr val="F7F6F2"/>
          </a:solidFill>
          <a:ln w="9525">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5968" y="2651760"/>
            <a:ext cx="3566160" cy="5029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① Hợp nhất định danh</a:t>
            </a:r>
          </a:p>
        </p:txBody>
      </p:sp>
      <p:sp>
        <p:nvSpPr>
          <p:cNvPr id="23" name="Rounded Rectangle 22"/>
          <p:cNvSpPr/>
          <p:nvPr/>
        </p:nvSpPr>
        <p:spPr>
          <a:xfrm>
            <a:off x="4315968" y="3273552"/>
            <a:ext cx="3566160" cy="502920"/>
          </a:xfrm>
          <a:prstGeom prst="roundRect">
            <a:avLst/>
          </a:prstGeom>
          <a:solidFill>
            <a:srgbClr val="F7F6F2"/>
          </a:solidFill>
          <a:ln w="9525">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15968" y="3273552"/>
            <a:ext cx="3566160" cy="5029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② Hồ sơ 360°</a:t>
            </a:r>
          </a:p>
        </p:txBody>
      </p:sp>
      <p:sp>
        <p:nvSpPr>
          <p:cNvPr id="25" name="Rounded Rectangle 24"/>
          <p:cNvSpPr/>
          <p:nvPr/>
        </p:nvSpPr>
        <p:spPr>
          <a:xfrm>
            <a:off x="4315968" y="3895344"/>
            <a:ext cx="3566160" cy="502920"/>
          </a:xfrm>
          <a:prstGeom prst="roundRect">
            <a:avLst/>
          </a:prstGeom>
          <a:solidFill>
            <a:srgbClr val="F7F6F2"/>
          </a:solidFill>
          <a:ln w="9525">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3895344"/>
            <a:ext cx="3566160" cy="5029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③ Phân khúc (Segment)</a:t>
            </a:r>
          </a:p>
        </p:txBody>
      </p:sp>
      <p:sp>
        <p:nvSpPr>
          <p:cNvPr id="27" name="Rounded Rectangle 26"/>
          <p:cNvSpPr/>
          <p:nvPr/>
        </p:nvSpPr>
        <p:spPr>
          <a:xfrm>
            <a:off x="4315968" y="4517136"/>
            <a:ext cx="3566160" cy="502920"/>
          </a:xfrm>
          <a:prstGeom prst="roundRect">
            <a:avLst/>
          </a:prstGeom>
          <a:solidFill>
            <a:srgbClr val="F7F6F2"/>
          </a:solidFill>
          <a:ln w="9525">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15968" y="4517136"/>
            <a:ext cx="3566160" cy="5029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④ Kích hoạt (Activation)</a:t>
            </a:r>
          </a:p>
        </p:txBody>
      </p:sp>
      <p:sp>
        <p:nvSpPr>
          <p:cNvPr id="29" name="Right Arrow 28"/>
          <p:cNvSpPr/>
          <p:nvPr/>
        </p:nvSpPr>
        <p:spPr>
          <a:xfrm>
            <a:off x="8211312" y="3154680"/>
            <a:ext cx="502920" cy="457200"/>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23960" y="1783080"/>
            <a:ext cx="292608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C39851"/>
                </a:solidFill>
                <a:latin typeface="Calibri"/>
              </a:rPr>
              <a:t>KÊNH KÍCH HOẠT</a:t>
            </a:r>
          </a:p>
        </p:txBody>
      </p:sp>
      <p:sp>
        <p:nvSpPr>
          <p:cNvPr id="31" name="Rectangle 30"/>
          <p:cNvSpPr/>
          <p:nvPr/>
        </p:nvSpPr>
        <p:spPr>
          <a:xfrm>
            <a:off x="8823960" y="2148840"/>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42832" y="2148840"/>
            <a:ext cx="26060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050" b="0" i="0">
                <a:solidFill>
                  <a:srgbClr val="1B1B2E"/>
                </a:solidFill>
                <a:latin typeface="Calibri"/>
              </a:rPr>
              <a:t>Email / SMS</a:t>
            </a:r>
          </a:p>
        </p:txBody>
      </p:sp>
      <p:sp>
        <p:nvSpPr>
          <p:cNvPr id="33" name="Rectangle 32"/>
          <p:cNvSpPr/>
          <p:nvPr/>
        </p:nvSpPr>
        <p:spPr>
          <a:xfrm>
            <a:off x="8823960" y="2807208"/>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42832" y="2807208"/>
            <a:ext cx="26060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050" b="0" i="0">
                <a:solidFill>
                  <a:srgbClr val="1B1B2E"/>
                </a:solidFill>
                <a:latin typeface="Calibri"/>
              </a:rPr>
              <a:t>Zalo ZNS</a:t>
            </a:r>
          </a:p>
        </p:txBody>
      </p:sp>
      <p:sp>
        <p:nvSpPr>
          <p:cNvPr id="35" name="Rectangle 34"/>
          <p:cNvSpPr/>
          <p:nvPr/>
        </p:nvSpPr>
        <p:spPr>
          <a:xfrm>
            <a:off x="8823960" y="3465576"/>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42832" y="3465576"/>
            <a:ext cx="26060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050" b="0" i="0">
                <a:solidFill>
                  <a:srgbClr val="1B1B2E"/>
                </a:solidFill>
                <a:latin typeface="Calibri"/>
              </a:rPr>
              <a:t>Quảng cáo Google / Meta</a:t>
            </a:r>
          </a:p>
        </p:txBody>
      </p:sp>
      <p:sp>
        <p:nvSpPr>
          <p:cNvPr id="37" name="Rectangle 36"/>
          <p:cNvSpPr/>
          <p:nvPr/>
        </p:nvSpPr>
        <p:spPr>
          <a:xfrm>
            <a:off x="8823960" y="4123944"/>
            <a:ext cx="2788920" cy="5486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42832" y="4123944"/>
            <a:ext cx="2606040" cy="5486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050" b="0" i="0">
                <a:solidFill>
                  <a:srgbClr val="1B1B2E"/>
                </a:solidFill>
                <a:latin typeface="Calibri"/>
              </a:rPr>
              <a:t>BI / Kho dữ liệu</a:t>
            </a:r>
          </a:p>
        </p:txBody>
      </p:sp>
      <p:sp>
        <p:nvSpPr>
          <p:cNvPr id="39" name="Rounded Rectangle 38"/>
          <p:cNvSpPr/>
          <p:nvPr/>
        </p:nvSpPr>
        <p:spPr>
          <a:xfrm>
            <a:off x="566928" y="5532120"/>
            <a:ext cx="11064240" cy="777240"/>
          </a:xfrm>
          <a:prstGeom prst="roundRect">
            <a:avLst/>
          </a:prstGeom>
          <a:solidFill>
            <a:srgbClr val="E7D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532120"/>
            <a:ext cx="10607040" cy="777240"/>
          </a:xfrm>
          <a:prstGeom prst="rect">
            <a:avLst/>
          </a:prstGeom>
          <a:noFill/>
        </p:spPr>
        <p:txBody>
          <a:bodyPr wrap="square" anchor="ctr" lIns="25400" rIns="25400" tIns="12700" bIns="12700">
            <a:spAutoFit/>
          </a:bodyPr>
          <a:lstStyle/>
          <a:p>
            <a:pPr algn="l">
              <a:lnSpc>
                <a:spcPct val="105000"/>
              </a:lnSpc>
              <a:spcBef>
                <a:spcPts val="0"/>
              </a:spcBef>
              <a:spcAft>
                <a:spcPts val="400"/>
              </a:spcAft>
            </a:pPr>
            <a:r>
              <a:rPr sz="1250" b="1" i="0">
                <a:solidFill>
                  <a:srgbClr val="2E2E40"/>
                </a:solidFill>
                <a:latin typeface="Calibri"/>
              </a:rPr>
              <a:t>Đọc như câu chuyện: </a:t>
            </a:r>
            <a:r>
              <a:rPr sz="1250" b="0" i="0">
                <a:solidFill>
                  <a:srgbClr val="1B1B2E"/>
                </a:solidFill>
                <a:latin typeface="Calibri"/>
              </a:rPr>
              <a:t>dữ liệu rời rạc từ mọi thương hiệu → được hợp nhất thành hồ sơ khách 360° → chia thành nhóm khách → gửi đúng thông điệp ra đúng kênh.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CDP LÀ TRUNG TÂM — KẾT NỐI VÀO VÀ RA</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Mô hình kết nối &amp; tích hợp</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7</a:t>
            </a:r>
          </a:p>
        </p:txBody>
      </p:sp>
      <p:sp>
        <p:nvSpPr>
          <p:cNvPr id="8" name="TextBox 7"/>
          <p:cNvSpPr txBox="1"/>
          <p:nvPr/>
        </p:nvSpPr>
        <p:spPr>
          <a:xfrm>
            <a:off x="566928" y="1737360"/>
            <a:ext cx="32918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C39851"/>
                </a:solidFill>
                <a:latin typeface="Calibri"/>
              </a:rPr>
              <a:t>INBOUND · Đưa dữ liệu VÀO</a:t>
            </a:r>
          </a:p>
        </p:txBody>
      </p:sp>
      <p:sp>
        <p:nvSpPr>
          <p:cNvPr id="9" name="Rectangle 8"/>
          <p:cNvSpPr/>
          <p:nvPr/>
        </p:nvSpPr>
        <p:spPr>
          <a:xfrm>
            <a:off x="566928" y="2103120"/>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03120"/>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POS F&amp;B — Givral · KTT · Fuji</a:t>
            </a:r>
          </a:p>
        </p:txBody>
      </p:sp>
      <p:sp>
        <p:nvSpPr>
          <p:cNvPr id="11" name="Rectangle 10"/>
          <p:cNvSpPr/>
          <p:nvPr/>
        </p:nvSpPr>
        <p:spPr>
          <a:xfrm>
            <a:off x="566928" y="2816352"/>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816352"/>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PMS Khách sạn — Sunrise · StarCity · Dusit</a:t>
            </a:r>
          </a:p>
        </p:txBody>
      </p:sp>
      <p:sp>
        <p:nvSpPr>
          <p:cNvPr id="13" name="Rectangle 12"/>
          <p:cNvSpPr/>
          <p:nvPr/>
        </p:nvSpPr>
        <p:spPr>
          <a:xfrm>
            <a:off x="566928" y="3529584"/>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529584"/>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Web · App · E-commerce</a:t>
            </a:r>
          </a:p>
        </p:txBody>
      </p:sp>
      <p:sp>
        <p:nvSpPr>
          <p:cNvPr id="15" name="Rectangle 14"/>
          <p:cNvSpPr/>
          <p:nvPr/>
        </p:nvSpPr>
        <p:spPr>
          <a:xfrm>
            <a:off x="566928" y="4242816"/>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242816"/>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Form đăng ký · CSKH · Call center</a:t>
            </a:r>
          </a:p>
        </p:txBody>
      </p:sp>
      <p:sp>
        <p:nvSpPr>
          <p:cNvPr id="17" name="Right Arrow 16"/>
          <p:cNvSpPr/>
          <p:nvPr/>
        </p:nvSpPr>
        <p:spPr>
          <a:xfrm>
            <a:off x="3931920" y="3063240"/>
            <a:ext cx="457200" cy="457200"/>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26280" y="2331720"/>
            <a:ext cx="3154680" cy="2468880"/>
          </a:xfrm>
          <a:prstGeom prst="rect">
            <a:avLst/>
          </a:prstGeom>
          <a:solidFill>
            <a:srgbClr val="FFFFFF"/>
          </a:solidFill>
          <a:ln w="22225">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26280" y="2331720"/>
            <a:ext cx="3154680" cy="12801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80" y="2560320"/>
            <a:ext cx="3154680" cy="914400"/>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3000" b="1" i="0">
                <a:solidFill>
                  <a:srgbClr val="2E2E40"/>
                </a:solidFill>
                <a:latin typeface="Georgia"/>
              </a:rPr>
              <a:t>OCH</a:t>
            </a:r>
          </a:p>
          <a:p>
            <a:pPr algn="ctr">
              <a:lnSpc>
                <a:spcPct val="90000"/>
              </a:lnSpc>
              <a:spcBef>
                <a:spcPts val="0"/>
              </a:spcBef>
              <a:spcAft>
                <a:spcPts val="400"/>
              </a:spcAft>
            </a:pPr>
            <a:r>
              <a:rPr sz="2000" b="1" i="0">
                <a:solidFill>
                  <a:srgbClr val="C39851"/>
                </a:solidFill>
                <a:latin typeface="Georgia"/>
              </a:rPr>
              <a:t>CDP</a:t>
            </a:r>
          </a:p>
        </p:txBody>
      </p:sp>
      <p:sp>
        <p:nvSpPr>
          <p:cNvPr id="21" name="TextBox 20"/>
          <p:cNvSpPr txBox="1"/>
          <p:nvPr/>
        </p:nvSpPr>
        <p:spPr>
          <a:xfrm>
            <a:off x="4663440" y="3977639"/>
            <a:ext cx="2880360" cy="77724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100" b="0" i="0">
                <a:solidFill>
                  <a:srgbClr val="565564"/>
                </a:solidFill>
                <a:latin typeface="Calibri"/>
              </a:rPr>
              <a:t>Hợp nhất · Hồ sơ 360° · Phân khúc · Kích hoạt</a:t>
            </a:r>
          </a:p>
        </p:txBody>
      </p:sp>
      <p:sp>
        <p:nvSpPr>
          <p:cNvPr id="22" name="Right Arrow 21"/>
          <p:cNvSpPr/>
          <p:nvPr/>
        </p:nvSpPr>
        <p:spPr>
          <a:xfrm>
            <a:off x="7772400" y="3063240"/>
            <a:ext cx="457200" cy="457200"/>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6760" y="1737360"/>
            <a:ext cx="32918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C39851"/>
                </a:solidFill>
                <a:latin typeface="Calibri"/>
              </a:rPr>
              <a:t>OUTBOUND · Đưa dữ liệu RA</a:t>
            </a:r>
          </a:p>
        </p:txBody>
      </p:sp>
      <p:sp>
        <p:nvSpPr>
          <p:cNvPr id="24" name="Rectangle 23"/>
          <p:cNvSpPr/>
          <p:nvPr/>
        </p:nvSpPr>
        <p:spPr>
          <a:xfrm>
            <a:off x="8366760" y="2103120"/>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85632" y="2103120"/>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Email · SMS</a:t>
            </a:r>
          </a:p>
        </p:txBody>
      </p:sp>
      <p:sp>
        <p:nvSpPr>
          <p:cNvPr id="26" name="Rectangle 25"/>
          <p:cNvSpPr/>
          <p:nvPr/>
        </p:nvSpPr>
        <p:spPr>
          <a:xfrm>
            <a:off x="8366760" y="2816352"/>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85632" y="2816352"/>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Zalo ZNS (kênh Việt Nam)</a:t>
            </a:r>
          </a:p>
        </p:txBody>
      </p:sp>
      <p:sp>
        <p:nvSpPr>
          <p:cNvPr id="28" name="Rectangle 27"/>
          <p:cNvSpPr/>
          <p:nvPr/>
        </p:nvSpPr>
        <p:spPr>
          <a:xfrm>
            <a:off x="8366760" y="3529584"/>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85632" y="3529584"/>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Quảng cáo Google · Meta</a:t>
            </a:r>
          </a:p>
        </p:txBody>
      </p:sp>
      <p:sp>
        <p:nvSpPr>
          <p:cNvPr id="30" name="Rectangle 29"/>
          <p:cNvSpPr/>
          <p:nvPr/>
        </p:nvSpPr>
        <p:spPr>
          <a:xfrm>
            <a:off x="8366760" y="4242816"/>
            <a:ext cx="3246120" cy="5943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85632" y="4242816"/>
            <a:ext cx="3063240" cy="594360"/>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0">
                <a:solidFill>
                  <a:srgbClr val="1B1B2E"/>
                </a:solidFill>
                <a:latin typeface="Calibri"/>
              </a:rPr>
              <a:t>Kho dữ liệu · BI · Loyalty/CRM</a:t>
            </a:r>
          </a:p>
        </p:txBody>
      </p:sp>
      <p:sp>
        <p:nvSpPr>
          <p:cNvPr id="32" name="Rectangle 31"/>
          <p:cNvSpPr/>
          <p:nvPr/>
        </p:nvSpPr>
        <p:spPr>
          <a:xfrm>
            <a:off x="566928" y="5440680"/>
            <a:ext cx="11064240" cy="8686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440680"/>
            <a:ext cx="82296" cy="8686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440680"/>
            <a:ext cx="10607040" cy="868680"/>
          </a:xfrm>
          <a:prstGeom prst="rect">
            <a:avLst/>
          </a:prstGeom>
          <a:noFill/>
        </p:spPr>
        <p:txBody>
          <a:bodyPr wrap="square" anchor="ctr" lIns="25400" rIns="25400" tIns="12700" bIns="12700">
            <a:spAutoFit/>
          </a:bodyPr>
          <a:lstStyle/>
          <a:p>
            <a:pPr algn="l">
              <a:lnSpc>
                <a:spcPct val="105000"/>
              </a:lnSpc>
              <a:spcBef>
                <a:spcPts val="0"/>
              </a:spcBef>
              <a:spcAft>
                <a:spcPts val="400"/>
              </a:spcAft>
            </a:pPr>
            <a:r>
              <a:rPr sz="1200" b="1" i="0">
                <a:solidFill>
                  <a:srgbClr val="2E2E40"/>
                </a:solidFill>
                <a:latin typeface="Calibri"/>
              </a:rPr>
              <a:t>Hai chế độ kết nối: </a:t>
            </a:r>
            <a:r>
              <a:rPr sz="1200" b="0" i="0">
                <a:solidFill>
                  <a:srgbClr val="1B1B2E"/>
                </a:solidFill>
                <a:latin typeface="Calibri"/>
              </a:rPr>
              <a:t>realtime (tức thời khi có giao dịch) và theo lô (đồng bộ định kỳ). </a:t>
            </a:r>
            <a:r>
              <a:rPr sz="1200" b="1" i="0">
                <a:solidFill>
                  <a:srgbClr val="2F7D5B"/>
                </a:solidFill>
                <a:latin typeface="Calibri"/>
              </a:rPr>
              <a:t>Cổng đồng ý (consent) </a:t>
            </a:r>
            <a:r>
              <a:rPr sz="1200" b="0" i="0">
                <a:solidFill>
                  <a:srgbClr val="1B1B2E"/>
                </a:solidFill>
                <a:latin typeface="Calibri"/>
              </a:rPr>
              <a:t>đặt ở khâu KÍCH HOẠT: dữ liệu luôn được thu nhận đầy đủ, nhưng chỉ khách đã đồng ý mới được nhắm tới khi gửi đi.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TỔNG QUAN NỀN TẢNG OCH CDP</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11 không gian làm việc (workspace)</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8</a:t>
            </a:r>
          </a:p>
        </p:txBody>
      </p:sp>
      <p:sp>
        <p:nvSpPr>
          <p:cNvPr id="8" name="Rectangle 7"/>
          <p:cNvSpPr/>
          <p:nvPr/>
        </p:nvSpPr>
        <p:spPr>
          <a:xfrm>
            <a:off x="566928" y="1874519"/>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1984248"/>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Control Tower</a:t>
            </a:r>
          </a:p>
        </p:txBody>
      </p:sp>
      <p:sp>
        <p:nvSpPr>
          <p:cNvPr id="11" name="TextBox 10"/>
          <p:cNvSpPr txBox="1"/>
          <p:nvPr/>
        </p:nvSpPr>
        <p:spPr>
          <a:xfrm>
            <a:off x="713232" y="2441448"/>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Bảng điều khiển realtime toàn tập đoàn</a:t>
            </a:r>
          </a:p>
        </p:txBody>
      </p:sp>
      <p:sp>
        <p:nvSpPr>
          <p:cNvPr id="12" name="Rectangle 11"/>
          <p:cNvSpPr/>
          <p:nvPr/>
        </p:nvSpPr>
        <p:spPr>
          <a:xfrm>
            <a:off x="3410712" y="1874519"/>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0712" y="1874519"/>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38728" y="1984248"/>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Customer 360</a:t>
            </a:r>
          </a:p>
        </p:txBody>
      </p:sp>
      <p:sp>
        <p:nvSpPr>
          <p:cNvPr id="15" name="TextBox 14"/>
          <p:cNvSpPr txBox="1"/>
          <p:nvPr/>
        </p:nvSpPr>
        <p:spPr>
          <a:xfrm>
            <a:off x="3557016" y="2441448"/>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Hồ sơ khách hàng 360° hợp nhất</a:t>
            </a:r>
          </a:p>
        </p:txBody>
      </p:sp>
      <p:sp>
        <p:nvSpPr>
          <p:cNvPr id="16" name="Rectangle 15"/>
          <p:cNvSpPr/>
          <p:nvPr/>
        </p:nvSpPr>
        <p:spPr>
          <a:xfrm>
            <a:off x="6254496" y="1874519"/>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54496" y="1874519"/>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1984248"/>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Loyalty</a:t>
            </a:r>
          </a:p>
        </p:txBody>
      </p:sp>
      <p:sp>
        <p:nvSpPr>
          <p:cNvPr id="19" name="TextBox 18"/>
          <p:cNvSpPr txBox="1"/>
          <p:nvPr/>
        </p:nvSpPr>
        <p:spPr>
          <a:xfrm>
            <a:off x="6400800" y="2441448"/>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Tích/đổi điểm xuyên thương hiệu</a:t>
            </a:r>
          </a:p>
        </p:txBody>
      </p:sp>
      <p:sp>
        <p:nvSpPr>
          <p:cNvPr id="20" name="Rectangle 19"/>
          <p:cNvSpPr/>
          <p:nvPr/>
        </p:nvSpPr>
        <p:spPr>
          <a:xfrm>
            <a:off x="9098280" y="1874519"/>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8280" y="1874519"/>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1984248"/>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Data Ops</a:t>
            </a:r>
          </a:p>
        </p:txBody>
      </p:sp>
      <p:sp>
        <p:nvSpPr>
          <p:cNvPr id="23" name="TextBox 22"/>
          <p:cNvSpPr txBox="1"/>
          <p:nvPr/>
        </p:nvSpPr>
        <p:spPr>
          <a:xfrm>
            <a:off x="9244584" y="2441448"/>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Quản trị dữ liệu chủ (thương hiệu/cửa hàng/SP)</a:t>
            </a:r>
          </a:p>
        </p:txBody>
      </p:sp>
      <p:sp>
        <p:nvSpPr>
          <p:cNvPr id="24" name="Rectangle 23"/>
          <p:cNvSpPr/>
          <p:nvPr/>
        </p:nvSpPr>
        <p:spPr>
          <a:xfrm>
            <a:off x="566928" y="3319272"/>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3319272"/>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429000"/>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Phân tích chuyên sâu</a:t>
            </a:r>
          </a:p>
        </p:txBody>
      </p:sp>
      <p:sp>
        <p:nvSpPr>
          <p:cNvPr id="27" name="TextBox 26"/>
          <p:cNvSpPr txBox="1"/>
          <p:nvPr/>
        </p:nvSpPr>
        <p:spPr>
          <a:xfrm>
            <a:off x="713232" y="3886200"/>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Doanh thu, vòng đời, synergy</a:t>
            </a:r>
          </a:p>
        </p:txBody>
      </p:sp>
      <p:sp>
        <p:nvSpPr>
          <p:cNvPr id="28" name="Rectangle 27"/>
          <p:cNvSpPr/>
          <p:nvPr/>
        </p:nvSpPr>
        <p:spPr>
          <a:xfrm>
            <a:off x="3410712" y="3319272"/>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410712" y="3319272"/>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38728" y="3429000"/>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Audiences</a:t>
            </a:r>
          </a:p>
        </p:txBody>
      </p:sp>
      <p:sp>
        <p:nvSpPr>
          <p:cNvPr id="31" name="TextBox 30"/>
          <p:cNvSpPr txBox="1"/>
          <p:nvPr/>
        </p:nvSpPr>
        <p:spPr>
          <a:xfrm>
            <a:off x="3557016" y="3886200"/>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Tạo tệp khách theo tiêu chí</a:t>
            </a:r>
          </a:p>
        </p:txBody>
      </p:sp>
      <p:sp>
        <p:nvSpPr>
          <p:cNvPr id="32" name="Rectangle 31"/>
          <p:cNvSpPr/>
          <p:nvPr/>
        </p:nvSpPr>
        <p:spPr>
          <a:xfrm>
            <a:off x="6254496" y="3319272"/>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54496" y="3319272"/>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82512" y="3429000"/>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Journeys</a:t>
            </a:r>
          </a:p>
        </p:txBody>
      </p:sp>
      <p:sp>
        <p:nvSpPr>
          <p:cNvPr id="35" name="TextBox 34"/>
          <p:cNvSpPr txBox="1"/>
          <p:nvPr/>
        </p:nvSpPr>
        <p:spPr>
          <a:xfrm>
            <a:off x="6400800" y="3886200"/>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Hành trình chăm sóc tự động</a:t>
            </a:r>
          </a:p>
        </p:txBody>
      </p:sp>
      <p:sp>
        <p:nvSpPr>
          <p:cNvPr id="36" name="Rectangle 35"/>
          <p:cNvSpPr/>
          <p:nvPr/>
        </p:nvSpPr>
        <p:spPr>
          <a:xfrm>
            <a:off x="9098280" y="3319272"/>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98280" y="3319272"/>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26296" y="3429000"/>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Trợ lý AI</a:t>
            </a:r>
          </a:p>
        </p:txBody>
      </p:sp>
      <p:sp>
        <p:nvSpPr>
          <p:cNvPr id="39" name="TextBox 38"/>
          <p:cNvSpPr txBox="1"/>
          <p:nvPr/>
        </p:nvSpPr>
        <p:spPr>
          <a:xfrm>
            <a:off x="9244584" y="3886200"/>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Hỏi đáp dữ liệu bằng ngôn ngữ tự nhiên</a:t>
            </a:r>
          </a:p>
        </p:txBody>
      </p:sp>
      <p:sp>
        <p:nvSpPr>
          <p:cNvPr id="40" name="Rectangle 39"/>
          <p:cNvSpPr/>
          <p:nvPr/>
        </p:nvSpPr>
        <p:spPr>
          <a:xfrm>
            <a:off x="566928" y="4764023"/>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4764023"/>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944" y="4873751"/>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AI &amp; Governance</a:t>
            </a:r>
          </a:p>
        </p:txBody>
      </p:sp>
      <p:sp>
        <p:nvSpPr>
          <p:cNvPr id="43" name="TextBox 42"/>
          <p:cNvSpPr txBox="1"/>
          <p:nvPr/>
        </p:nvSpPr>
        <p:spPr>
          <a:xfrm>
            <a:off x="713232" y="5330951"/>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Quản trị &amp; audit tham số AI</a:t>
            </a:r>
          </a:p>
        </p:txBody>
      </p:sp>
      <p:sp>
        <p:nvSpPr>
          <p:cNvPr id="44" name="Rectangle 43"/>
          <p:cNvSpPr/>
          <p:nvPr/>
        </p:nvSpPr>
        <p:spPr>
          <a:xfrm>
            <a:off x="3410712" y="4764023"/>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410712" y="4764023"/>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538728" y="4873751"/>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Governance (Consent)</a:t>
            </a:r>
          </a:p>
        </p:txBody>
      </p:sp>
      <p:sp>
        <p:nvSpPr>
          <p:cNvPr id="47" name="TextBox 46"/>
          <p:cNvSpPr txBox="1"/>
          <p:nvPr/>
        </p:nvSpPr>
        <p:spPr>
          <a:xfrm>
            <a:off x="3557016" y="5330951"/>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Đồng ý &amp; quyền riêng tư</a:t>
            </a:r>
          </a:p>
        </p:txBody>
      </p:sp>
      <p:sp>
        <p:nvSpPr>
          <p:cNvPr id="48" name="Rectangle 47"/>
          <p:cNvSpPr/>
          <p:nvPr/>
        </p:nvSpPr>
        <p:spPr>
          <a:xfrm>
            <a:off x="6254496" y="4764023"/>
            <a:ext cx="2697480" cy="1298448"/>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54496" y="4764023"/>
            <a:ext cx="269748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82512" y="4873751"/>
            <a:ext cx="2441448" cy="4114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700" b="0" i="0">
                <a:solidFill>
                  <a:srgbClr val="1B1B2E"/>
                </a:solidFill>
                <a:latin typeface="Calibri"/>
              </a:rPr>
              <a:t>⚙️  </a:t>
            </a:r>
            <a:r>
              <a:rPr sz="1250" b="1" i="0">
                <a:solidFill>
                  <a:srgbClr val="2E2E40"/>
                </a:solidFill>
                <a:latin typeface="Calibri"/>
              </a:rPr>
              <a:t>Platform</a:t>
            </a:r>
          </a:p>
        </p:txBody>
      </p:sp>
      <p:sp>
        <p:nvSpPr>
          <p:cNvPr id="51" name="TextBox 50"/>
          <p:cNvSpPr txBox="1"/>
          <p:nvPr/>
        </p:nvSpPr>
        <p:spPr>
          <a:xfrm>
            <a:off x="6400800" y="5330951"/>
            <a:ext cx="2423160" cy="658368"/>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000" b="0" i="0">
                <a:solidFill>
                  <a:srgbClr val="565564"/>
                </a:solidFill>
                <a:latin typeface="Calibri"/>
              </a:rPr>
              <a:t>Người dùng, phân quyền, API key</a:t>
            </a:r>
          </a:p>
        </p:txBody>
      </p:sp>
      <p:sp>
        <p:nvSpPr>
          <p:cNvPr id="52" name="Rectangle 51"/>
          <p:cNvSpPr/>
          <p:nvPr/>
        </p:nvSpPr>
        <p:spPr>
          <a:xfrm>
            <a:off x="9098280" y="4764023"/>
            <a:ext cx="2697480" cy="1298448"/>
          </a:xfrm>
          <a:prstGeom prst="rect">
            <a:avLst/>
          </a:prstGeom>
          <a:solidFill>
            <a:srgbClr val="E7DDC8"/>
          </a:solidFill>
          <a:ln w="12700">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26296" y="4764023"/>
            <a:ext cx="2441448" cy="1298448"/>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00" b="0" i="0">
                <a:solidFill>
                  <a:srgbClr val="2E2E40"/>
                </a:solidFill>
                <a:latin typeface="Calibri"/>
              </a:rPr>
              <a:t>Một nền tảng —</a:t>
            </a:r>
          </a:p>
          <a:p>
            <a:pPr algn="ctr">
              <a:lnSpc>
                <a:spcPct val="100000"/>
              </a:lnSpc>
              <a:spcBef>
                <a:spcPts val="0"/>
              </a:spcBef>
              <a:spcAft>
                <a:spcPts val="400"/>
              </a:spcAft>
            </a:pPr>
            <a:r>
              <a:rPr sz="1700" b="1" i="0">
                <a:solidFill>
                  <a:srgbClr val="C39851"/>
                </a:solidFill>
                <a:latin typeface="Georgia"/>
              </a:rPr>
              <a:t>11 workspace</a:t>
            </a:r>
          </a:p>
          <a:p>
            <a:pPr algn="ctr">
              <a:lnSpc>
                <a:spcPct val="100000"/>
              </a:lnSpc>
              <a:spcBef>
                <a:spcPts val="0"/>
              </a:spcBef>
              <a:spcAft>
                <a:spcPts val="400"/>
              </a:spcAft>
            </a:pPr>
            <a:r>
              <a:rPr sz="1200" b="0" i="0">
                <a:solidFill>
                  <a:srgbClr val="2E2E40"/>
                </a:solidFill>
                <a:latin typeface="Calibri"/>
              </a:rPr>
              <a:t>cho mọi vai trò</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WORKSPACE · CONTROL TOWER</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Control Tower — Trung tâm điều hành</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9</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Bảng điều khiển realtime</a:t>
            </a:r>
            <a:r>
              <a:rPr sz="1350">
                <a:solidFill>
                  <a:srgbClr val="1B1B2E"/>
                </a:solidFill>
                <a:latin typeface="Calibri"/>
              </a:rPr>
              <a:t> — sức khoẻ dữ liệu, doanh thu, khách hàng toàn tập đoàn trong một màn hình.</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Cho lãnh đạo</a:t>
            </a:r>
            <a:r>
              <a:rPr sz="1350">
                <a:solidFill>
                  <a:srgbClr val="1B1B2E"/>
                </a:solidFill>
                <a:latin typeface="Calibri"/>
              </a:rPr>
              <a:t> — nắm tình hình tức thời, theo dõi chỉ số then chốt.</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Ra quyết định nhanh</a:t>
            </a:r>
            <a:r>
              <a:rPr sz="1350">
                <a:solidFill>
                  <a:srgbClr val="1B1B2E"/>
                </a:solidFill>
                <a:latin typeface="Calibri"/>
              </a:rPr>
              <a:t> — dựa trên bức tranh thống nhất, không còn báo cáo rời rạc.</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ontrol-tower.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Control Tower — tổng quan realtime toàn hệ thống OCH.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CUSTOMER 360</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Danh bạ khách hàng hợp nhất</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10</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Một danh bạ duy nhất</a:t>
            </a:r>
            <a:r>
              <a:rPr sz="1350">
                <a:solidFill>
                  <a:srgbClr val="1B1B2E"/>
                </a:solidFill>
                <a:latin typeface="Calibri"/>
              </a:rPr>
              <a:t> — mọi khách của mọi thương hiệu, tra cứu tức thì.</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Hợp nhất định danh (OCH ID)</a:t>
            </a:r>
            <a:r>
              <a:rPr sz="1350">
                <a:solidFill>
                  <a:srgbClr val="1B1B2E"/>
                </a:solidFill>
                <a:latin typeface="Calibri"/>
              </a:rPr>
              <a:t> — một mã khách hàng duy nhất gộp mọi thương hiệu.</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Tìm &amp; lọc mạnh</a:t>
            </a:r>
            <a:r>
              <a:rPr sz="1350">
                <a:solidFill>
                  <a:srgbClr val="1B1B2E"/>
                </a:solidFill>
                <a:latin typeface="Calibri"/>
              </a:rPr>
              <a:t> — theo hạng, vòng đời, giá trị, thương hiệu.</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Mở hồ sơ 360°</a:t>
            </a:r>
            <a:r>
              <a:rPr sz="1350">
                <a:solidFill>
                  <a:srgbClr val="1B1B2E"/>
                </a:solidFill>
                <a:latin typeface="Calibri"/>
              </a:rPr>
              <a:t> — một cú nhấp để thấy toàn bộ hành trình.</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ustomers-directory.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Danh bạ khách hàng hợp nhất — cửa ngõ vào hồ sơ 360°.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MỘT HỒ SƠ, CẢ CÂU CHUYỆN KHÁCH HÀNG</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Customer 360 — Hạng · Giá trị · Nhịp mua</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11</a:t>
            </a:r>
          </a:p>
        </p:txBody>
      </p:sp>
      <p:sp>
        <p:nvSpPr>
          <p:cNvPr id="8" name="Rectangle 7"/>
          <p:cNvSpPr/>
          <p:nvPr/>
        </p:nvSpPr>
        <p:spPr>
          <a:xfrm>
            <a:off x="566928" y="1874519"/>
            <a:ext cx="5349240" cy="12344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64008" cy="12344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39112"/>
            <a:ext cx="503834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 Hạng khách hàng</a:t>
            </a:r>
          </a:p>
        </p:txBody>
      </p:sp>
      <p:sp>
        <p:nvSpPr>
          <p:cNvPr id="11" name="TextBox 10"/>
          <p:cNvSpPr txBox="1"/>
          <p:nvPr/>
        </p:nvSpPr>
        <p:spPr>
          <a:xfrm>
            <a:off x="768096" y="2350008"/>
            <a:ext cx="4992623" cy="6492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 Kim cương · 🥇 Vàng · 🥈 Bạc · 🥉 Đồng — tự động theo tổng chi tiêu toàn tập đoàn.</a:t>
            </a:r>
          </a:p>
        </p:txBody>
      </p:sp>
      <p:sp>
        <p:nvSpPr>
          <p:cNvPr id="12" name="Rectangle 11"/>
          <p:cNvSpPr/>
          <p:nvPr/>
        </p:nvSpPr>
        <p:spPr>
          <a:xfrm>
            <a:off x="566928" y="3246120"/>
            <a:ext cx="5349240" cy="12344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246120"/>
            <a:ext cx="64008" cy="12344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3410712"/>
            <a:ext cx="503834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 Giá trị (CLV)</a:t>
            </a:r>
          </a:p>
        </p:txBody>
      </p:sp>
      <p:sp>
        <p:nvSpPr>
          <p:cNvPr id="15" name="TextBox 14"/>
          <p:cNvSpPr txBox="1"/>
          <p:nvPr/>
        </p:nvSpPr>
        <p:spPr>
          <a:xfrm>
            <a:off x="768096" y="3721608"/>
            <a:ext cx="4992623" cy="64922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Tổng chi tiêu (LTV) + CLV dự đoán 2 năm + AOV + số đơn + thời gian gắn bó.</a:t>
            </a:r>
          </a:p>
        </p:txBody>
      </p:sp>
      <p:sp>
        <p:nvSpPr>
          <p:cNvPr id="16" name="Rectangle 15"/>
          <p:cNvSpPr/>
          <p:nvPr/>
        </p:nvSpPr>
        <p:spPr>
          <a:xfrm>
            <a:off x="566928" y="4617720"/>
            <a:ext cx="5349240" cy="12344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617720"/>
            <a:ext cx="64008" cy="12344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782312"/>
            <a:ext cx="503834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 Nhịp mua &amp; dự đoán</a:t>
            </a:r>
          </a:p>
        </p:txBody>
      </p:sp>
      <p:sp>
        <p:nvSpPr>
          <p:cNvPr id="19" name="TextBox 18"/>
          <p:cNvSpPr txBox="1"/>
          <p:nvPr/>
        </p:nvSpPr>
        <p:spPr>
          <a:xfrm>
            <a:off x="768096" y="5093207"/>
            <a:ext cx="4992623" cy="6492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Học khoảng cách mua → dự đoán đơn kế tiếp, cảnh báo “sắp tới / quá hạn”.</a:t>
            </a:r>
          </a:p>
        </p:txBody>
      </p:sp>
      <p:sp>
        <p:nvSpPr>
          <p:cNvPr id="20" name="Rectangle 19"/>
          <p:cNvSpPr/>
          <p:nvPr/>
        </p:nvSpPr>
        <p:spPr>
          <a:xfrm>
            <a:off x="6263640" y="1828799"/>
            <a:ext cx="5394959"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ustomer360.png"/>
          <p:cNvPicPr>
            <a:picLocks noChangeAspect="1"/>
          </p:cNvPicPr>
          <p:nvPr/>
        </p:nvPicPr>
        <p:blipFill>
          <a:blip r:embed="rId2"/>
          <a:stretch>
            <a:fillRect/>
          </a:stretch>
        </p:blipFill>
        <p:spPr>
          <a:xfrm>
            <a:off x="6370081" y="1874519"/>
            <a:ext cx="5182076" cy="3685031"/>
          </a:xfrm>
          <a:prstGeom prst="rect">
            <a:avLst/>
          </a:prstGeom>
        </p:spPr>
      </p:pic>
      <p:sp>
        <p:nvSpPr>
          <p:cNvPr id="22" name="TextBox 21"/>
          <p:cNvSpPr txBox="1"/>
          <p:nvPr/>
        </p:nvSpPr>
        <p:spPr>
          <a:xfrm>
            <a:off x="6263640" y="5641847"/>
            <a:ext cx="5394959"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Hồ sơ khách hàng 360° (phần đầu).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ĐÀO SÂU CUSTOMER 360 · 6/6 · ĐIỂM KHÁC BIỆT</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Giỏ bỏ quên &amp; Hành động đề xuất</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12</a:t>
            </a:r>
          </a:p>
        </p:txBody>
      </p:sp>
      <p:sp>
        <p:nvSpPr>
          <p:cNvPr id="8" name="Rectangle 7"/>
          <p:cNvSpPr/>
          <p:nvPr/>
        </p:nvSpPr>
        <p:spPr>
          <a:xfrm>
            <a:off x="566928" y="1737360"/>
            <a:ext cx="5257800" cy="105156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737360"/>
            <a:ext cx="82296" cy="1051560"/>
          </a:xfrm>
          <a:prstGeom prst="rect">
            <a:avLst/>
          </a:prstGeom>
          <a:solidFill>
            <a:srgbClr val="B4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4937760" cy="1051560"/>
          </a:xfrm>
          <a:prstGeom prst="rect">
            <a:avLst/>
          </a:prstGeom>
          <a:noFill/>
        </p:spPr>
        <p:txBody>
          <a:bodyPr wrap="square" anchor="ctr" lIns="25400" rIns="25400" tIns="12700" bIns="12700">
            <a:spAutoFit/>
          </a:bodyPr>
          <a:lstStyle/>
          <a:p>
            <a:pPr algn="l">
              <a:lnSpc>
                <a:spcPct val="105000"/>
              </a:lnSpc>
              <a:spcBef>
                <a:spcPts val="0"/>
              </a:spcBef>
              <a:spcAft>
                <a:spcPts val="400"/>
              </a:spcAft>
            </a:pPr>
            <a:r>
              <a:rPr sz="1400" b="1" i="0">
                <a:solidFill>
                  <a:srgbClr val="2E2E40"/>
                </a:solidFill>
                <a:latin typeface="Calibri"/>
              </a:rPr>
              <a:t>🛒  Giỏ hàng bỏ quên</a:t>
            </a:r>
          </a:p>
          <a:p>
            <a:pPr algn="l">
              <a:lnSpc>
                <a:spcPct val="105000"/>
              </a:lnSpc>
              <a:spcBef>
                <a:spcPts val="0"/>
              </a:spcBef>
              <a:spcAft>
                <a:spcPts val="400"/>
              </a:spcAft>
            </a:pPr>
            <a:r>
              <a:rPr sz="1100" b="0" i="0">
                <a:solidFill>
                  <a:srgbClr val="565564"/>
                </a:solidFill>
                <a:latin typeface="Calibri"/>
              </a:rPr>
              <a:t>Khách thêm sản phẩm/đặt phòng nhưng chưa hoàn tất → hệ thống ghi nhận và nhắc lại kèm ưu đãi đúng lúc.</a:t>
            </a:r>
          </a:p>
        </p:txBody>
      </p:sp>
      <p:sp>
        <p:nvSpPr>
          <p:cNvPr id="11" name="TextBox 10"/>
          <p:cNvSpPr txBox="1"/>
          <p:nvPr/>
        </p:nvSpPr>
        <p:spPr>
          <a:xfrm>
            <a:off x="566928" y="2971800"/>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50" b="1" i="0">
                <a:solidFill>
                  <a:srgbClr val="C39851"/>
                </a:solidFill>
                <a:latin typeface="Calibri"/>
              </a:rPr>
              <a:t>HÀNH ĐỘNG KINH DOANH ĐỀ XUẤT (Next-Best-Action)</a:t>
            </a:r>
          </a:p>
        </p:txBody>
      </p:sp>
      <p:sp>
        <p:nvSpPr>
          <p:cNvPr id="12" name="Rectangle 11"/>
          <p:cNvSpPr/>
          <p:nvPr/>
        </p:nvSpPr>
        <p:spPr>
          <a:xfrm>
            <a:off x="566928" y="3383280"/>
            <a:ext cx="2606040" cy="18288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3383280"/>
            <a:ext cx="64008" cy="18288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3547872"/>
            <a:ext cx="240487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5" name="TextBox 14"/>
          <p:cNvSpPr txBox="1"/>
          <p:nvPr/>
        </p:nvSpPr>
        <p:spPr>
          <a:xfrm>
            <a:off x="768096" y="4005072"/>
            <a:ext cx="229514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2E2E40"/>
                </a:solidFill>
                <a:latin typeface="Calibri"/>
              </a:rPr>
              <a:t>Giữ chân nguy cơ rời</a:t>
            </a:r>
          </a:p>
        </p:txBody>
      </p:sp>
      <p:sp>
        <p:nvSpPr>
          <p:cNvPr id="16" name="TextBox 15"/>
          <p:cNvSpPr txBox="1"/>
          <p:nvPr/>
        </p:nvSpPr>
        <p:spPr>
          <a:xfrm>
            <a:off x="768096" y="4315968"/>
            <a:ext cx="2249424" cy="78638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050" b="0" i="0">
                <a:solidFill>
                  <a:srgbClr val="565564"/>
                </a:solidFill>
                <a:latin typeface="Calibri"/>
              </a:rPr>
              <a:t>Khách at-risk → ưu đãi/chăm sóc trước khi mất.</a:t>
            </a:r>
          </a:p>
        </p:txBody>
      </p:sp>
      <p:sp>
        <p:nvSpPr>
          <p:cNvPr id="17" name="Rectangle 16"/>
          <p:cNvSpPr/>
          <p:nvPr/>
        </p:nvSpPr>
        <p:spPr>
          <a:xfrm>
            <a:off x="3355848" y="3383280"/>
            <a:ext cx="2606040" cy="18288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55848" y="3383280"/>
            <a:ext cx="64008" cy="18288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7016" y="3547872"/>
            <a:ext cx="240487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0" name="TextBox 19"/>
          <p:cNvSpPr txBox="1"/>
          <p:nvPr/>
        </p:nvSpPr>
        <p:spPr>
          <a:xfrm>
            <a:off x="3557016" y="4005072"/>
            <a:ext cx="229514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2E2E40"/>
                </a:solidFill>
                <a:latin typeface="Calibri"/>
              </a:rPr>
              <a:t>Nhắc giỏ bỏ quên</a:t>
            </a:r>
          </a:p>
        </p:txBody>
      </p:sp>
      <p:sp>
        <p:nvSpPr>
          <p:cNvPr id="21" name="TextBox 20"/>
          <p:cNvSpPr txBox="1"/>
          <p:nvPr/>
        </p:nvSpPr>
        <p:spPr>
          <a:xfrm>
            <a:off x="3557016" y="4315968"/>
            <a:ext cx="2249424" cy="78638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050" b="0" i="0">
                <a:solidFill>
                  <a:srgbClr val="565564"/>
                </a:solidFill>
                <a:latin typeface="Calibri"/>
              </a:rPr>
              <a:t>Nhắc hoàn tất + khuyến khích nhỏ.</a:t>
            </a:r>
          </a:p>
        </p:txBody>
      </p:sp>
      <p:sp>
        <p:nvSpPr>
          <p:cNvPr id="22" name="Rectangle 21"/>
          <p:cNvSpPr/>
          <p:nvPr/>
        </p:nvSpPr>
        <p:spPr>
          <a:xfrm>
            <a:off x="6144768" y="3383280"/>
            <a:ext cx="2606040" cy="18288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383280"/>
            <a:ext cx="64008" cy="18288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45936" y="3547872"/>
            <a:ext cx="240487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5" name="TextBox 24"/>
          <p:cNvSpPr txBox="1"/>
          <p:nvPr/>
        </p:nvSpPr>
        <p:spPr>
          <a:xfrm>
            <a:off x="6345936" y="4005072"/>
            <a:ext cx="229514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2E2E40"/>
                </a:solidFill>
                <a:latin typeface="Calibri"/>
              </a:rPr>
              <a:t>Bán chéo F&amp;B ↔ Khách sạn</a:t>
            </a:r>
          </a:p>
        </p:txBody>
      </p:sp>
      <p:sp>
        <p:nvSpPr>
          <p:cNvPr id="26" name="TextBox 25"/>
          <p:cNvSpPr txBox="1"/>
          <p:nvPr/>
        </p:nvSpPr>
        <p:spPr>
          <a:xfrm>
            <a:off x="6345936" y="4315968"/>
            <a:ext cx="2249424" cy="78638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050" b="0" i="0">
                <a:solidFill>
                  <a:srgbClr val="565564"/>
                </a:solidFill>
                <a:latin typeface="Calibri"/>
              </a:rPr>
              <a:t>Khách khách sạn → mời F&amp;B và ngược lại.</a:t>
            </a:r>
          </a:p>
        </p:txBody>
      </p:sp>
      <p:sp>
        <p:nvSpPr>
          <p:cNvPr id="27" name="Rectangle 26"/>
          <p:cNvSpPr/>
          <p:nvPr/>
        </p:nvSpPr>
        <p:spPr>
          <a:xfrm>
            <a:off x="8933687" y="3383280"/>
            <a:ext cx="2606040" cy="18288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33687" y="3383280"/>
            <a:ext cx="64008" cy="18288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34855" y="3547872"/>
            <a:ext cx="2404872"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0" name="TextBox 29"/>
          <p:cNvSpPr txBox="1"/>
          <p:nvPr/>
        </p:nvSpPr>
        <p:spPr>
          <a:xfrm>
            <a:off x="9134855" y="4005072"/>
            <a:ext cx="229514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2E2E40"/>
                </a:solidFill>
                <a:latin typeface="Calibri"/>
              </a:rPr>
              <a:t>Đặc quyền VIP</a:t>
            </a:r>
          </a:p>
        </p:txBody>
      </p:sp>
      <p:sp>
        <p:nvSpPr>
          <p:cNvPr id="31" name="TextBox 30"/>
          <p:cNvSpPr txBox="1"/>
          <p:nvPr/>
        </p:nvSpPr>
        <p:spPr>
          <a:xfrm>
            <a:off x="9134855" y="4315968"/>
            <a:ext cx="2249424" cy="786383"/>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050" b="0" i="0">
                <a:solidFill>
                  <a:srgbClr val="565564"/>
                </a:solidFill>
                <a:latin typeface="Calibri"/>
              </a:rPr>
              <a:t>Khách hạng cao → ưu đãi &amp; trải nghiệm riêng.</a:t>
            </a:r>
          </a:p>
        </p:txBody>
      </p:sp>
      <p:sp>
        <p:nvSpPr>
          <p:cNvPr id="32" name="Rectangle 31"/>
          <p:cNvSpPr/>
          <p:nvPr/>
        </p:nvSpPr>
        <p:spPr>
          <a:xfrm>
            <a:off x="566928" y="5440680"/>
            <a:ext cx="11064240" cy="868680"/>
          </a:xfrm>
          <a:prstGeom prst="rect">
            <a:avLst/>
          </a:prstGeom>
          <a:solidFill>
            <a:srgbClr val="E7DDC8"/>
          </a:solidFill>
          <a:ln w="12700">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440680"/>
            <a:ext cx="82296" cy="8686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440680"/>
            <a:ext cx="10607040" cy="868680"/>
          </a:xfrm>
          <a:prstGeom prst="rect">
            <a:avLst/>
          </a:prstGeom>
          <a:noFill/>
        </p:spPr>
        <p:txBody>
          <a:bodyPr wrap="square" anchor="ctr" lIns="25400" rIns="25400" tIns="12700" bIns="12700">
            <a:spAutoFit/>
          </a:bodyPr>
          <a:lstStyle/>
          <a:p>
            <a:pPr algn="l">
              <a:lnSpc>
                <a:spcPct val="110000"/>
              </a:lnSpc>
              <a:spcBef>
                <a:spcPts val="0"/>
              </a:spcBef>
              <a:spcAft>
                <a:spcPts val="400"/>
              </a:spcAft>
            </a:pPr>
            <a:r>
              <a:rPr sz="1300" b="1" i="0">
                <a:solidFill>
                  <a:srgbClr val="C39851"/>
                </a:solidFill>
                <a:latin typeface="Calibri"/>
              </a:rPr>
              <a:t>Đây là điểm khác biệt lớn nhất: </a:t>
            </a:r>
            <a:r>
              <a:rPr sz="1300" b="0" i="0">
                <a:solidFill>
                  <a:srgbClr val="2E2E40"/>
                </a:solidFill>
                <a:latin typeface="Calibri"/>
              </a:rPr>
              <a:t>hệ thống không dừng ở BÁO CÁO — nó biến dữ liệu thành HÀNH ĐỘNG bán hàng cụ thể, để OCH không bỏ lỡ cơ hội doanh thu nào.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WORKSPACE · INSIGHTS</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Phân tích chuyên sâu (Insights)</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13</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Doanh thu &amp; dự báo</a:t>
            </a:r>
            <a:r>
              <a:rPr sz="1350">
                <a:solidFill>
                  <a:srgbClr val="1B1B2E"/>
                </a:solidFill>
                <a:latin typeface="Calibri"/>
              </a:rPr>
              <a:t> — xu hướng theo tháng và forecast giai đoạn tới.</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Vòng đời khách hàng</a:t>
            </a:r>
            <a:r>
              <a:rPr sz="1350">
                <a:solidFill>
                  <a:srgbClr val="1B1B2E"/>
                </a:solidFill>
                <a:latin typeface="Calibri"/>
              </a:rPr>
              <a:t> — phân bố VIP/active/at-risk/dormant.</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Synergy đa thương hiệu</a:t>
            </a:r>
            <a:r>
              <a:rPr sz="1350">
                <a:solidFill>
                  <a:srgbClr val="1B1B2E"/>
                </a:solidFill>
                <a:latin typeface="Calibri"/>
              </a:rPr>
              <a:t> — đo tiềm năng bán chéo giữa các thương hiệu.</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sights.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Insights — doanh thu, dự báo và vòng đời khách hàng.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WORKSPACE · AUDIENCES</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Audiences — Phân khúc khách hàng</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14</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Tạo tệp khách theo tiêu chí</a:t>
            </a:r>
            <a:r>
              <a:rPr sz="1350">
                <a:solidFill>
                  <a:srgbClr val="1B1B2E"/>
                </a:solidFill>
                <a:latin typeface="Calibri"/>
              </a:rPr>
              <a:t> — kết hợp hạng, hành vi, giá trị, thương hiệu.</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Kích hoạt đa kênh</a:t>
            </a:r>
            <a:r>
              <a:rPr sz="1350">
                <a:solidFill>
                  <a:srgbClr val="1B1B2E"/>
                </a:solidFill>
                <a:latin typeface="Calibri"/>
              </a:rPr>
              <a:t> — đẩy tệp ra Email/SMS/Zalo/Ads.</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Cổng consent</a:t>
            </a:r>
            <a:r>
              <a:rPr sz="1350">
                <a:solidFill>
                  <a:srgbClr val="1B1B2E"/>
                </a:solidFill>
                <a:latin typeface="Calibri"/>
              </a:rPr>
              <a:t> — chỉ khách đã đồng ý mới được nhắm tới.</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udiences.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Audiences — dựng tệp khách và kích hoạt.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WORKSPACE · JOURNEYS</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Journeys — Kéo–thả dựng hành trình</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15</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Lưu đồ trực quan</a:t>
            </a:r>
            <a:r>
              <a:rPr sz="1350">
                <a:solidFill>
                  <a:srgbClr val="1B1B2E"/>
                </a:solidFill>
                <a:latin typeface="Calibri"/>
              </a:rPr>
              <a:t> — Vào → Điều kiện → Hành động → Chờ → Kết thúc, có nhánh Có/Không.</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Dựng bằng kéo–thả</a:t>
            </a:r>
            <a:r>
              <a:rPr sz="1350">
                <a:solidFill>
                  <a:srgbClr val="1B1B2E"/>
                </a:solidFill>
                <a:latin typeface="Calibri"/>
              </a:rPr>
              <a:t> — không cần lập trình.</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Tự động chạy 24/7</a:t>
            </a:r>
            <a:r>
              <a:rPr sz="1350">
                <a:solidFill>
                  <a:srgbClr val="1B1B2E"/>
                </a:solidFill>
                <a:latin typeface="Calibri"/>
              </a:rPr>
              <a:t> — chào mừng, thưởng VIP, kéo lại khách ngủ đông, ưu đãi lưu trú.</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journey-canvas.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Journeys — lưu đồ hành trình dựng bằng kéo–thả.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WORKSPACE · JOURNEYS</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Journeys — Theo dõi hiệu quả</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16</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Báo cáo phễu (funnel)</a:t>
            </a:r>
            <a:r>
              <a:rPr sz="1350">
                <a:solidFill>
                  <a:srgbClr val="1B1B2E"/>
                </a:solidFill>
                <a:latin typeface="Calibri"/>
              </a:rPr>
              <a:t> — thấy khách rơi rụng ở bước nào, tỉ lệ chuyển đổi từng chặng.</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Theo dõi participant</a:t>
            </a:r>
            <a:r>
              <a:rPr sz="1350">
                <a:solidFill>
                  <a:srgbClr val="1B1B2E"/>
                </a:solidFill>
                <a:latin typeface="Calibri"/>
              </a:rPr>
              <a:t> — bao nhiêu khách ở mỗi bước, ai hoàn thành.</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Tối ưu liên tục</a:t>
            </a:r>
            <a:r>
              <a:rPr sz="1350">
                <a:solidFill>
                  <a:srgbClr val="1B1B2E"/>
                </a:solidFill>
                <a:latin typeface="Calibri"/>
              </a:rPr>
              <a:t> — đo tỷ lệ mở &amp; chuyển đổi để cải thiện.</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journey-detail.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Journeys — báo cáo phễu &amp; tỉ lệ chuyển đổi.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WORKSPACE · LOYALTY</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Loyalty hợp nhất</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17</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Tích &amp; đổi điểm xuyên thương hiệu</a:t>
            </a:r>
            <a:r>
              <a:rPr sz="1350">
                <a:solidFill>
                  <a:srgbClr val="1B1B2E"/>
                </a:solidFill>
                <a:latin typeface="Calibri"/>
              </a:rPr>
              <a:t> — tích ở Givral, đổi ở khách sạn — dùng chung.</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Bảng xếp hạng thành viên</a:t>
            </a:r>
            <a:r>
              <a:rPr sz="1350">
                <a:solidFill>
                  <a:srgbClr val="1B1B2E"/>
                </a:solidFill>
                <a:latin typeface="Calibri"/>
              </a:rPr>
              <a:t> — hạng &amp; điểm minh bạch cho từng khách.</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Sổ kép minh bạch</a:t>
            </a:r>
            <a:r>
              <a:rPr sz="1350">
                <a:solidFill>
                  <a:srgbClr val="1B1B2E"/>
                </a:solidFill>
                <a:latin typeface="Calibri"/>
              </a:rPr>
              <a:t> — mỗi điểm truy vết được, quỹ điểm không âm.</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oyalty.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Loyalty — tích/đổi điểm hợp nhất, bảng xếp hạng thành viên.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WORKSPACE · GOVERNANCE</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Governance — Đồng ý &amp; quyền riêng tư</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18</a:t>
            </a:r>
          </a:p>
        </p:txBody>
      </p:sp>
      <p:sp>
        <p:nvSpPr>
          <p:cNvPr id="8" name="TextBox 7"/>
          <p:cNvSpPr txBox="1"/>
          <p:nvPr/>
        </p:nvSpPr>
        <p:spPr>
          <a:xfrm>
            <a:off x="566928" y="1783080"/>
            <a:ext cx="5486400" cy="4114800"/>
          </a:xfrm>
          <a:prstGeom prst="rect">
            <a:avLst/>
          </a:prstGeom>
          <a:noFill/>
        </p:spPr>
        <p:txBody>
          <a:bodyPr wrap="square" lIns="25400" rIns="25400" tIns="25400">
            <a:spAutoFit/>
          </a:bodyPr>
          <a:lstStyle/>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Consent theo mục đích</a:t>
            </a:r>
            <a:r>
              <a:rPr sz="1350">
                <a:solidFill>
                  <a:srgbClr val="1B1B2E"/>
                </a:solidFill>
                <a:latin typeface="Calibri"/>
              </a:rPr>
              <a:t> — khách đồng ý riêng cho email, SMS, quảng cáo...</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Deny-by-default</a:t>
            </a:r>
            <a:r>
              <a:rPr sz="1350">
                <a:solidFill>
                  <a:srgbClr val="1B1B2E"/>
                </a:solidFill>
                <a:latin typeface="Calibri"/>
              </a:rPr>
              <a:t> — mặc định KHÔNG gửi nếu chưa đồng ý.</a:t>
            </a:r>
          </a:p>
          <a:p>
            <a:pPr>
              <a:lnSpc>
                <a:spcPct val="105000"/>
              </a:lnSpc>
              <a:spcBef>
                <a:spcPts val="0"/>
              </a:spcBef>
              <a:spcAft>
                <a:spcPts val="900"/>
              </a:spcAft>
            </a:pPr>
            <a:r>
              <a:rPr sz="1150" b="1">
                <a:solidFill>
                  <a:srgbClr val="C39851"/>
                </a:solidFill>
                <a:latin typeface="Calibri"/>
              </a:rPr>
              <a:t>●  </a:t>
            </a:r>
            <a:r>
              <a:rPr sz="1350" b="1">
                <a:solidFill>
                  <a:srgbClr val="2E2E40"/>
                </a:solidFill>
                <a:latin typeface="Calibri"/>
              </a:rPr>
              <a:t>Tuân thủ &amp; lưu vết</a:t>
            </a:r>
            <a:r>
              <a:rPr sz="1350">
                <a:solidFill>
                  <a:srgbClr val="1B1B2E"/>
                </a:solidFill>
                <a:latin typeface="Calibri"/>
              </a:rPr>
              <a:t> — mọi thay đổi được ghi lại, sẵn sàng kiểm toán.</a:t>
            </a:r>
          </a:p>
        </p:txBody>
      </p:sp>
      <p:sp>
        <p:nvSpPr>
          <p:cNvPr id="9" name="Rectangle 8"/>
          <p:cNvSpPr/>
          <p:nvPr/>
        </p:nvSpPr>
        <p:spPr>
          <a:xfrm>
            <a:off x="6309360" y="1737360"/>
            <a:ext cx="5349240"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overnance.png"/>
          <p:cNvPicPr>
            <a:picLocks noChangeAspect="1"/>
          </p:cNvPicPr>
          <p:nvPr/>
        </p:nvPicPr>
        <p:blipFill>
          <a:blip r:embed="rId2"/>
          <a:stretch>
            <a:fillRect/>
          </a:stretch>
        </p:blipFill>
        <p:spPr>
          <a:xfrm>
            <a:off x="6392941" y="1783080"/>
            <a:ext cx="5182076" cy="3685031"/>
          </a:xfrm>
          <a:prstGeom prst="rect">
            <a:avLst/>
          </a:prstGeom>
        </p:spPr>
      </p:pic>
      <p:sp>
        <p:nvSpPr>
          <p:cNvPr id="11" name="TextBox 10"/>
          <p:cNvSpPr txBox="1"/>
          <p:nvPr/>
        </p:nvSpPr>
        <p:spPr>
          <a:xfrm>
            <a:off x="6309360" y="5550407"/>
            <a:ext cx="534924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Governance — quản trị consent theo mục đích.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DỮ LIỆU CHỦ + NGƯỜI DÙNG &amp; PHÂN QUYỀN</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Data Ops &amp; Platform — Nền tảng quản trị</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19</a:t>
            </a:r>
          </a:p>
        </p:txBody>
      </p:sp>
      <p:sp>
        <p:nvSpPr>
          <p:cNvPr id="8" name="TextBox 7"/>
          <p:cNvSpPr txBox="1"/>
          <p:nvPr/>
        </p:nvSpPr>
        <p:spPr>
          <a:xfrm>
            <a:off x="566928" y="1920240"/>
            <a:ext cx="5394960" cy="4023360"/>
          </a:xfrm>
          <a:prstGeom prst="rect">
            <a:avLst/>
          </a:prstGeom>
          <a:noFill/>
        </p:spPr>
        <p:txBody>
          <a:bodyPr wrap="square" lIns="25400" rIns="25400" tIns="25400">
            <a:spAutoFit/>
          </a:bodyPr>
          <a:lstStyle/>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Data Ops — Dữ liệu chủ</a:t>
            </a:r>
            <a:r>
              <a:rPr sz="1350">
                <a:solidFill>
                  <a:srgbClr val="1B1B2E"/>
                </a:solidFill>
                <a:latin typeface="Calibri"/>
              </a:rPr>
              <a:t> — quản trị thương hiệu / cửa hàng / sản phẩm, đầy đủ Thêm–Sửa–Xoá.</a:t>
            </a:r>
          </a:p>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Nền tảng cho phân tích</a:t>
            </a:r>
            <a:r>
              <a:rPr sz="1350">
                <a:solidFill>
                  <a:srgbClr val="1B1B2E"/>
                </a:solidFill>
                <a:latin typeface="Calibri"/>
              </a:rPr>
              <a:t> — dữ liệu chủ sạch → báo cáo &amp; AI đáng tin.</a:t>
            </a:r>
          </a:p>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Platform — Người dùng</a:t>
            </a:r>
            <a:r>
              <a:rPr sz="1350">
                <a:solidFill>
                  <a:srgbClr val="1B1B2E"/>
                </a:solidFill>
                <a:latin typeface="Calibri"/>
              </a:rPr>
              <a:t> — 7 vai trò, phân quyền chặt: ai thấy gì, làm gì đều kiểm soát.</a:t>
            </a:r>
          </a:p>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API key an toàn</a:t>
            </a:r>
            <a:r>
              <a:rPr sz="1350">
                <a:solidFill>
                  <a:srgbClr val="1B1B2E"/>
                </a:solidFill>
                <a:latin typeface="Calibri"/>
              </a:rPr>
              <a:t> — kết nối với các hệ thống khác của OCH theo vai trò.</a:t>
            </a:r>
          </a:p>
        </p:txBody>
      </p:sp>
      <p:sp>
        <p:nvSpPr>
          <p:cNvPr id="9" name="Rectangle 8"/>
          <p:cNvSpPr/>
          <p:nvPr/>
        </p:nvSpPr>
        <p:spPr>
          <a:xfrm>
            <a:off x="6263640" y="1828799"/>
            <a:ext cx="5394959"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ata-ops.png"/>
          <p:cNvPicPr>
            <a:picLocks noChangeAspect="1"/>
          </p:cNvPicPr>
          <p:nvPr/>
        </p:nvPicPr>
        <p:blipFill>
          <a:blip r:embed="rId2"/>
          <a:stretch>
            <a:fillRect/>
          </a:stretch>
        </p:blipFill>
        <p:spPr>
          <a:xfrm>
            <a:off x="6370081" y="1874519"/>
            <a:ext cx="5182076" cy="3685031"/>
          </a:xfrm>
          <a:prstGeom prst="rect">
            <a:avLst/>
          </a:prstGeom>
        </p:spPr>
      </p:pic>
      <p:sp>
        <p:nvSpPr>
          <p:cNvPr id="11" name="TextBox 10"/>
          <p:cNvSpPr txBox="1"/>
          <p:nvPr/>
        </p:nvSpPr>
        <p:spPr>
          <a:xfrm>
            <a:off x="6263640" y="5641847"/>
            <a:ext cx="5394959"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Data Ops — quản trị dữ liệu chủ toàn tập đoàn.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KHAI THÁC DỮ LIỆU BẰNG NGÔN NGỮ TỰ NHIÊN — CÓ KIỂM SOÁT</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Trợ lý AI &amp; AI Governance</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20</a:t>
            </a:r>
          </a:p>
        </p:txBody>
      </p:sp>
      <p:sp>
        <p:nvSpPr>
          <p:cNvPr id="8" name="TextBox 7"/>
          <p:cNvSpPr txBox="1"/>
          <p:nvPr/>
        </p:nvSpPr>
        <p:spPr>
          <a:xfrm>
            <a:off x="566928" y="1920240"/>
            <a:ext cx="5394960" cy="4023360"/>
          </a:xfrm>
          <a:prstGeom prst="rect">
            <a:avLst/>
          </a:prstGeom>
          <a:noFill/>
        </p:spPr>
        <p:txBody>
          <a:bodyPr wrap="square" lIns="25400" rIns="25400" tIns="25400">
            <a:spAutoFit/>
          </a:bodyPr>
          <a:lstStyle/>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Hỏi đáp tự nhiên</a:t>
            </a:r>
            <a:r>
              <a:rPr sz="1350">
                <a:solidFill>
                  <a:srgbClr val="1B1B2E"/>
                </a:solidFill>
                <a:latin typeface="Calibri"/>
              </a:rPr>
              <a:t> — “Khách VIP Nha Trang tháng này?” — trả lời ngay, không cần kỹ thuật.</a:t>
            </a:r>
          </a:p>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Gợi ý hành động</a:t>
            </a:r>
            <a:r>
              <a:rPr sz="1350">
                <a:solidFill>
                  <a:srgbClr val="1B1B2E"/>
                </a:solidFill>
                <a:latin typeface="Calibri"/>
              </a:rPr>
              <a:t> — đề xuất nhóm khách nên chăm, nội dung nên gửi.</a:t>
            </a:r>
          </a:p>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Quản trị tham số AI</a:t>
            </a:r>
            <a:r>
              <a:rPr sz="1350">
                <a:solidFill>
                  <a:srgbClr val="1B1B2E"/>
                </a:solidFill>
                <a:latin typeface="Calibri"/>
              </a:rPr>
              <a:t> — điều chỉnh ngưỡng chấm điểm churn/CLV/hạng theo chiến lược.</a:t>
            </a:r>
          </a:p>
          <a:p>
            <a:pPr>
              <a:lnSpc>
                <a:spcPct val="105000"/>
              </a:lnSpc>
              <a:spcBef>
                <a:spcPts val="0"/>
              </a:spcBef>
              <a:spcAft>
                <a:spcPts val="1300"/>
              </a:spcAft>
            </a:pPr>
            <a:r>
              <a:rPr sz="1150" b="1">
                <a:solidFill>
                  <a:srgbClr val="C39851"/>
                </a:solidFill>
                <a:latin typeface="Calibri"/>
              </a:rPr>
              <a:t>●  </a:t>
            </a:r>
            <a:r>
              <a:rPr sz="1350" b="1">
                <a:solidFill>
                  <a:srgbClr val="2E2E40"/>
                </a:solidFill>
                <a:latin typeface="Calibri"/>
              </a:rPr>
              <a:t>Minh bạch &amp; audit</a:t>
            </a:r>
            <a:r>
              <a:rPr sz="1350">
                <a:solidFill>
                  <a:srgbClr val="1B1B2E"/>
                </a:solidFill>
                <a:latin typeface="Calibri"/>
              </a:rPr>
              <a:t> — mọi quyết định AI đều lưu vết, giải thích được.</a:t>
            </a:r>
          </a:p>
        </p:txBody>
      </p:sp>
      <p:sp>
        <p:nvSpPr>
          <p:cNvPr id="9" name="Rectangle 8"/>
          <p:cNvSpPr/>
          <p:nvPr/>
        </p:nvSpPr>
        <p:spPr>
          <a:xfrm>
            <a:off x="6263640" y="1828799"/>
            <a:ext cx="5394959" cy="377647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ssistant.png"/>
          <p:cNvPicPr>
            <a:picLocks noChangeAspect="1"/>
          </p:cNvPicPr>
          <p:nvPr/>
        </p:nvPicPr>
        <p:blipFill>
          <a:blip r:embed="rId2"/>
          <a:stretch>
            <a:fillRect/>
          </a:stretch>
        </p:blipFill>
        <p:spPr>
          <a:xfrm>
            <a:off x="6370081" y="1874519"/>
            <a:ext cx="5182076" cy="3685031"/>
          </a:xfrm>
          <a:prstGeom prst="rect">
            <a:avLst/>
          </a:prstGeom>
        </p:spPr>
      </p:pic>
      <p:sp>
        <p:nvSpPr>
          <p:cNvPr id="11" name="TextBox 10"/>
          <p:cNvSpPr txBox="1"/>
          <p:nvPr/>
        </p:nvSpPr>
        <p:spPr>
          <a:xfrm>
            <a:off x="6263640" y="5641847"/>
            <a:ext cx="5394959"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Trợ lý AI — hỏi đáp và gợi ý bằng ngôn ngữ tự nhiên.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VÌ SAO AICDP CHO OCH KHÁC BIỆT</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Tính ưu việt của nền tảng</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21</a:t>
            </a:r>
          </a:p>
        </p:txBody>
      </p:sp>
      <p:sp>
        <p:nvSpPr>
          <p:cNvPr id="8" name="Rectangle 7"/>
          <p:cNvSpPr/>
          <p:nvPr/>
        </p:nvSpPr>
        <p:spPr>
          <a:xfrm>
            <a:off x="566928" y="1874519"/>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3911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1" name="TextBox 10"/>
          <p:cNvSpPr txBox="1"/>
          <p:nvPr/>
        </p:nvSpPr>
        <p:spPr>
          <a:xfrm>
            <a:off x="768096" y="249631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Hợp nhất định danh chuẩn xác</a:t>
            </a:r>
          </a:p>
        </p:txBody>
      </p:sp>
      <p:sp>
        <p:nvSpPr>
          <p:cNvPr id="12" name="TextBox 11"/>
          <p:cNvSpPr txBox="1"/>
          <p:nvPr/>
        </p:nvSpPr>
        <p:spPr>
          <a:xfrm>
            <a:off x="768096" y="280720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Ghép đúng người xuyên thương hiệu, không nhầm lẫn, không trùng lặp.</a:t>
            </a:r>
          </a:p>
        </p:txBody>
      </p:sp>
      <p:sp>
        <p:nvSpPr>
          <p:cNvPr id="13" name="Rectangle 12"/>
          <p:cNvSpPr/>
          <p:nvPr/>
        </p:nvSpPr>
        <p:spPr>
          <a:xfrm>
            <a:off x="4270248" y="1874519"/>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874519"/>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203911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6" name="TextBox 15"/>
          <p:cNvSpPr txBox="1"/>
          <p:nvPr/>
        </p:nvSpPr>
        <p:spPr>
          <a:xfrm>
            <a:off x="4471416" y="249631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Loyalty minh bạch (sổ kép)</a:t>
            </a:r>
          </a:p>
        </p:txBody>
      </p:sp>
      <p:sp>
        <p:nvSpPr>
          <p:cNvPr id="17" name="TextBox 16"/>
          <p:cNvSpPr txBox="1"/>
          <p:nvPr/>
        </p:nvSpPr>
        <p:spPr>
          <a:xfrm>
            <a:off x="4471416" y="280720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Mỗi điểm đều truy vết được, không âm quỹ — kế toán tin cậy.</a:t>
            </a:r>
          </a:p>
        </p:txBody>
      </p:sp>
      <p:sp>
        <p:nvSpPr>
          <p:cNvPr id="18" name="Rectangle 17"/>
          <p:cNvSpPr/>
          <p:nvPr/>
        </p:nvSpPr>
        <p:spPr>
          <a:xfrm>
            <a:off x="7973567" y="1874519"/>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7" y="1874519"/>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203911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1" name="TextBox 20"/>
          <p:cNvSpPr txBox="1"/>
          <p:nvPr/>
        </p:nvSpPr>
        <p:spPr>
          <a:xfrm>
            <a:off x="8174736" y="249631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Consent bất biến</a:t>
            </a:r>
          </a:p>
        </p:txBody>
      </p:sp>
      <p:sp>
        <p:nvSpPr>
          <p:cNvPr id="22" name="TextBox 21"/>
          <p:cNvSpPr txBox="1"/>
          <p:nvPr/>
        </p:nvSpPr>
        <p:spPr>
          <a:xfrm>
            <a:off x="8174736" y="280720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Đồng ý theo mục đích, lưu vết đầy đủ — an tâm tuân thủ.</a:t>
            </a:r>
          </a:p>
        </p:txBody>
      </p:sp>
      <p:sp>
        <p:nvSpPr>
          <p:cNvPr id="23" name="Rectangle 22"/>
          <p:cNvSpPr/>
          <p:nvPr/>
        </p:nvSpPr>
        <p:spPr>
          <a:xfrm>
            <a:off x="566928" y="402336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0233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1879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6" name="TextBox 25"/>
          <p:cNvSpPr txBox="1"/>
          <p:nvPr/>
        </p:nvSpPr>
        <p:spPr>
          <a:xfrm>
            <a:off x="768096" y="46451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Journey đúng người – đúng lúc</a:t>
            </a:r>
          </a:p>
        </p:txBody>
      </p:sp>
      <p:sp>
        <p:nvSpPr>
          <p:cNvPr id="27" name="TextBox 26"/>
          <p:cNvSpPr txBox="1"/>
          <p:nvPr/>
        </p:nvSpPr>
        <p:spPr>
          <a:xfrm>
            <a:off x="768096" y="495604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Kịch bản tự động phản ứng theo hành vi thực.</a:t>
            </a:r>
          </a:p>
        </p:txBody>
      </p:sp>
      <p:sp>
        <p:nvSpPr>
          <p:cNvPr id="28" name="Rectangle 27"/>
          <p:cNvSpPr/>
          <p:nvPr/>
        </p:nvSpPr>
        <p:spPr>
          <a:xfrm>
            <a:off x="4270248" y="402336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70248" y="40233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71416" y="41879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1" name="TextBox 30"/>
          <p:cNvSpPr txBox="1"/>
          <p:nvPr/>
        </p:nvSpPr>
        <p:spPr>
          <a:xfrm>
            <a:off x="4471416" y="46451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AI GIẢI THÍCH ĐƯỢC</a:t>
            </a:r>
          </a:p>
        </p:txBody>
      </p:sp>
      <p:sp>
        <p:nvSpPr>
          <p:cNvPr id="32" name="TextBox 31"/>
          <p:cNvSpPr txBox="1"/>
          <p:nvPr/>
        </p:nvSpPr>
        <p:spPr>
          <a:xfrm>
            <a:off x="4471416" y="495604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Không phải hộp đen — mỗi đề xuất đều có lý do rõ ràng.</a:t>
            </a:r>
          </a:p>
        </p:txBody>
      </p:sp>
      <p:sp>
        <p:nvSpPr>
          <p:cNvPr id="33" name="Rectangle 32"/>
          <p:cNvSpPr/>
          <p:nvPr/>
        </p:nvSpPr>
        <p:spPr>
          <a:xfrm>
            <a:off x="7973567" y="402336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73567" y="40233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74736" y="41879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6" name="TextBox 35"/>
          <p:cNvSpPr txBox="1"/>
          <p:nvPr/>
        </p:nvSpPr>
        <p:spPr>
          <a:xfrm>
            <a:off x="8174736" y="46451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50" b="1" i="0">
                <a:solidFill>
                  <a:srgbClr val="2E2E40"/>
                </a:solidFill>
                <a:latin typeface="Calibri"/>
              </a:rPr>
              <a:t>Self-host — dữ liệu tại VN</a:t>
            </a:r>
          </a:p>
        </p:txBody>
      </p:sp>
      <p:sp>
        <p:nvSpPr>
          <p:cNvPr id="37" name="TextBox 36"/>
          <p:cNvSpPr txBox="1"/>
          <p:nvPr/>
        </p:nvSpPr>
        <p:spPr>
          <a:xfrm>
            <a:off x="8174736" y="495604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Chủ quyền dữ liệu, không phụ thuộc nền tảng nước ngoài.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LƯU ĐỒ VẬN HÀNH · 1</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Ingestion → Hợp nhất định danh → Customer 360</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22</a:t>
            </a:r>
          </a:p>
        </p:txBody>
      </p:sp>
      <p:sp>
        <p:nvSpPr>
          <p:cNvPr id="8" name="Rectangle 7"/>
          <p:cNvSpPr/>
          <p:nvPr/>
        </p:nvSpPr>
        <p:spPr>
          <a:xfrm>
            <a:off x="777240" y="1737360"/>
            <a:ext cx="10652760" cy="414223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c_identity.png"/>
          <p:cNvPicPr>
            <a:picLocks noChangeAspect="1"/>
          </p:cNvPicPr>
          <p:nvPr/>
        </p:nvPicPr>
        <p:blipFill>
          <a:blip r:embed="rId2"/>
          <a:stretch>
            <a:fillRect/>
          </a:stretch>
        </p:blipFill>
        <p:spPr>
          <a:xfrm>
            <a:off x="1564096" y="1783080"/>
            <a:ext cx="9079047" cy="4050791"/>
          </a:xfrm>
          <a:prstGeom prst="rect">
            <a:avLst/>
          </a:prstGeom>
        </p:spPr>
      </p:pic>
      <p:sp>
        <p:nvSpPr>
          <p:cNvPr id="10" name="TextBox 9"/>
          <p:cNvSpPr txBox="1"/>
          <p:nvPr/>
        </p:nvSpPr>
        <p:spPr>
          <a:xfrm>
            <a:off x="777240" y="5916168"/>
            <a:ext cx="1065276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Từ giao dịch POS/PMS đến hồ sơ 360° và điểm AI — hợp nhất định danh tự động.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LƯU ĐỒ VẬN HÀNH · 2</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Consent → Kích hoạt</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23</a:t>
            </a:r>
          </a:p>
        </p:txBody>
      </p:sp>
      <p:sp>
        <p:nvSpPr>
          <p:cNvPr id="8" name="Rectangle 7"/>
          <p:cNvSpPr/>
          <p:nvPr/>
        </p:nvSpPr>
        <p:spPr>
          <a:xfrm>
            <a:off x="777240" y="1737360"/>
            <a:ext cx="10652760" cy="414223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c_consent.png"/>
          <p:cNvPicPr>
            <a:picLocks noChangeAspect="1"/>
          </p:cNvPicPr>
          <p:nvPr/>
        </p:nvPicPr>
        <p:blipFill>
          <a:blip r:embed="rId2"/>
          <a:stretch>
            <a:fillRect/>
          </a:stretch>
        </p:blipFill>
        <p:spPr>
          <a:xfrm>
            <a:off x="1400462" y="1783080"/>
            <a:ext cx="9406315" cy="4050791"/>
          </a:xfrm>
          <a:prstGeom prst="rect">
            <a:avLst/>
          </a:prstGeom>
        </p:spPr>
      </p:pic>
      <p:sp>
        <p:nvSpPr>
          <p:cNvPr id="10" name="TextBox 9"/>
          <p:cNvSpPr txBox="1"/>
          <p:nvPr/>
        </p:nvSpPr>
        <p:spPr>
          <a:xfrm>
            <a:off x="777240" y="5916168"/>
            <a:ext cx="1065276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Chỉ khách đã đồng ý mới được gửi; phần còn lại bị loại (suppressed).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LƯU ĐỒ VẬN HÀNH · 3</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Journey — Tự động hoá chăm sóc</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24</a:t>
            </a:r>
          </a:p>
        </p:txBody>
      </p:sp>
      <p:sp>
        <p:nvSpPr>
          <p:cNvPr id="8" name="Rectangle 7"/>
          <p:cNvSpPr/>
          <p:nvPr/>
        </p:nvSpPr>
        <p:spPr>
          <a:xfrm>
            <a:off x="777240" y="1737360"/>
            <a:ext cx="10652760" cy="414223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c_journey.png"/>
          <p:cNvPicPr>
            <a:picLocks noChangeAspect="1"/>
          </p:cNvPicPr>
          <p:nvPr/>
        </p:nvPicPr>
        <p:blipFill>
          <a:blip r:embed="rId2"/>
          <a:stretch>
            <a:fillRect/>
          </a:stretch>
        </p:blipFill>
        <p:spPr>
          <a:xfrm>
            <a:off x="1400462" y="1783080"/>
            <a:ext cx="9406315" cy="4050791"/>
          </a:xfrm>
          <a:prstGeom prst="rect">
            <a:avLst/>
          </a:prstGeom>
        </p:spPr>
      </p:pic>
      <p:sp>
        <p:nvSpPr>
          <p:cNvPr id="10" name="TextBox 9"/>
          <p:cNvSpPr txBox="1"/>
          <p:nvPr/>
        </p:nvSpPr>
        <p:spPr>
          <a:xfrm>
            <a:off x="777240" y="5916168"/>
            <a:ext cx="1065276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Khách thoả trigger → vào journey → hành động → chờ → lặp đến khi kết thúc.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LƯU ĐỒ VẬN HÀNH · 4</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Loyalty — Tích, giữ &amp; chốt điểm</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25</a:t>
            </a:r>
          </a:p>
        </p:txBody>
      </p:sp>
      <p:sp>
        <p:nvSpPr>
          <p:cNvPr id="8" name="Rectangle 7"/>
          <p:cNvSpPr/>
          <p:nvPr/>
        </p:nvSpPr>
        <p:spPr>
          <a:xfrm>
            <a:off x="777240" y="1737360"/>
            <a:ext cx="10652760" cy="414223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c_loyalty.png"/>
          <p:cNvPicPr>
            <a:picLocks noChangeAspect="1"/>
          </p:cNvPicPr>
          <p:nvPr/>
        </p:nvPicPr>
        <p:blipFill>
          <a:blip r:embed="rId2"/>
          <a:stretch>
            <a:fillRect/>
          </a:stretch>
        </p:blipFill>
        <p:spPr>
          <a:xfrm>
            <a:off x="1400462" y="1783080"/>
            <a:ext cx="9406315" cy="4050791"/>
          </a:xfrm>
          <a:prstGeom prst="rect">
            <a:avLst/>
          </a:prstGeom>
        </p:spPr>
      </p:pic>
      <p:sp>
        <p:nvSpPr>
          <p:cNvPr id="10" name="TextBox 9"/>
          <p:cNvSpPr txBox="1"/>
          <p:nvPr/>
        </p:nvSpPr>
        <p:spPr>
          <a:xfrm>
            <a:off x="777240" y="5916168"/>
            <a:ext cx="1065276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Sổ kép: reserve → capture (chốt) hoặc release (hoàn) — không âm quỹ.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TRIỂN KHAI &amp; VẬN HÀNH</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Quy trình triển khai hệ thống</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26</a:t>
            </a:r>
          </a:p>
        </p:txBody>
      </p:sp>
      <p:sp>
        <p:nvSpPr>
          <p:cNvPr id="8" name="Rectangle 7"/>
          <p:cNvSpPr/>
          <p:nvPr/>
        </p:nvSpPr>
        <p:spPr>
          <a:xfrm>
            <a:off x="777240" y="1737360"/>
            <a:ext cx="10652760" cy="4142231"/>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c_deploy.png"/>
          <p:cNvPicPr>
            <a:picLocks noChangeAspect="1"/>
          </p:cNvPicPr>
          <p:nvPr/>
        </p:nvPicPr>
        <p:blipFill>
          <a:blip r:embed="rId2"/>
          <a:stretch>
            <a:fillRect/>
          </a:stretch>
        </p:blipFill>
        <p:spPr>
          <a:xfrm>
            <a:off x="822960" y="2245909"/>
            <a:ext cx="10561320" cy="3125132"/>
          </a:xfrm>
          <a:prstGeom prst="rect">
            <a:avLst/>
          </a:prstGeom>
        </p:spPr>
      </p:pic>
      <p:sp>
        <p:nvSpPr>
          <p:cNvPr id="10" name="TextBox 9"/>
          <p:cNvSpPr txBox="1"/>
          <p:nvPr/>
        </p:nvSpPr>
        <p:spPr>
          <a:xfrm>
            <a:off x="777240" y="5916168"/>
            <a:ext cx="1065276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Khảo sát → Hạ tầng → Tích hợp → Di trú → UAT → Go-live → Vận hành (vòng lặp tối ưu).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KẾT LUẬN</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Vì sao chọn AICDP / AIPOWER cho OCH</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27</a:t>
            </a:r>
          </a:p>
        </p:txBody>
      </p:sp>
      <p:sp>
        <p:nvSpPr>
          <p:cNvPr id="8" name="Rectangle 7"/>
          <p:cNvSpPr/>
          <p:nvPr/>
        </p:nvSpPr>
        <p:spPr>
          <a:xfrm>
            <a:off x="566928" y="192024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2024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8483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1" name="TextBox 10"/>
          <p:cNvSpPr txBox="1"/>
          <p:nvPr/>
        </p:nvSpPr>
        <p:spPr>
          <a:xfrm>
            <a:off x="768096" y="254203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Self-host tại Việt Nam</a:t>
            </a:r>
          </a:p>
        </p:txBody>
      </p:sp>
      <p:sp>
        <p:nvSpPr>
          <p:cNvPr id="12" name="TextBox 11"/>
          <p:cNvSpPr txBox="1"/>
          <p:nvPr/>
        </p:nvSpPr>
        <p:spPr>
          <a:xfrm>
            <a:off x="768096" y="285292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Chủ quyền dữ liệu, tuân thủ pháp lý, không lệ thuộc cloud nước ngoài.</a:t>
            </a:r>
          </a:p>
        </p:txBody>
      </p:sp>
      <p:sp>
        <p:nvSpPr>
          <p:cNvPr id="13" name="Rectangle 12"/>
          <p:cNvSpPr/>
          <p:nvPr/>
        </p:nvSpPr>
        <p:spPr>
          <a:xfrm>
            <a:off x="4270248" y="192024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92024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208483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6" name="TextBox 15"/>
          <p:cNvSpPr txBox="1"/>
          <p:nvPr/>
        </p:nvSpPr>
        <p:spPr>
          <a:xfrm>
            <a:off x="4471416" y="254203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May đo F&amp;B + Khách sạn</a:t>
            </a:r>
          </a:p>
        </p:txBody>
      </p:sp>
      <p:sp>
        <p:nvSpPr>
          <p:cNvPr id="17" name="TextBox 16"/>
          <p:cNvSpPr txBox="1"/>
          <p:nvPr/>
        </p:nvSpPr>
        <p:spPr>
          <a:xfrm>
            <a:off x="4471416" y="285292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Thiết kế riêng cho hệ sinh thái đa thương hiệu của OCH.</a:t>
            </a:r>
          </a:p>
        </p:txBody>
      </p:sp>
      <p:sp>
        <p:nvSpPr>
          <p:cNvPr id="18" name="Rectangle 17"/>
          <p:cNvSpPr/>
          <p:nvPr/>
        </p:nvSpPr>
        <p:spPr>
          <a:xfrm>
            <a:off x="7973567" y="192024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7" y="192024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208483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1" name="TextBox 20"/>
          <p:cNvSpPr txBox="1"/>
          <p:nvPr/>
        </p:nvSpPr>
        <p:spPr>
          <a:xfrm>
            <a:off x="8174736" y="254203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Chi phí sở hữu thấp</a:t>
            </a:r>
          </a:p>
        </p:txBody>
      </p:sp>
      <p:sp>
        <p:nvSpPr>
          <p:cNvPr id="22" name="TextBox 21"/>
          <p:cNvSpPr txBox="1"/>
          <p:nvPr/>
        </p:nvSpPr>
        <p:spPr>
          <a:xfrm>
            <a:off x="8174736" y="285292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Mã nguồn mở, không phí license theo số khách — tối ưu dài hạn.</a:t>
            </a:r>
          </a:p>
        </p:txBody>
      </p:sp>
      <p:sp>
        <p:nvSpPr>
          <p:cNvPr id="23" name="Rectangle 22"/>
          <p:cNvSpPr/>
          <p:nvPr/>
        </p:nvSpPr>
        <p:spPr>
          <a:xfrm>
            <a:off x="566928" y="406908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06908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23367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6" name="TextBox 25"/>
          <p:cNvSpPr txBox="1"/>
          <p:nvPr/>
        </p:nvSpPr>
        <p:spPr>
          <a:xfrm>
            <a:off x="768096" y="469087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Kênh Việt Nam (Zalo ZNS)</a:t>
            </a:r>
          </a:p>
        </p:txBody>
      </p:sp>
      <p:sp>
        <p:nvSpPr>
          <p:cNvPr id="27" name="TextBox 26"/>
          <p:cNvSpPr txBox="1"/>
          <p:nvPr/>
        </p:nvSpPr>
        <p:spPr>
          <a:xfrm>
            <a:off x="768096" y="500176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Tiếp cận khách qua kênh phổ biến nhất tại VN.</a:t>
            </a:r>
          </a:p>
        </p:txBody>
      </p:sp>
      <p:sp>
        <p:nvSpPr>
          <p:cNvPr id="28" name="Rectangle 27"/>
          <p:cNvSpPr/>
          <p:nvPr/>
        </p:nvSpPr>
        <p:spPr>
          <a:xfrm>
            <a:off x="4270248" y="406908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70248" y="406908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71416" y="423367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1" name="TextBox 30"/>
          <p:cNvSpPr txBox="1"/>
          <p:nvPr/>
        </p:nvSpPr>
        <p:spPr>
          <a:xfrm>
            <a:off x="4471416" y="469087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Hợp nhất &amp; AI hành động</a:t>
            </a:r>
          </a:p>
        </p:txBody>
      </p:sp>
      <p:sp>
        <p:nvSpPr>
          <p:cNvPr id="32" name="TextBox 31"/>
          <p:cNvSpPr txBox="1"/>
          <p:nvPr/>
        </p:nvSpPr>
        <p:spPr>
          <a:xfrm>
            <a:off x="4471416" y="500176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Một OCH ID + AI biến dữ liệu thành doanh thu.</a:t>
            </a:r>
          </a:p>
        </p:txBody>
      </p:sp>
      <p:sp>
        <p:nvSpPr>
          <p:cNvPr id="33" name="Rectangle 32"/>
          <p:cNvSpPr/>
          <p:nvPr/>
        </p:nvSpPr>
        <p:spPr>
          <a:xfrm>
            <a:off x="7973567" y="406908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73567" y="406908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74736" y="423367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6" name="TextBox 35"/>
          <p:cNvSpPr txBox="1"/>
          <p:nvPr/>
        </p:nvSpPr>
        <p:spPr>
          <a:xfrm>
            <a:off x="8174736" y="469087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Sẵn sàng nhân rộng</a:t>
            </a:r>
          </a:p>
        </p:txBody>
      </p:sp>
      <p:sp>
        <p:nvSpPr>
          <p:cNvPr id="37" name="TextBox 36"/>
          <p:cNvSpPr txBox="1"/>
          <p:nvPr/>
        </p:nvSpPr>
        <p:spPr>
          <a:xfrm>
            <a:off x="8174736" y="500176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Thêm thương hiệu mới với chi phí biên thấp.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11696"/>
            <a:ext cx="12191695" cy="14630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32720" cy="91440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4600" b="1" i="0">
                <a:solidFill>
                  <a:srgbClr val="2E2E40"/>
                </a:solidFill>
                <a:latin typeface="Georgia"/>
              </a:rPr>
              <a:t>Xin cảm ơn</a:t>
            </a:r>
          </a:p>
        </p:txBody>
      </p:sp>
      <p:sp>
        <p:nvSpPr>
          <p:cNvPr id="6" name="TextBox 5"/>
          <p:cNvSpPr txBox="1"/>
          <p:nvPr/>
        </p:nvSpPr>
        <p:spPr>
          <a:xfrm>
            <a:off x="3352647" y="3069590"/>
            <a:ext cx="5486400" cy="65151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3800" b="1" i="0">
                <a:solidFill>
                  <a:srgbClr val="2E2E40"/>
                </a:solidFill>
                <a:latin typeface="Georgia"/>
              </a:rPr>
              <a:t>OCH</a:t>
            </a:r>
          </a:p>
        </p:txBody>
      </p:sp>
      <p:sp>
        <p:nvSpPr>
          <p:cNvPr id="7" name="Rectangle 6"/>
          <p:cNvSpPr/>
          <p:nvPr/>
        </p:nvSpPr>
        <p:spPr>
          <a:xfrm>
            <a:off x="4632807" y="3730752"/>
            <a:ext cx="2926080" cy="25603"/>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52647" y="3785615"/>
            <a:ext cx="5486400" cy="32004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200" b="1" i="0">
                <a:solidFill>
                  <a:srgbClr val="C39851"/>
                </a:solidFill>
                <a:latin typeface="Calibri"/>
              </a:rPr>
              <a:t>O N E   C A P I T A L   H O S P I T A L I T Y</a:t>
            </a:r>
          </a:p>
        </p:txBody>
      </p:sp>
      <p:sp>
        <p:nvSpPr>
          <p:cNvPr id="9" name="TextBox 8"/>
          <p:cNvSpPr txBox="1"/>
          <p:nvPr/>
        </p:nvSpPr>
        <p:spPr>
          <a:xfrm>
            <a:off x="914400" y="4206240"/>
            <a:ext cx="10332720" cy="45720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500" b="0" i="1">
                <a:solidFill>
                  <a:srgbClr val="565564"/>
                </a:solidFill>
                <a:latin typeface="Calibri"/>
              </a:rPr>
              <a:t>Customer Data Platform</a:t>
            </a:r>
          </a:p>
        </p:txBody>
      </p:sp>
      <p:sp>
        <p:nvSpPr>
          <p:cNvPr id="10" name="TextBox 9"/>
          <p:cNvSpPr txBox="1"/>
          <p:nvPr/>
        </p:nvSpPr>
        <p:spPr>
          <a:xfrm>
            <a:off x="914400" y="4937760"/>
            <a:ext cx="10332720" cy="45720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500" b="1" i="0">
                <a:solidFill>
                  <a:srgbClr val="C39851"/>
                </a:solidFill>
                <a:latin typeface="Calibri"/>
              </a:rPr>
              <a:t>Phát triển bởi AIPOWER  ·  aipower.vn</a:t>
            </a:r>
          </a:p>
        </p:txBody>
      </p:sp>
      <p:pic>
        <p:nvPicPr>
          <p:cNvPr id="11" name="Picture 10" descr="aipower-logo.png"/>
          <p:cNvPicPr>
            <a:picLocks noChangeAspect="1"/>
          </p:cNvPicPr>
          <p:nvPr/>
        </p:nvPicPr>
        <p:blipFill>
          <a:blip r:embed="rId2"/>
          <a:stretch>
            <a:fillRect/>
          </a:stretch>
        </p:blipFill>
        <p:spPr>
          <a:xfrm>
            <a:off x="5364327" y="5349240"/>
            <a:ext cx="1463040" cy="612157"/>
          </a:xfrm>
          <a:prstGeom prst="rect">
            <a:avLst/>
          </a:prstGeom>
        </p:spPr>
      </p:pic>
      <p:sp>
        <p:nvSpPr>
          <p:cNvPr id="12" name="TextBox 11"/>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13" name="TextBox 12"/>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38160" y="0"/>
            <a:ext cx="4144975" cy="6858000"/>
          </a:xfrm>
          <a:prstGeom prst="rect">
            <a:avLst/>
          </a:prstGeom>
          <a:solidFill>
            <a:srgbClr val="E7D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365760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C39851"/>
                </a:solidFill>
                <a:latin typeface="Calibri"/>
              </a:rPr>
              <a:t>PHỤ LỤC · Tư liệu tham khảo</a:t>
            </a:r>
          </a:p>
        </p:txBody>
      </p:sp>
      <p:sp>
        <p:nvSpPr>
          <p:cNvPr id="6" name="TextBox 5"/>
          <p:cNvSpPr txBox="1"/>
          <p:nvPr/>
        </p:nvSpPr>
        <p:spPr>
          <a:xfrm>
            <a:off x="914400" y="2487168"/>
            <a:ext cx="9601200" cy="1463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5800" b="1" i="0">
                <a:solidFill>
                  <a:srgbClr val="2E2E40"/>
                </a:solidFill>
                <a:latin typeface="Georgia"/>
              </a:rPr>
              <a:t>PHỤ LỤC</a:t>
            </a:r>
          </a:p>
        </p:txBody>
      </p:sp>
      <p:sp>
        <p:nvSpPr>
          <p:cNvPr id="7" name="Rectangle 6"/>
          <p:cNvSpPr/>
          <p:nvPr/>
        </p:nvSpPr>
        <p:spPr>
          <a:xfrm>
            <a:off x="941832" y="4297680"/>
            <a:ext cx="219456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4526280"/>
            <a:ext cx="8778240" cy="1097280"/>
          </a:xfrm>
          <a:prstGeom prst="rect">
            <a:avLst/>
          </a:prstGeom>
          <a:noFill/>
        </p:spPr>
        <p:txBody>
          <a:bodyPr wrap="square" anchor="t" lIns="25400" rIns="25400" tIns="12700" bIns="12700">
            <a:spAutoFit/>
          </a:bodyPr>
          <a:lstStyle/>
          <a:p>
            <a:pPr algn="l">
              <a:lnSpc>
                <a:spcPct val="120000"/>
              </a:lnSpc>
              <a:spcBef>
                <a:spcPts val="0"/>
              </a:spcBef>
              <a:spcAft>
                <a:spcPts val="400"/>
              </a:spcAft>
            </a:pPr>
            <a:r>
              <a:rPr sz="1500" b="0" i="0">
                <a:solidFill>
                  <a:srgbClr val="565564"/>
                </a:solidFill>
                <a:latin typeface="Calibri"/>
              </a:rPr>
              <a:t>Thị trường CDP (số liệu &amp; nguồn), so sánh nền tảng, và kiến trúc kỹ thuật của hệ thống.</a:t>
            </a:r>
          </a:p>
        </p:txBody>
      </p:sp>
      <p:sp>
        <p:nvSpPr>
          <p:cNvPr id="9" name="TextBox 8"/>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10" name="TextBox 9"/>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1/10</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Thị trường CDP — Bối cảnh</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30</a:t>
            </a:r>
          </a:p>
        </p:txBody>
      </p:sp>
      <p:sp>
        <p:nvSpPr>
          <p:cNvPr id="8" name="TextBox 7"/>
          <p:cNvSpPr txBox="1"/>
          <p:nvPr/>
        </p:nvSpPr>
        <p:spPr>
          <a:xfrm>
            <a:off x="566928" y="1920240"/>
            <a:ext cx="10972800" cy="1005840"/>
          </a:xfrm>
          <a:prstGeom prst="rect">
            <a:avLst/>
          </a:prstGeom>
          <a:noFill/>
        </p:spPr>
        <p:txBody>
          <a:bodyPr wrap="square" anchor="t" lIns="25400" rIns="25400" tIns="12700" bIns="12700">
            <a:spAutoFit/>
          </a:bodyPr>
          <a:lstStyle/>
          <a:p>
            <a:pPr algn="l">
              <a:lnSpc>
                <a:spcPct val="115000"/>
              </a:lnSpc>
              <a:spcBef>
                <a:spcPts val="0"/>
              </a:spcBef>
              <a:spcAft>
                <a:spcPts val="400"/>
              </a:spcAft>
            </a:pPr>
            <a:r>
              <a:rPr sz="1700" b="1" i="0">
                <a:solidFill>
                  <a:srgbClr val="2E2E40"/>
                </a:solidFill>
                <a:latin typeface="Calibri"/>
              </a:rPr>
              <a:t>CDP là một trong những hạ tầng martech tăng trưởng nhanh nhất thế giới.</a:t>
            </a:r>
          </a:p>
        </p:txBody>
      </p:sp>
      <p:sp>
        <p:nvSpPr>
          <p:cNvPr id="9" name="Rectangle 8"/>
          <p:cNvSpPr/>
          <p:nvPr/>
        </p:nvSpPr>
        <p:spPr>
          <a:xfrm>
            <a:off x="566928" y="3200400"/>
            <a:ext cx="3474720" cy="22860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200400"/>
            <a:ext cx="64008" cy="2286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36499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2" name="TextBox 11"/>
          <p:cNvSpPr txBox="1"/>
          <p:nvPr/>
        </p:nvSpPr>
        <p:spPr>
          <a:xfrm>
            <a:off x="768096" y="3822191"/>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Tăng trưởng nhanh nhất martech</a:t>
            </a:r>
          </a:p>
        </p:txBody>
      </p:sp>
      <p:sp>
        <p:nvSpPr>
          <p:cNvPr id="13" name="TextBox 12"/>
          <p:cNvSpPr txBox="1"/>
          <p:nvPr/>
        </p:nvSpPr>
        <p:spPr>
          <a:xfrm>
            <a:off x="768096" y="4133087"/>
            <a:ext cx="3118103" cy="12435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200" b="0" i="0">
                <a:solidFill>
                  <a:srgbClr val="565564"/>
                </a:solidFill>
                <a:latin typeface="Calibri"/>
              </a:rPr>
              <a:t>Nhu cầu hợp nhất dữ liệu khách hàng bùng nổ ở mọi ngành.</a:t>
            </a:r>
          </a:p>
        </p:txBody>
      </p:sp>
      <p:sp>
        <p:nvSpPr>
          <p:cNvPr id="14" name="Rectangle 13"/>
          <p:cNvSpPr/>
          <p:nvPr/>
        </p:nvSpPr>
        <p:spPr>
          <a:xfrm>
            <a:off x="4270248" y="3200400"/>
            <a:ext cx="3474720" cy="22860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0248" y="3200400"/>
            <a:ext cx="64008" cy="2286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336499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7" name="TextBox 16"/>
          <p:cNvSpPr txBox="1"/>
          <p:nvPr/>
        </p:nvSpPr>
        <p:spPr>
          <a:xfrm>
            <a:off x="4471416" y="3822191"/>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Động lực chính: dữ liệu phân mảnh</a:t>
            </a:r>
          </a:p>
        </p:txBody>
      </p:sp>
      <p:sp>
        <p:nvSpPr>
          <p:cNvPr id="18" name="TextBox 17"/>
          <p:cNvSpPr txBox="1"/>
          <p:nvPr/>
        </p:nvSpPr>
        <p:spPr>
          <a:xfrm>
            <a:off x="4471416" y="4133087"/>
            <a:ext cx="3118103" cy="12435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200" b="0" i="0">
                <a:solidFill>
                  <a:srgbClr val="565564"/>
                </a:solidFill>
                <a:latin typeface="Calibri"/>
              </a:rPr>
              <a:t>Doanh nghiệp không có hồ sơ khách toàn diện — đúng bài toán OCH.</a:t>
            </a:r>
          </a:p>
        </p:txBody>
      </p:sp>
      <p:sp>
        <p:nvSpPr>
          <p:cNvPr id="19" name="Rectangle 18"/>
          <p:cNvSpPr/>
          <p:nvPr/>
        </p:nvSpPr>
        <p:spPr>
          <a:xfrm>
            <a:off x="7973567" y="3200400"/>
            <a:ext cx="3474720" cy="22860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7" y="3200400"/>
            <a:ext cx="64008" cy="2286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336499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2" name="TextBox 21"/>
          <p:cNvSpPr txBox="1"/>
          <p:nvPr/>
        </p:nvSpPr>
        <p:spPr>
          <a:xfrm>
            <a:off x="8174736" y="3822191"/>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AI thúc đẩy nhu cầu</a:t>
            </a:r>
          </a:p>
        </p:txBody>
      </p:sp>
      <p:sp>
        <p:nvSpPr>
          <p:cNvPr id="23" name="TextBox 22"/>
          <p:cNvSpPr txBox="1"/>
          <p:nvPr/>
        </p:nvSpPr>
        <p:spPr>
          <a:xfrm>
            <a:off x="8174736" y="4133087"/>
            <a:ext cx="3118103" cy="12435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200" b="0" i="0">
                <a:solidFill>
                  <a:srgbClr val="565564"/>
                </a:solidFill>
                <a:latin typeface="Calibri"/>
              </a:rPr>
              <a:t>Cá nhân hoá bằng AI cần một nền dữ liệu hợp nhất, sạch, realtime.</a:t>
            </a:r>
          </a:p>
        </p:txBody>
      </p:sp>
      <p:sp>
        <p:nvSpPr>
          <p:cNvPr id="24" name="TextBox 23"/>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Tổng hợp Grand View Research, MarketsandMarkets, CDP Institute, Twilio Segment (2024–2025).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2/10 · SỐ LIỆU NHIỀU NGUỒN</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Quy mô thị trường CDP</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31</a:t>
            </a:r>
          </a:p>
        </p:txBody>
      </p:sp>
      <p:sp>
        <p:nvSpPr>
          <p:cNvPr id="8" name="Rectangle 7"/>
          <p:cNvSpPr/>
          <p:nvPr/>
        </p:nvSpPr>
        <p:spPr>
          <a:xfrm>
            <a:off x="566928" y="1874519"/>
            <a:ext cx="365760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74519"/>
            <a:ext cx="3474720" cy="50292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FFFFFF"/>
                </a:solidFill>
                <a:latin typeface="Calibri"/>
              </a:rPr>
              <a:t>Nguồn nghiên cứu</a:t>
            </a:r>
          </a:p>
        </p:txBody>
      </p:sp>
      <p:sp>
        <p:nvSpPr>
          <p:cNvPr id="10" name="Rectangle 9"/>
          <p:cNvSpPr/>
          <p:nvPr/>
        </p:nvSpPr>
        <p:spPr>
          <a:xfrm>
            <a:off x="4224528" y="1874519"/>
            <a:ext cx="283464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15968" y="1874519"/>
            <a:ext cx="2651760" cy="50292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FFFFFF"/>
                </a:solidFill>
                <a:latin typeface="Calibri"/>
              </a:rPr>
              <a:t>Hiện tại</a:t>
            </a:r>
          </a:p>
        </p:txBody>
      </p:sp>
      <p:sp>
        <p:nvSpPr>
          <p:cNvPr id="12" name="Rectangle 11"/>
          <p:cNvSpPr/>
          <p:nvPr/>
        </p:nvSpPr>
        <p:spPr>
          <a:xfrm>
            <a:off x="7059168" y="1874519"/>
            <a:ext cx="301752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50608" y="1874519"/>
            <a:ext cx="2834639" cy="50292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FFFFFF"/>
                </a:solidFill>
                <a:latin typeface="Calibri"/>
              </a:rPr>
              <a:t>Dự báo</a:t>
            </a:r>
          </a:p>
        </p:txBody>
      </p:sp>
      <p:sp>
        <p:nvSpPr>
          <p:cNvPr id="14" name="Rectangle 13"/>
          <p:cNvSpPr/>
          <p:nvPr/>
        </p:nvSpPr>
        <p:spPr>
          <a:xfrm>
            <a:off x="10076688" y="1874519"/>
            <a:ext cx="155448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68128" y="1874519"/>
            <a:ext cx="1371600" cy="5029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150" b="1" i="0">
                <a:solidFill>
                  <a:srgbClr val="FFFFFF"/>
                </a:solidFill>
                <a:latin typeface="Calibri"/>
              </a:rPr>
              <a:t>CAGR</a:t>
            </a:r>
          </a:p>
        </p:txBody>
      </p:sp>
      <p:sp>
        <p:nvSpPr>
          <p:cNvPr id="16" name="Rectangle 15"/>
          <p:cNvSpPr/>
          <p:nvPr/>
        </p:nvSpPr>
        <p:spPr>
          <a:xfrm>
            <a:off x="566928" y="2377439"/>
            <a:ext cx="3657600" cy="749808"/>
          </a:xfrm>
          <a:prstGeom prst="rect">
            <a:avLst/>
          </a:prstGeom>
          <a:solidFill>
            <a:srgbClr val="E7DDC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2377439"/>
            <a:ext cx="343814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2E2E40"/>
                </a:solidFill>
                <a:latin typeface="Calibri"/>
              </a:rPr>
              <a:t>Grand View Research</a:t>
            </a:r>
          </a:p>
        </p:txBody>
      </p:sp>
      <p:sp>
        <p:nvSpPr>
          <p:cNvPr id="18" name="Rectangle 17"/>
          <p:cNvSpPr/>
          <p:nvPr/>
        </p:nvSpPr>
        <p:spPr>
          <a:xfrm>
            <a:off x="4224528" y="2377439"/>
            <a:ext cx="283464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34256" y="2377439"/>
            <a:ext cx="261518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8,26 tỷ USD (2025)</a:t>
            </a:r>
          </a:p>
        </p:txBody>
      </p:sp>
      <p:sp>
        <p:nvSpPr>
          <p:cNvPr id="20" name="Rectangle 19"/>
          <p:cNvSpPr/>
          <p:nvPr/>
        </p:nvSpPr>
        <p:spPr>
          <a:xfrm>
            <a:off x="7059168" y="2377439"/>
            <a:ext cx="301752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68896" y="2377439"/>
            <a:ext cx="2798063"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58,41 tỷ USD (2033)</a:t>
            </a:r>
          </a:p>
        </p:txBody>
      </p:sp>
      <p:sp>
        <p:nvSpPr>
          <p:cNvPr id="22" name="Rectangle 21"/>
          <p:cNvSpPr/>
          <p:nvPr/>
        </p:nvSpPr>
        <p:spPr>
          <a:xfrm>
            <a:off x="10076688" y="2377439"/>
            <a:ext cx="155448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86415" y="2377439"/>
            <a:ext cx="1335024" cy="749808"/>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150" b="1" i="0">
                <a:solidFill>
                  <a:srgbClr val="2E2E40"/>
                </a:solidFill>
                <a:latin typeface="Calibri"/>
              </a:rPr>
              <a:t>27,8%</a:t>
            </a:r>
          </a:p>
        </p:txBody>
      </p:sp>
      <p:sp>
        <p:nvSpPr>
          <p:cNvPr id="24" name="Rectangle 23"/>
          <p:cNvSpPr/>
          <p:nvPr/>
        </p:nvSpPr>
        <p:spPr>
          <a:xfrm>
            <a:off x="566928" y="3127247"/>
            <a:ext cx="3657600" cy="749808"/>
          </a:xfrm>
          <a:prstGeom prst="rect">
            <a:avLst/>
          </a:prstGeom>
          <a:solidFill>
            <a:srgbClr val="E7DDC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3127247"/>
            <a:ext cx="343814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2E2E40"/>
                </a:solidFill>
                <a:latin typeface="Calibri"/>
              </a:rPr>
              <a:t>MarketsandMarkets</a:t>
            </a:r>
          </a:p>
        </p:txBody>
      </p:sp>
      <p:sp>
        <p:nvSpPr>
          <p:cNvPr id="26" name="Rectangle 25"/>
          <p:cNvSpPr/>
          <p:nvPr/>
        </p:nvSpPr>
        <p:spPr>
          <a:xfrm>
            <a:off x="4224528" y="3127247"/>
            <a:ext cx="2834640" cy="74980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34256" y="3127247"/>
            <a:ext cx="261518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9,72 tỷ USD (2025)</a:t>
            </a:r>
          </a:p>
        </p:txBody>
      </p:sp>
      <p:sp>
        <p:nvSpPr>
          <p:cNvPr id="28" name="Rectangle 27"/>
          <p:cNvSpPr/>
          <p:nvPr/>
        </p:nvSpPr>
        <p:spPr>
          <a:xfrm>
            <a:off x="7059168" y="3127247"/>
            <a:ext cx="3017520" cy="74980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68896" y="3127247"/>
            <a:ext cx="2798063"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37,11 tỷ USD (2030)</a:t>
            </a:r>
          </a:p>
        </p:txBody>
      </p:sp>
      <p:sp>
        <p:nvSpPr>
          <p:cNvPr id="30" name="Rectangle 29"/>
          <p:cNvSpPr/>
          <p:nvPr/>
        </p:nvSpPr>
        <p:spPr>
          <a:xfrm>
            <a:off x="10076688" y="3127247"/>
            <a:ext cx="1554480" cy="74980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86415" y="3127247"/>
            <a:ext cx="1335024" cy="749808"/>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150" b="1" i="0">
                <a:solidFill>
                  <a:srgbClr val="2E2E40"/>
                </a:solidFill>
                <a:latin typeface="Calibri"/>
              </a:rPr>
              <a:t>30,7%</a:t>
            </a:r>
          </a:p>
        </p:txBody>
      </p:sp>
      <p:sp>
        <p:nvSpPr>
          <p:cNvPr id="32" name="Rectangle 31"/>
          <p:cNvSpPr/>
          <p:nvPr/>
        </p:nvSpPr>
        <p:spPr>
          <a:xfrm>
            <a:off x="566928" y="3877055"/>
            <a:ext cx="3657600" cy="749808"/>
          </a:xfrm>
          <a:prstGeom prst="rect">
            <a:avLst/>
          </a:prstGeom>
          <a:solidFill>
            <a:srgbClr val="E7DDC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 y="3877055"/>
            <a:ext cx="343814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2E2E40"/>
                </a:solidFill>
                <a:latin typeface="Calibri"/>
              </a:rPr>
              <a:t>Fortune Business Insights</a:t>
            </a:r>
          </a:p>
        </p:txBody>
      </p:sp>
      <p:sp>
        <p:nvSpPr>
          <p:cNvPr id="34" name="Rectangle 33"/>
          <p:cNvSpPr/>
          <p:nvPr/>
        </p:nvSpPr>
        <p:spPr>
          <a:xfrm>
            <a:off x="4224528" y="3877055"/>
            <a:ext cx="283464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34256" y="3877055"/>
            <a:ext cx="261518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3,28 tỷ USD (2025)</a:t>
            </a:r>
          </a:p>
        </p:txBody>
      </p:sp>
      <p:sp>
        <p:nvSpPr>
          <p:cNvPr id="36" name="Rectangle 35"/>
          <p:cNvSpPr/>
          <p:nvPr/>
        </p:nvSpPr>
        <p:spPr>
          <a:xfrm>
            <a:off x="7059168" y="3877055"/>
            <a:ext cx="301752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68896" y="3877055"/>
            <a:ext cx="2798063"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17,03 tỷ USD (2034)</a:t>
            </a:r>
          </a:p>
        </p:txBody>
      </p:sp>
      <p:sp>
        <p:nvSpPr>
          <p:cNvPr id="38" name="Rectangle 37"/>
          <p:cNvSpPr/>
          <p:nvPr/>
        </p:nvSpPr>
        <p:spPr>
          <a:xfrm>
            <a:off x="10076688" y="3877055"/>
            <a:ext cx="155448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86415" y="3877055"/>
            <a:ext cx="1335024" cy="749808"/>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150" b="1" i="0">
                <a:solidFill>
                  <a:srgbClr val="2E2E40"/>
                </a:solidFill>
                <a:latin typeface="Calibri"/>
              </a:rPr>
              <a:t>19,6%</a:t>
            </a:r>
          </a:p>
        </p:txBody>
      </p:sp>
      <p:sp>
        <p:nvSpPr>
          <p:cNvPr id="40" name="Rectangle 39"/>
          <p:cNvSpPr/>
          <p:nvPr/>
        </p:nvSpPr>
        <p:spPr>
          <a:xfrm>
            <a:off x="566928" y="4626864"/>
            <a:ext cx="3657600" cy="749808"/>
          </a:xfrm>
          <a:prstGeom prst="rect">
            <a:avLst/>
          </a:prstGeom>
          <a:solidFill>
            <a:srgbClr val="E7DDC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4626864"/>
            <a:ext cx="343814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2E2E40"/>
                </a:solidFill>
                <a:latin typeface="Calibri"/>
              </a:rPr>
              <a:t>Data Bridge Market Research</a:t>
            </a:r>
          </a:p>
        </p:txBody>
      </p:sp>
      <p:sp>
        <p:nvSpPr>
          <p:cNvPr id="42" name="Rectangle 41"/>
          <p:cNvSpPr/>
          <p:nvPr/>
        </p:nvSpPr>
        <p:spPr>
          <a:xfrm>
            <a:off x="4224528" y="4626864"/>
            <a:ext cx="2834640" cy="74980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34256" y="4626864"/>
            <a:ext cx="261518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8,34 tỷ USD (2024)</a:t>
            </a:r>
          </a:p>
        </p:txBody>
      </p:sp>
      <p:sp>
        <p:nvSpPr>
          <p:cNvPr id="44" name="Rectangle 43"/>
          <p:cNvSpPr/>
          <p:nvPr/>
        </p:nvSpPr>
        <p:spPr>
          <a:xfrm>
            <a:off x="7059168" y="4626864"/>
            <a:ext cx="3017520" cy="74980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68896" y="4626864"/>
            <a:ext cx="2798063"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85,18 tỷ USD (2032)</a:t>
            </a:r>
          </a:p>
        </p:txBody>
      </p:sp>
      <p:sp>
        <p:nvSpPr>
          <p:cNvPr id="46" name="Rectangle 45"/>
          <p:cNvSpPr/>
          <p:nvPr/>
        </p:nvSpPr>
        <p:spPr>
          <a:xfrm>
            <a:off x="10076688" y="4626864"/>
            <a:ext cx="1554480" cy="74980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86415" y="4626864"/>
            <a:ext cx="1335024" cy="749808"/>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150" b="1" i="0">
                <a:solidFill>
                  <a:srgbClr val="2E2E40"/>
                </a:solidFill>
                <a:latin typeface="Calibri"/>
              </a:rPr>
              <a:t>33,7%</a:t>
            </a:r>
          </a:p>
        </p:txBody>
      </p:sp>
      <p:sp>
        <p:nvSpPr>
          <p:cNvPr id="48" name="Rectangle 47"/>
          <p:cNvSpPr/>
          <p:nvPr/>
        </p:nvSpPr>
        <p:spPr>
          <a:xfrm>
            <a:off x="566928" y="5376671"/>
            <a:ext cx="3657600" cy="749808"/>
          </a:xfrm>
          <a:prstGeom prst="rect">
            <a:avLst/>
          </a:prstGeom>
          <a:solidFill>
            <a:srgbClr val="E7DDC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6656" y="5376671"/>
            <a:ext cx="343814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1" i="0">
                <a:solidFill>
                  <a:srgbClr val="2E2E40"/>
                </a:solidFill>
                <a:latin typeface="Calibri"/>
              </a:rPr>
              <a:t>CDP Institute</a:t>
            </a:r>
          </a:p>
        </p:txBody>
      </p:sp>
      <p:sp>
        <p:nvSpPr>
          <p:cNvPr id="50" name="Rectangle 49"/>
          <p:cNvSpPr/>
          <p:nvPr/>
        </p:nvSpPr>
        <p:spPr>
          <a:xfrm>
            <a:off x="4224528" y="5376671"/>
            <a:ext cx="283464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34256" y="5376671"/>
            <a:ext cx="2615184"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2,4 tỷ USD (2024)</a:t>
            </a:r>
          </a:p>
        </p:txBody>
      </p:sp>
      <p:sp>
        <p:nvSpPr>
          <p:cNvPr id="52" name="Rectangle 51"/>
          <p:cNvSpPr/>
          <p:nvPr/>
        </p:nvSpPr>
        <p:spPr>
          <a:xfrm>
            <a:off x="7059168" y="5376671"/>
            <a:ext cx="301752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68896" y="5376671"/>
            <a:ext cx="2798063" cy="749808"/>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50" b="0" i="0">
                <a:solidFill>
                  <a:srgbClr val="1B1B2E"/>
                </a:solidFill>
                <a:latin typeface="Calibri"/>
              </a:rPr>
              <a:t>28,2 tỷ USD (2028)</a:t>
            </a:r>
          </a:p>
        </p:txBody>
      </p:sp>
      <p:sp>
        <p:nvSpPr>
          <p:cNvPr id="54" name="Rectangle 53"/>
          <p:cNvSpPr/>
          <p:nvPr/>
        </p:nvSpPr>
        <p:spPr>
          <a:xfrm>
            <a:off x="10076688" y="5376671"/>
            <a:ext cx="1554480" cy="74980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186415" y="5376671"/>
            <a:ext cx="1335024" cy="749808"/>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150" b="1" i="0">
                <a:solidFill>
                  <a:srgbClr val="2E2E40"/>
                </a:solidFill>
                <a:latin typeface="Calibri"/>
              </a:rPr>
              <a:t>39,9%</a:t>
            </a:r>
          </a:p>
        </p:txBody>
      </p:sp>
      <p:sp>
        <p:nvSpPr>
          <p:cNvPr id="56" name="TextBox 55"/>
          <p:cNvSpPr txBox="1"/>
          <p:nvPr/>
        </p:nvSpPr>
        <p:spPr>
          <a:xfrm>
            <a:off x="566928" y="5943600"/>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0" i="1">
                <a:solidFill>
                  <a:srgbClr val="2E2E40"/>
                </a:solidFill>
                <a:latin typeface="Calibri"/>
              </a:rPr>
              <a:t>Khác biệt con số do phương pháp/định nghĩa khác nhau — nhưng MỌI nguồn đều tăng trưởng hai chữ số.</a:t>
            </a:r>
          </a:p>
        </p:txBody>
      </p:sp>
      <p:sp>
        <p:nvSpPr>
          <p:cNvPr id="57" name="TextBox 56"/>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grandviewresearch.com · marketsandmarkets.com (Report 94223554) · fortunebusinessinsights.com · databridgemarketresearch.com · cdpinstitute.org (2024–2025).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3/10</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Tốc độ tăng trưởng (CAGR)</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32</a:t>
            </a:r>
          </a:p>
        </p:txBody>
      </p:sp>
      <p:sp>
        <p:nvSpPr>
          <p:cNvPr id="8" name="Rectangle 7"/>
          <p:cNvSpPr/>
          <p:nvPr/>
        </p:nvSpPr>
        <p:spPr>
          <a:xfrm>
            <a:off x="960120" y="1783080"/>
            <a:ext cx="10241280" cy="3730752"/>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agr.png"/>
          <p:cNvPicPr>
            <a:picLocks noChangeAspect="1"/>
          </p:cNvPicPr>
          <p:nvPr/>
        </p:nvPicPr>
        <p:blipFill>
          <a:blip r:embed="rId2"/>
          <a:stretch>
            <a:fillRect/>
          </a:stretch>
        </p:blipFill>
        <p:spPr>
          <a:xfrm>
            <a:off x="2030786" y="1828800"/>
            <a:ext cx="8099947" cy="3639312"/>
          </a:xfrm>
          <a:prstGeom prst="rect">
            <a:avLst/>
          </a:prstGeom>
        </p:spPr>
      </p:pic>
      <p:sp>
        <p:nvSpPr>
          <p:cNvPr id="10" name="TextBox 9"/>
          <p:cNvSpPr txBox="1"/>
          <p:nvPr/>
        </p:nvSpPr>
        <p:spPr>
          <a:xfrm>
            <a:off x="960120" y="5550408"/>
            <a:ext cx="1024128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CAGR dự báo theo từng hãng — tất cả đều ở mức hai chữ số (19,6%–39,9%).</a:t>
            </a:r>
          </a:p>
        </p:txBody>
      </p:sp>
      <p:sp>
        <p:nvSpPr>
          <p:cNvPr id="11" name="TextBox 10"/>
          <p:cNvSpPr txBox="1"/>
          <p:nvPr/>
        </p:nvSpPr>
        <p:spPr>
          <a:xfrm>
            <a:off x="566928" y="5989320"/>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50" b="1" i="0">
                <a:solidFill>
                  <a:srgbClr val="2E2E40"/>
                </a:solidFill>
                <a:latin typeface="Calibri"/>
              </a:rPr>
              <a:t>Thông điệp: </a:t>
            </a:r>
            <a:r>
              <a:rPr sz="1150" b="0" i="0">
                <a:solidFill>
                  <a:srgbClr val="1B1B2E"/>
                </a:solidFill>
                <a:latin typeface="Calibri"/>
              </a:rPr>
              <a:t>dù nguồn nào, CDP đều tăng trưởng hai chữ số mạnh mẽ — thị trường đang tăng tốc.</a:t>
            </a:r>
          </a:p>
        </p:txBody>
      </p:sp>
      <p:sp>
        <p:nvSpPr>
          <p:cNvPr id="12" name="TextBox 11"/>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Grand View Research; MarketsandMarkets; Fortune Business Insights; Data Bridge Market Research; CDP Institute (2024–2025).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4/10</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Quy mô thị trường — hiện tại vs dự báo</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33</a:t>
            </a:r>
          </a:p>
        </p:txBody>
      </p:sp>
      <p:sp>
        <p:nvSpPr>
          <p:cNvPr id="8" name="Rectangle 7"/>
          <p:cNvSpPr/>
          <p:nvPr/>
        </p:nvSpPr>
        <p:spPr>
          <a:xfrm>
            <a:off x="960120" y="1783080"/>
            <a:ext cx="10241280" cy="3730752"/>
          </a:xfrm>
          <a:prstGeom prst="rect">
            <a:avLst/>
          </a:prstGeom>
          <a:solidFill>
            <a:srgbClr val="FFFFFF"/>
          </a:solidFill>
          <a:ln w="1587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rketsize.png"/>
          <p:cNvPicPr>
            <a:picLocks noChangeAspect="1"/>
          </p:cNvPicPr>
          <p:nvPr/>
        </p:nvPicPr>
        <p:blipFill>
          <a:blip r:embed="rId2"/>
          <a:stretch>
            <a:fillRect/>
          </a:stretch>
        </p:blipFill>
        <p:spPr>
          <a:xfrm>
            <a:off x="1866819" y="1828800"/>
            <a:ext cx="8427880" cy="3639312"/>
          </a:xfrm>
          <a:prstGeom prst="rect">
            <a:avLst/>
          </a:prstGeom>
        </p:spPr>
      </p:pic>
      <p:sp>
        <p:nvSpPr>
          <p:cNvPr id="10" name="TextBox 9"/>
          <p:cNvSpPr txBox="1"/>
          <p:nvPr/>
        </p:nvSpPr>
        <p:spPr>
          <a:xfrm>
            <a:off x="960120" y="5550408"/>
            <a:ext cx="10241280" cy="292608"/>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50" b="0" i="1">
                <a:solidFill>
                  <a:srgbClr val="565564"/>
                </a:solidFill>
                <a:latin typeface="Calibri"/>
              </a:rPr>
              <a:t>Quy mô CDP (tỷ USD): hiện tại (2024–25) so với dự báo, theo từng nguồn.</a:t>
            </a:r>
          </a:p>
        </p:txBody>
      </p:sp>
      <p:sp>
        <p:nvSpPr>
          <p:cNvPr id="11" name="TextBox 10"/>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grandviewresearch.com · marketsandmarkets.com · fortunebusinessinsights.com · databridgemarketresearch.com · cdpinstitute.org.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5/10 · GARTNER 2024</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Mức độ ứng dụng CDP</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34</a:t>
            </a:r>
          </a:p>
        </p:txBody>
      </p:sp>
      <p:sp>
        <p:nvSpPr>
          <p:cNvPr id="8" name="Rectangle 7"/>
          <p:cNvSpPr/>
          <p:nvPr/>
        </p:nvSpPr>
        <p:spPr>
          <a:xfrm>
            <a:off x="566928" y="2011680"/>
            <a:ext cx="3474720" cy="20116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11680"/>
            <a:ext cx="347472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240280"/>
            <a:ext cx="3474720" cy="9144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4600" b="1" i="0">
                <a:solidFill>
                  <a:srgbClr val="C39851"/>
                </a:solidFill>
                <a:latin typeface="Georgia"/>
              </a:rPr>
              <a:t>41%</a:t>
            </a:r>
          </a:p>
        </p:txBody>
      </p:sp>
      <p:sp>
        <p:nvSpPr>
          <p:cNvPr id="11" name="TextBox 10"/>
          <p:cNvSpPr txBox="1"/>
          <p:nvPr/>
        </p:nvSpPr>
        <p:spPr>
          <a:xfrm>
            <a:off x="795528" y="3200400"/>
            <a:ext cx="3017520" cy="73152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200" b="0" i="0">
                <a:solidFill>
                  <a:srgbClr val="565564"/>
                </a:solidFill>
                <a:latin typeface="Calibri"/>
              </a:rPr>
              <a:t>doanh nghiệp ĐÃ triển khai CDP</a:t>
            </a:r>
          </a:p>
        </p:txBody>
      </p:sp>
      <p:sp>
        <p:nvSpPr>
          <p:cNvPr id="12" name="Rectangle 11"/>
          <p:cNvSpPr/>
          <p:nvPr/>
        </p:nvSpPr>
        <p:spPr>
          <a:xfrm>
            <a:off x="4270248" y="2011680"/>
            <a:ext cx="3474720" cy="20116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2011680"/>
            <a:ext cx="347472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0248" y="2240280"/>
            <a:ext cx="3474720" cy="9144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4600" b="1" i="0">
                <a:solidFill>
                  <a:srgbClr val="C39851"/>
                </a:solidFill>
                <a:latin typeface="Georgia"/>
              </a:rPr>
              <a:t>36%</a:t>
            </a:r>
          </a:p>
        </p:txBody>
      </p:sp>
      <p:sp>
        <p:nvSpPr>
          <p:cNvPr id="15" name="TextBox 14"/>
          <p:cNvSpPr txBox="1"/>
          <p:nvPr/>
        </p:nvSpPr>
        <p:spPr>
          <a:xfrm>
            <a:off x="4498848" y="3200400"/>
            <a:ext cx="3017520" cy="73152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200" b="0" i="0">
                <a:solidFill>
                  <a:srgbClr val="565564"/>
                </a:solidFill>
                <a:latin typeface="Calibri"/>
              </a:rPr>
              <a:t>đang cân nhắc triển khai</a:t>
            </a:r>
          </a:p>
        </p:txBody>
      </p:sp>
      <p:sp>
        <p:nvSpPr>
          <p:cNvPr id="16" name="Rectangle 15"/>
          <p:cNvSpPr/>
          <p:nvPr/>
        </p:nvSpPr>
        <p:spPr>
          <a:xfrm>
            <a:off x="7973567" y="2011680"/>
            <a:ext cx="3474720" cy="20116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73567" y="2011680"/>
            <a:ext cx="347472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73567" y="2240280"/>
            <a:ext cx="3474720" cy="9144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4600" b="1" i="0">
                <a:solidFill>
                  <a:srgbClr val="C39851"/>
                </a:solidFill>
                <a:latin typeface="Georgia"/>
              </a:rPr>
              <a:t>22%</a:t>
            </a:r>
          </a:p>
        </p:txBody>
      </p:sp>
      <p:sp>
        <p:nvSpPr>
          <p:cNvPr id="19" name="TextBox 18"/>
          <p:cNvSpPr txBox="1"/>
          <p:nvPr/>
        </p:nvSpPr>
        <p:spPr>
          <a:xfrm>
            <a:off x="8202167" y="3200400"/>
            <a:ext cx="3017520" cy="73152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200" b="0" i="0">
                <a:solidFill>
                  <a:srgbClr val="565564"/>
                </a:solidFill>
                <a:latin typeface="Calibri"/>
              </a:rPr>
              <a:t>marketer tận dụng CDP ở mức cao</a:t>
            </a:r>
          </a:p>
        </p:txBody>
      </p:sp>
      <p:sp>
        <p:nvSpPr>
          <p:cNvPr id="20" name="Rectangle 19"/>
          <p:cNvSpPr/>
          <p:nvPr/>
        </p:nvSpPr>
        <p:spPr>
          <a:xfrm>
            <a:off x="566928" y="4389120"/>
            <a:ext cx="11064240" cy="1280160"/>
          </a:xfrm>
          <a:prstGeom prst="rect">
            <a:avLst/>
          </a:prstGeom>
          <a:solidFill>
            <a:srgbClr val="E7DDC8"/>
          </a:solidFill>
          <a:ln w="12700">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389120"/>
            <a:ext cx="10607040" cy="1280160"/>
          </a:xfrm>
          <a:prstGeom prst="rect">
            <a:avLst/>
          </a:prstGeom>
          <a:noFill/>
        </p:spPr>
        <p:txBody>
          <a:bodyPr wrap="square" anchor="ctr" lIns="25400" rIns="25400" tIns="12700" bIns="12700">
            <a:spAutoFit/>
          </a:bodyPr>
          <a:lstStyle/>
          <a:p>
            <a:pPr algn="l">
              <a:lnSpc>
                <a:spcPct val="110000"/>
              </a:lnSpc>
              <a:spcBef>
                <a:spcPts val="0"/>
              </a:spcBef>
              <a:spcAft>
                <a:spcPts val="400"/>
              </a:spcAft>
            </a:pPr>
            <a:r>
              <a:rPr sz="1400" b="1" i="0">
                <a:solidFill>
                  <a:srgbClr val="2E2E40"/>
                </a:solidFill>
                <a:latin typeface="Calibri"/>
              </a:rPr>
              <a:t>Khoảng trống “triển khai nhưng chưa tận dụng”: </a:t>
            </a:r>
          </a:p>
          <a:p>
            <a:pPr algn="l">
              <a:lnSpc>
                <a:spcPct val="110000"/>
              </a:lnSpc>
              <a:spcBef>
                <a:spcPts val="0"/>
              </a:spcBef>
              <a:spcAft>
                <a:spcPts val="400"/>
              </a:spcAft>
            </a:pPr>
            <a:r>
              <a:rPr sz="1250" b="0" i="0">
                <a:solidFill>
                  <a:srgbClr val="1B1B2E"/>
                </a:solidFill>
                <a:latin typeface="Calibri"/>
              </a:rPr>
              <a:t>nhiều doanh nghiệp đã có CDP nhưng chưa khai thác hết. Lợi thế thuộc về nơi biến dữ liệu thành HÀNH ĐỘNG — đúng định hướng AI hành động của AICDP cho OCH.</a:t>
            </a:r>
          </a:p>
        </p:txBody>
      </p:sp>
      <p:sp>
        <p:nvSpPr>
          <p:cNvPr id="22" name="TextBox 21"/>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Gartner — khảo sát ứng dụng CDP 2024.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6/10 · STATISTA / CDP INSTITUTE 06-2024</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Ngành CDP &amp; nhà cung cấp</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35</a:t>
            </a:r>
          </a:p>
        </p:txBody>
      </p:sp>
      <p:sp>
        <p:nvSpPr>
          <p:cNvPr id="8" name="TextBox 7"/>
          <p:cNvSpPr txBox="1"/>
          <p:nvPr/>
        </p:nvSpPr>
        <p:spPr>
          <a:xfrm>
            <a:off x="566928" y="1874519"/>
            <a:ext cx="10972800" cy="4572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800" b="1" i="0">
                <a:solidFill>
                  <a:srgbClr val="2E2E40"/>
                </a:solidFill>
                <a:latin typeface="Calibri"/>
              </a:rPr>
              <a:t>194 nhà cung cấp CDP trên toàn cầu</a:t>
            </a:r>
            <a:r>
              <a:rPr sz="1300" b="0" i="0">
                <a:solidFill>
                  <a:srgbClr val="565564"/>
                </a:solidFill>
                <a:latin typeface="Calibri"/>
              </a:rPr>
              <a:t>  (+5% so với 12-2023)</a:t>
            </a:r>
          </a:p>
        </p:txBody>
      </p:sp>
      <p:sp>
        <p:nvSpPr>
          <p:cNvPr id="9" name="TextBox 8"/>
          <p:cNvSpPr txBox="1"/>
          <p:nvPr/>
        </p:nvSpPr>
        <p:spPr>
          <a:xfrm>
            <a:off x="566928" y="2514600"/>
            <a:ext cx="539496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C39851"/>
                </a:solidFill>
                <a:latin typeface="Calibri"/>
              </a:rPr>
              <a:t>THEO QUỐC GIA</a:t>
            </a:r>
          </a:p>
        </p:txBody>
      </p:sp>
      <p:sp>
        <p:nvSpPr>
          <p:cNvPr id="10" name="Rectangle 9"/>
          <p:cNvSpPr/>
          <p:nvPr/>
        </p:nvSpPr>
        <p:spPr>
          <a:xfrm>
            <a:off x="566928" y="2926080"/>
            <a:ext cx="5303520" cy="6400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26080"/>
            <a:ext cx="82296" cy="6400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926080"/>
            <a:ext cx="3200400" cy="6400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00" b="1" i="0">
                <a:solidFill>
                  <a:srgbClr val="2E2E40"/>
                </a:solidFill>
                <a:latin typeface="Calibri"/>
              </a:rPr>
              <a:t>Hoa Kỳ</a:t>
            </a:r>
          </a:p>
        </p:txBody>
      </p:sp>
      <p:sp>
        <p:nvSpPr>
          <p:cNvPr id="13" name="TextBox 12"/>
          <p:cNvSpPr txBox="1"/>
          <p:nvPr/>
        </p:nvSpPr>
        <p:spPr>
          <a:xfrm>
            <a:off x="3840480" y="2926080"/>
            <a:ext cx="1828800" cy="64008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300" b="1" i="0">
                <a:solidFill>
                  <a:srgbClr val="C39851"/>
                </a:solidFill>
                <a:latin typeface="Calibri"/>
              </a:rPr>
              <a:t>89 vendor</a:t>
            </a:r>
          </a:p>
        </p:txBody>
      </p:sp>
      <p:sp>
        <p:nvSpPr>
          <p:cNvPr id="14" name="Rectangle 13"/>
          <p:cNvSpPr/>
          <p:nvPr/>
        </p:nvSpPr>
        <p:spPr>
          <a:xfrm>
            <a:off x="566928" y="3703320"/>
            <a:ext cx="5303520" cy="6400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703320"/>
            <a:ext cx="82296" cy="6400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03320"/>
            <a:ext cx="3200400" cy="6400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00" b="1" i="0">
                <a:solidFill>
                  <a:srgbClr val="2E2E40"/>
                </a:solidFill>
                <a:latin typeface="Calibri"/>
              </a:rPr>
              <a:t>Anh</a:t>
            </a:r>
          </a:p>
        </p:txBody>
      </p:sp>
      <p:sp>
        <p:nvSpPr>
          <p:cNvPr id="17" name="TextBox 16"/>
          <p:cNvSpPr txBox="1"/>
          <p:nvPr/>
        </p:nvSpPr>
        <p:spPr>
          <a:xfrm>
            <a:off x="3840480" y="3703320"/>
            <a:ext cx="1828800" cy="64008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300" b="1" i="0">
                <a:solidFill>
                  <a:srgbClr val="C39851"/>
                </a:solidFill>
                <a:latin typeface="Calibri"/>
              </a:rPr>
              <a:t>14 vendor</a:t>
            </a:r>
          </a:p>
        </p:txBody>
      </p:sp>
      <p:sp>
        <p:nvSpPr>
          <p:cNvPr id="18" name="Rectangle 17"/>
          <p:cNvSpPr/>
          <p:nvPr/>
        </p:nvSpPr>
        <p:spPr>
          <a:xfrm>
            <a:off x="566928" y="4480560"/>
            <a:ext cx="5303520" cy="6400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480560"/>
            <a:ext cx="82296" cy="6400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80560"/>
            <a:ext cx="3200400" cy="6400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00" b="1" i="0">
                <a:solidFill>
                  <a:srgbClr val="2E2E40"/>
                </a:solidFill>
                <a:latin typeface="Calibri"/>
              </a:rPr>
              <a:t>Ấn Độ</a:t>
            </a:r>
          </a:p>
        </p:txBody>
      </p:sp>
      <p:sp>
        <p:nvSpPr>
          <p:cNvPr id="21" name="TextBox 20"/>
          <p:cNvSpPr txBox="1"/>
          <p:nvPr/>
        </p:nvSpPr>
        <p:spPr>
          <a:xfrm>
            <a:off x="3840480" y="4480560"/>
            <a:ext cx="1828800" cy="64008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300" b="1" i="0">
                <a:solidFill>
                  <a:srgbClr val="C39851"/>
                </a:solidFill>
                <a:latin typeface="Calibri"/>
              </a:rPr>
              <a:t>13 vendor</a:t>
            </a:r>
          </a:p>
        </p:txBody>
      </p:sp>
      <p:sp>
        <p:nvSpPr>
          <p:cNvPr id="22" name="TextBox 21"/>
          <p:cNvSpPr txBox="1"/>
          <p:nvPr/>
        </p:nvSpPr>
        <p:spPr>
          <a:xfrm>
            <a:off x="6309360" y="2514600"/>
            <a:ext cx="530352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C39851"/>
                </a:solidFill>
                <a:latin typeface="Calibri"/>
              </a:rPr>
              <a:t>PHÂN LOẠI THEO CHỨC NĂNG</a:t>
            </a:r>
          </a:p>
        </p:txBody>
      </p:sp>
      <p:sp>
        <p:nvSpPr>
          <p:cNvPr id="23" name="Rectangle 22"/>
          <p:cNvSpPr/>
          <p:nvPr/>
        </p:nvSpPr>
        <p:spPr>
          <a:xfrm>
            <a:off x="6309360" y="2926080"/>
            <a:ext cx="5303520" cy="6400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2926080"/>
            <a:ext cx="82296" cy="6400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2926080"/>
            <a:ext cx="3200400" cy="6400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00" b="1" i="0">
                <a:solidFill>
                  <a:srgbClr val="2E2E40"/>
                </a:solidFill>
                <a:latin typeface="Calibri"/>
              </a:rPr>
              <a:t>Campaign</a:t>
            </a:r>
          </a:p>
        </p:txBody>
      </p:sp>
      <p:sp>
        <p:nvSpPr>
          <p:cNvPr id="26" name="TextBox 25"/>
          <p:cNvSpPr txBox="1"/>
          <p:nvPr/>
        </p:nvSpPr>
        <p:spPr>
          <a:xfrm>
            <a:off x="9601200" y="2926080"/>
            <a:ext cx="1828800" cy="64008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300" b="1" i="0">
                <a:solidFill>
                  <a:srgbClr val="C39851"/>
                </a:solidFill>
                <a:latin typeface="Calibri"/>
              </a:rPr>
              <a:t>34%</a:t>
            </a:r>
          </a:p>
        </p:txBody>
      </p:sp>
      <p:sp>
        <p:nvSpPr>
          <p:cNvPr id="27" name="Rectangle 26"/>
          <p:cNvSpPr/>
          <p:nvPr/>
        </p:nvSpPr>
        <p:spPr>
          <a:xfrm>
            <a:off x="6309360" y="3703320"/>
            <a:ext cx="5303520" cy="6400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3703320"/>
            <a:ext cx="82296" cy="6400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3703320"/>
            <a:ext cx="3200400" cy="6400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00" b="1" i="0">
                <a:solidFill>
                  <a:srgbClr val="2E2E40"/>
                </a:solidFill>
                <a:latin typeface="Calibri"/>
              </a:rPr>
              <a:t>Delivery</a:t>
            </a:r>
          </a:p>
        </p:txBody>
      </p:sp>
      <p:sp>
        <p:nvSpPr>
          <p:cNvPr id="30" name="TextBox 29"/>
          <p:cNvSpPr txBox="1"/>
          <p:nvPr/>
        </p:nvSpPr>
        <p:spPr>
          <a:xfrm>
            <a:off x="9601200" y="3703320"/>
            <a:ext cx="1828800" cy="64008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300" b="1" i="0">
                <a:solidFill>
                  <a:srgbClr val="C39851"/>
                </a:solidFill>
                <a:latin typeface="Calibri"/>
              </a:rPr>
              <a:t>33%</a:t>
            </a:r>
          </a:p>
        </p:txBody>
      </p:sp>
      <p:sp>
        <p:nvSpPr>
          <p:cNvPr id="31" name="Rectangle 30"/>
          <p:cNvSpPr/>
          <p:nvPr/>
        </p:nvSpPr>
        <p:spPr>
          <a:xfrm>
            <a:off x="6309360" y="4480560"/>
            <a:ext cx="5303520" cy="64008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4480560"/>
            <a:ext cx="82296" cy="64008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4480560"/>
            <a:ext cx="3200400" cy="64008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300" b="1" i="0">
                <a:solidFill>
                  <a:srgbClr val="2E2E40"/>
                </a:solidFill>
                <a:latin typeface="Calibri"/>
              </a:rPr>
              <a:t>Analytics</a:t>
            </a:r>
          </a:p>
        </p:txBody>
      </p:sp>
      <p:sp>
        <p:nvSpPr>
          <p:cNvPr id="34" name="TextBox 33"/>
          <p:cNvSpPr txBox="1"/>
          <p:nvPr/>
        </p:nvSpPr>
        <p:spPr>
          <a:xfrm>
            <a:off x="9601200" y="4480560"/>
            <a:ext cx="1828800" cy="64008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300" b="1" i="0">
                <a:solidFill>
                  <a:srgbClr val="C39851"/>
                </a:solidFill>
                <a:latin typeface="Calibri"/>
              </a:rPr>
              <a:t>18%</a:t>
            </a:r>
          </a:p>
        </p:txBody>
      </p:sp>
      <p:sp>
        <p:nvSpPr>
          <p:cNvPr id="35" name="TextBox 34"/>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Statista / CDP Institute — Industry Update, tháng 06-2024.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7/10 · TWILIO SEGMENT 2024</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Nỗi đau #1 — Dữ liệu phân mảnh</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36</a:t>
            </a:r>
          </a:p>
        </p:txBody>
      </p:sp>
      <p:sp>
        <p:nvSpPr>
          <p:cNvPr id="8" name="Rectangle 7"/>
          <p:cNvSpPr/>
          <p:nvPr/>
        </p:nvSpPr>
        <p:spPr>
          <a:xfrm>
            <a:off x="566928" y="2011680"/>
            <a:ext cx="5257800" cy="23774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11680"/>
            <a:ext cx="525780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286000"/>
            <a:ext cx="5257800" cy="109728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6000" b="1" i="0">
                <a:solidFill>
                  <a:srgbClr val="C39851"/>
                </a:solidFill>
                <a:latin typeface="Georgia"/>
              </a:rPr>
              <a:t>16%</a:t>
            </a:r>
          </a:p>
        </p:txBody>
      </p:sp>
      <p:sp>
        <p:nvSpPr>
          <p:cNvPr id="11" name="TextBox 10"/>
          <p:cNvSpPr txBox="1"/>
          <p:nvPr/>
        </p:nvSpPr>
        <p:spPr>
          <a:xfrm>
            <a:off x="932688" y="3520440"/>
            <a:ext cx="4526280" cy="822960"/>
          </a:xfrm>
          <a:prstGeom prst="rect">
            <a:avLst/>
          </a:prstGeom>
          <a:noFill/>
        </p:spPr>
        <p:txBody>
          <a:bodyPr wrap="square" anchor="t" lIns="25400" rIns="25400" tIns="12700" bIns="12700">
            <a:spAutoFit/>
          </a:bodyPr>
          <a:lstStyle/>
          <a:p>
            <a:pPr algn="ctr">
              <a:lnSpc>
                <a:spcPct val="105000"/>
              </a:lnSpc>
              <a:spcBef>
                <a:spcPts val="0"/>
              </a:spcBef>
              <a:spcAft>
                <a:spcPts val="400"/>
              </a:spcAft>
            </a:pPr>
            <a:r>
              <a:rPr sz="1300" b="0" i="0">
                <a:solidFill>
                  <a:srgbClr val="565564"/>
                </a:solidFill>
                <a:latin typeface="Calibri"/>
              </a:rPr>
              <a:t>thương hiệu “hoàn toàn đồng ý” CÓ ĐỦ dữ liệu để hiểu khách hàng</a:t>
            </a:r>
          </a:p>
        </p:txBody>
      </p:sp>
      <p:sp>
        <p:nvSpPr>
          <p:cNvPr id="12" name="Rectangle 11"/>
          <p:cNvSpPr/>
          <p:nvPr/>
        </p:nvSpPr>
        <p:spPr>
          <a:xfrm>
            <a:off x="6099048" y="2011680"/>
            <a:ext cx="5257800" cy="23774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9048" y="2011680"/>
            <a:ext cx="525780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8" y="2286000"/>
            <a:ext cx="5257800" cy="109728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6000" b="1" i="0">
                <a:solidFill>
                  <a:srgbClr val="C39851"/>
                </a:solidFill>
                <a:latin typeface="Georgia"/>
              </a:rPr>
              <a:t>19%</a:t>
            </a:r>
          </a:p>
        </p:txBody>
      </p:sp>
      <p:sp>
        <p:nvSpPr>
          <p:cNvPr id="15" name="TextBox 14"/>
          <p:cNvSpPr txBox="1"/>
          <p:nvPr/>
        </p:nvSpPr>
        <p:spPr>
          <a:xfrm>
            <a:off x="6464808" y="3520440"/>
            <a:ext cx="4526280" cy="822960"/>
          </a:xfrm>
          <a:prstGeom prst="rect">
            <a:avLst/>
          </a:prstGeom>
          <a:noFill/>
        </p:spPr>
        <p:txBody>
          <a:bodyPr wrap="square" anchor="t" lIns="25400" rIns="25400" tIns="12700" bIns="12700">
            <a:spAutoFit/>
          </a:bodyPr>
          <a:lstStyle/>
          <a:p>
            <a:pPr algn="ctr">
              <a:lnSpc>
                <a:spcPct val="105000"/>
              </a:lnSpc>
              <a:spcBef>
                <a:spcPts val="0"/>
              </a:spcBef>
              <a:spcAft>
                <a:spcPts val="400"/>
              </a:spcAft>
            </a:pPr>
            <a:r>
              <a:rPr sz="1300" b="0" i="0">
                <a:solidFill>
                  <a:srgbClr val="565564"/>
                </a:solidFill>
                <a:latin typeface="Calibri"/>
              </a:rPr>
              <a:t>“hoàn toàn đồng ý” có HỒ SƠ khách hàng toàn diện</a:t>
            </a:r>
          </a:p>
        </p:txBody>
      </p:sp>
      <p:sp>
        <p:nvSpPr>
          <p:cNvPr id="16" name="TextBox 15"/>
          <p:cNvSpPr txBox="1"/>
          <p:nvPr/>
        </p:nvSpPr>
        <p:spPr>
          <a:xfrm>
            <a:off x="566928" y="4709160"/>
            <a:ext cx="11064240" cy="914400"/>
          </a:xfrm>
          <a:prstGeom prst="rect">
            <a:avLst/>
          </a:prstGeom>
          <a:noFill/>
        </p:spPr>
        <p:txBody>
          <a:bodyPr wrap="square" anchor="ctr" lIns="25400" rIns="25400" tIns="12700" bIns="12700">
            <a:spAutoFit/>
          </a:bodyPr>
          <a:lstStyle/>
          <a:p>
            <a:pPr algn="ctr">
              <a:lnSpc>
                <a:spcPct val="110000"/>
              </a:lnSpc>
              <a:spcBef>
                <a:spcPts val="0"/>
              </a:spcBef>
              <a:spcAft>
                <a:spcPts val="400"/>
              </a:spcAft>
            </a:pPr>
            <a:r>
              <a:rPr sz="1400" b="1" i="0">
                <a:solidFill>
                  <a:srgbClr val="2E2E40"/>
                </a:solidFill>
                <a:latin typeface="Calibri"/>
              </a:rPr>
              <a:t>Hơn 80% thương hiệu THIẾU nền dữ liệu khách hàng toàn diện — đây chính là rào cản lớn nhất, và là lý do CDP tồn tại.</a:t>
            </a:r>
          </a:p>
        </p:txBody>
      </p:sp>
      <p:sp>
        <p:nvSpPr>
          <p:cNvPr id="17" name="TextBox 16"/>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Twilio Segment — The State of Personalization 2024 (segment.com/state-of-personalization-report).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8/10</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Giá trị của cá nhân hoá</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37</a:t>
            </a:r>
          </a:p>
        </p:txBody>
      </p:sp>
      <p:sp>
        <p:nvSpPr>
          <p:cNvPr id="8" name="Rectangle 7"/>
          <p:cNvSpPr/>
          <p:nvPr/>
        </p:nvSpPr>
        <p:spPr>
          <a:xfrm>
            <a:off x="566928" y="2011680"/>
            <a:ext cx="5349240" cy="3291840"/>
          </a:xfrm>
          <a:prstGeom prst="rect">
            <a:avLst/>
          </a:prstGeom>
          <a:solidFill>
            <a:srgbClr val="FFFFFF"/>
          </a:solidFill>
          <a:ln w="19050">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377440"/>
            <a:ext cx="5349240" cy="11887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6600" b="1" i="0">
                <a:solidFill>
                  <a:srgbClr val="C39851"/>
                </a:solidFill>
                <a:latin typeface="Georgia"/>
              </a:rPr>
              <a:t>+54%</a:t>
            </a:r>
          </a:p>
        </p:txBody>
      </p:sp>
      <p:sp>
        <p:nvSpPr>
          <p:cNvPr id="10" name="TextBox 9"/>
          <p:cNvSpPr txBox="1"/>
          <p:nvPr/>
        </p:nvSpPr>
        <p:spPr>
          <a:xfrm>
            <a:off x="914400" y="3794760"/>
            <a:ext cx="4663440" cy="1280160"/>
          </a:xfrm>
          <a:prstGeom prst="rect">
            <a:avLst/>
          </a:prstGeom>
          <a:noFill/>
        </p:spPr>
        <p:txBody>
          <a:bodyPr wrap="square" anchor="t" lIns="25400" rIns="25400" tIns="12700" bIns="12700">
            <a:spAutoFit/>
          </a:bodyPr>
          <a:lstStyle/>
          <a:p>
            <a:pPr algn="ctr">
              <a:lnSpc>
                <a:spcPct val="115000"/>
              </a:lnSpc>
              <a:spcBef>
                <a:spcPts val="0"/>
              </a:spcBef>
              <a:spcAft>
                <a:spcPts val="400"/>
              </a:spcAft>
            </a:pPr>
            <a:r>
              <a:rPr sz="1500" b="1" i="0">
                <a:solidFill>
                  <a:srgbClr val="2E2E40"/>
                </a:solidFill>
                <a:latin typeface="Calibri"/>
              </a:rPr>
              <a:t>khách chi nhiều hơn trung bình khi được cá nhân hoá bằng AI</a:t>
            </a:r>
          </a:p>
        </p:txBody>
      </p:sp>
      <p:sp>
        <p:nvSpPr>
          <p:cNvPr id="11" name="Rectangle 10"/>
          <p:cNvSpPr/>
          <p:nvPr/>
        </p:nvSpPr>
        <p:spPr>
          <a:xfrm>
            <a:off x="6263640" y="2011680"/>
            <a:ext cx="5349240" cy="3291840"/>
          </a:xfrm>
          <a:prstGeom prst="rect">
            <a:avLst/>
          </a:prstGeom>
          <a:solidFill>
            <a:srgbClr val="FFFFFF"/>
          </a:solidFill>
          <a:ln w="19050">
            <a:solidFill>
              <a:srgbClr val="C398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2377440"/>
            <a:ext cx="5349240" cy="118872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6600" b="1" i="0">
                <a:solidFill>
                  <a:srgbClr val="2E2E40"/>
                </a:solidFill>
                <a:latin typeface="Georgia"/>
              </a:rPr>
              <a:t>72%</a:t>
            </a:r>
          </a:p>
        </p:txBody>
      </p:sp>
      <p:sp>
        <p:nvSpPr>
          <p:cNvPr id="13" name="TextBox 12"/>
          <p:cNvSpPr txBox="1"/>
          <p:nvPr/>
        </p:nvSpPr>
        <p:spPr>
          <a:xfrm>
            <a:off x="6629400" y="3794760"/>
            <a:ext cx="4663440" cy="1280160"/>
          </a:xfrm>
          <a:prstGeom prst="rect">
            <a:avLst/>
          </a:prstGeom>
          <a:noFill/>
        </p:spPr>
        <p:txBody>
          <a:bodyPr wrap="square" anchor="t" lIns="25400" rIns="25400" tIns="12700" bIns="12700">
            <a:spAutoFit/>
          </a:bodyPr>
          <a:lstStyle/>
          <a:p>
            <a:pPr algn="ctr">
              <a:lnSpc>
                <a:spcPct val="115000"/>
              </a:lnSpc>
              <a:spcBef>
                <a:spcPts val="0"/>
              </a:spcBef>
              <a:spcAft>
                <a:spcPts val="400"/>
              </a:spcAft>
            </a:pPr>
            <a:r>
              <a:rPr sz="1500" b="1" i="0">
                <a:solidFill>
                  <a:srgbClr val="2E2E40"/>
                </a:solidFill>
                <a:latin typeface="Calibri"/>
              </a:rPr>
              <a:t>người tiêu dùng KỲ VỌNG được trải nghiệm cá nhân hoá</a:t>
            </a:r>
          </a:p>
        </p:txBody>
      </p:sp>
      <p:sp>
        <p:nvSpPr>
          <p:cNvPr id="14" name="TextBox 13"/>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Twilio Segment — State of Personalization 2024 (+54%); McKinsey &amp; Company (72%, dẫn qua báo cáo Twilio).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9/10 · TWILIO SEGMENT 2024</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Xu hướng — AI &amp; cá nhân hoá dự đoán</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38</a:t>
            </a:r>
          </a:p>
        </p:txBody>
      </p:sp>
      <p:sp>
        <p:nvSpPr>
          <p:cNvPr id="8" name="Rectangle 7"/>
          <p:cNvSpPr/>
          <p:nvPr/>
        </p:nvSpPr>
        <p:spPr>
          <a:xfrm>
            <a:off x="566928" y="2103120"/>
            <a:ext cx="3474720" cy="301752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03120"/>
            <a:ext cx="347472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468880"/>
            <a:ext cx="3474720" cy="109728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5000" b="1" i="0">
                <a:solidFill>
                  <a:srgbClr val="C39851"/>
                </a:solidFill>
                <a:latin typeface="Georgia"/>
              </a:rPr>
              <a:t>7/10</a:t>
            </a:r>
          </a:p>
        </p:txBody>
      </p:sp>
      <p:sp>
        <p:nvSpPr>
          <p:cNvPr id="11" name="TextBox 10"/>
          <p:cNvSpPr txBox="1"/>
          <p:nvPr/>
        </p:nvSpPr>
        <p:spPr>
          <a:xfrm>
            <a:off x="841247" y="3794760"/>
            <a:ext cx="2926080" cy="1188720"/>
          </a:xfrm>
          <a:prstGeom prst="rect">
            <a:avLst/>
          </a:prstGeom>
          <a:noFill/>
        </p:spPr>
        <p:txBody>
          <a:bodyPr wrap="square" anchor="t" lIns="25400" rIns="25400" tIns="12700" bIns="12700">
            <a:spAutoFit/>
          </a:bodyPr>
          <a:lstStyle/>
          <a:p>
            <a:pPr algn="ctr">
              <a:lnSpc>
                <a:spcPct val="110000"/>
              </a:lnSpc>
              <a:spcBef>
                <a:spcPts val="0"/>
              </a:spcBef>
              <a:spcAft>
                <a:spcPts val="400"/>
              </a:spcAft>
            </a:pPr>
            <a:r>
              <a:rPr sz="1300" b="0" i="0">
                <a:solidFill>
                  <a:srgbClr val="565564"/>
                </a:solidFill>
                <a:latin typeface="Calibri"/>
              </a:rPr>
              <a:t>doanh nghiệp đã dùng AI để cá nhân hoá</a:t>
            </a:r>
          </a:p>
        </p:txBody>
      </p:sp>
      <p:sp>
        <p:nvSpPr>
          <p:cNvPr id="12" name="Rectangle 11"/>
          <p:cNvSpPr/>
          <p:nvPr/>
        </p:nvSpPr>
        <p:spPr>
          <a:xfrm>
            <a:off x="4270248" y="2103120"/>
            <a:ext cx="3474720" cy="301752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70248" y="2103120"/>
            <a:ext cx="347472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0248" y="2468880"/>
            <a:ext cx="3474720" cy="109728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5000" b="1" i="0">
                <a:solidFill>
                  <a:srgbClr val="C39851"/>
                </a:solidFill>
                <a:latin typeface="Georgia"/>
              </a:rPr>
              <a:t>86%</a:t>
            </a:r>
          </a:p>
        </p:txBody>
      </p:sp>
      <p:sp>
        <p:nvSpPr>
          <p:cNvPr id="15" name="TextBox 14"/>
          <p:cNvSpPr txBox="1"/>
          <p:nvPr/>
        </p:nvSpPr>
        <p:spPr>
          <a:xfrm>
            <a:off x="4544568" y="3794760"/>
            <a:ext cx="2926080" cy="1188720"/>
          </a:xfrm>
          <a:prstGeom prst="rect">
            <a:avLst/>
          </a:prstGeom>
          <a:noFill/>
        </p:spPr>
        <p:txBody>
          <a:bodyPr wrap="square" anchor="t" lIns="25400" rIns="25400" tIns="12700" bIns="12700">
            <a:spAutoFit/>
          </a:bodyPr>
          <a:lstStyle/>
          <a:p>
            <a:pPr algn="ctr">
              <a:lnSpc>
                <a:spcPct val="110000"/>
              </a:lnSpc>
              <a:spcBef>
                <a:spcPts val="0"/>
              </a:spcBef>
              <a:spcAft>
                <a:spcPts val="400"/>
              </a:spcAft>
            </a:pPr>
            <a:r>
              <a:rPr sz="1300" b="0" i="0">
                <a:solidFill>
                  <a:srgbClr val="565564"/>
                </a:solidFill>
                <a:latin typeface="Calibri"/>
              </a:rPr>
              <a:t>kỳ vọng chuyển từ cá nhân hoá phản ứng → DỰ ĐOÁN</a:t>
            </a:r>
          </a:p>
        </p:txBody>
      </p:sp>
      <p:sp>
        <p:nvSpPr>
          <p:cNvPr id="16" name="Rectangle 15"/>
          <p:cNvSpPr/>
          <p:nvPr/>
        </p:nvSpPr>
        <p:spPr>
          <a:xfrm>
            <a:off x="7973567" y="2103120"/>
            <a:ext cx="3474720" cy="301752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73567" y="2103120"/>
            <a:ext cx="347472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73567" y="2468880"/>
            <a:ext cx="3474720" cy="109728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5000" b="1" i="0">
                <a:solidFill>
                  <a:srgbClr val="C39851"/>
                </a:solidFill>
                <a:latin typeface="Georgia"/>
              </a:rPr>
              <a:t>89%</a:t>
            </a:r>
          </a:p>
        </p:txBody>
      </p:sp>
      <p:sp>
        <p:nvSpPr>
          <p:cNvPr id="19" name="TextBox 18"/>
          <p:cNvSpPr txBox="1"/>
          <p:nvPr/>
        </p:nvSpPr>
        <p:spPr>
          <a:xfrm>
            <a:off x="8247888" y="3794760"/>
            <a:ext cx="2926080" cy="1188720"/>
          </a:xfrm>
          <a:prstGeom prst="rect">
            <a:avLst/>
          </a:prstGeom>
          <a:noFill/>
        </p:spPr>
        <p:txBody>
          <a:bodyPr wrap="square" anchor="t" lIns="25400" rIns="25400" tIns="12700" bIns="12700">
            <a:spAutoFit/>
          </a:bodyPr>
          <a:lstStyle/>
          <a:p>
            <a:pPr algn="ctr">
              <a:lnSpc>
                <a:spcPct val="110000"/>
              </a:lnSpc>
              <a:spcBef>
                <a:spcPts val="0"/>
              </a:spcBef>
              <a:spcAft>
                <a:spcPts val="400"/>
              </a:spcAft>
            </a:pPr>
            <a:r>
              <a:rPr sz="1300" b="0" i="0">
                <a:solidFill>
                  <a:srgbClr val="565564"/>
                </a:solidFill>
                <a:latin typeface="Calibri"/>
              </a:rPr>
              <a:t>tin dùng AI có đạo đức là lợi thế cạnh tranh</a:t>
            </a:r>
          </a:p>
        </p:txBody>
      </p:sp>
      <p:sp>
        <p:nvSpPr>
          <p:cNvPr id="20" name="TextBox 19"/>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Twilio Segment — The State of Personalization 2024 (twilio.com · segment.com).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THỊ TRƯỜNG · 10/10 · KẾT PHẦN THỊ TRƯỜNG</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Hàm ý cho OCH</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39</a:t>
            </a:r>
          </a:p>
        </p:txBody>
      </p:sp>
      <p:sp>
        <p:nvSpPr>
          <p:cNvPr id="8" name="TextBox 7"/>
          <p:cNvSpPr txBox="1"/>
          <p:nvPr/>
        </p:nvSpPr>
        <p:spPr>
          <a:xfrm>
            <a:off x="566928" y="1965960"/>
            <a:ext cx="10972800" cy="914400"/>
          </a:xfrm>
          <a:prstGeom prst="rect">
            <a:avLst/>
          </a:prstGeom>
          <a:noFill/>
        </p:spPr>
        <p:txBody>
          <a:bodyPr wrap="square" anchor="t" lIns="25400" rIns="25400" tIns="12700" bIns="12700">
            <a:spAutoFit/>
          </a:bodyPr>
          <a:lstStyle/>
          <a:p>
            <a:pPr algn="l">
              <a:lnSpc>
                <a:spcPct val="115000"/>
              </a:lnSpc>
              <a:spcBef>
                <a:spcPts val="0"/>
              </a:spcBef>
              <a:spcAft>
                <a:spcPts val="400"/>
              </a:spcAft>
            </a:pPr>
            <a:r>
              <a:rPr sz="1800" b="1" i="0">
                <a:solidFill>
                  <a:srgbClr val="2E2E40"/>
                </a:solidFill>
                <a:latin typeface="Calibri"/>
              </a:rPr>
              <a:t>Thị trường bùng nổ + dữ liệu phân mảnh là rào cản #1 → OCH nên đi trước.</a:t>
            </a:r>
          </a:p>
        </p:txBody>
      </p:sp>
      <p:sp>
        <p:nvSpPr>
          <p:cNvPr id="9" name="Rectangle 8"/>
          <p:cNvSpPr/>
          <p:nvPr/>
        </p:nvSpPr>
        <p:spPr>
          <a:xfrm>
            <a:off x="566928" y="3108960"/>
            <a:ext cx="3474720" cy="22860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108960"/>
            <a:ext cx="64008" cy="2286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2735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2" name="TextBox 11"/>
          <p:cNvSpPr txBox="1"/>
          <p:nvPr/>
        </p:nvSpPr>
        <p:spPr>
          <a:xfrm>
            <a:off x="768096" y="37307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Thị trường tăng tốc</a:t>
            </a:r>
          </a:p>
        </p:txBody>
      </p:sp>
      <p:sp>
        <p:nvSpPr>
          <p:cNvPr id="13" name="TextBox 12"/>
          <p:cNvSpPr txBox="1"/>
          <p:nvPr/>
        </p:nvSpPr>
        <p:spPr>
          <a:xfrm>
            <a:off x="768096" y="4041648"/>
            <a:ext cx="3118103" cy="12435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200" b="0" i="0">
                <a:solidFill>
                  <a:srgbClr val="565564"/>
                </a:solidFill>
                <a:latin typeface="Calibri"/>
              </a:rPr>
              <a:t>CDP tăng trưởng hai chữ số — đi trước là lợi thế cạnh tranh.</a:t>
            </a:r>
          </a:p>
        </p:txBody>
      </p:sp>
      <p:sp>
        <p:nvSpPr>
          <p:cNvPr id="14" name="Rectangle 13"/>
          <p:cNvSpPr/>
          <p:nvPr/>
        </p:nvSpPr>
        <p:spPr>
          <a:xfrm>
            <a:off x="4270248" y="3108960"/>
            <a:ext cx="3474720" cy="22860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0248" y="3108960"/>
            <a:ext cx="64008" cy="2286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32735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7" name="TextBox 16"/>
          <p:cNvSpPr txBox="1"/>
          <p:nvPr/>
        </p:nvSpPr>
        <p:spPr>
          <a:xfrm>
            <a:off x="4471416" y="37307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Rào cản là dữ liệu phân mảnh</a:t>
            </a:r>
          </a:p>
        </p:txBody>
      </p:sp>
      <p:sp>
        <p:nvSpPr>
          <p:cNvPr id="18" name="TextBox 17"/>
          <p:cNvSpPr txBox="1"/>
          <p:nvPr/>
        </p:nvSpPr>
        <p:spPr>
          <a:xfrm>
            <a:off x="4471416" y="4041648"/>
            <a:ext cx="3118103" cy="12435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200" b="0" i="0">
                <a:solidFill>
                  <a:srgbClr val="565564"/>
                </a:solidFill>
                <a:latin typeface="Calibri"/>
              </a:rPr>
              <a:t>Đúng bài toán OCH đang gặp — CDP giải quyết tận gốc.</a:t>
            </a:r>
          </a:p>
        </p:txBody>
      </p:sp>
      <p:sp>
        <p:nvSpPr>
          <p:cNvPr id="19" name="Rectangle 18"/>
          <p:cNvSpPr/>
          <p:nvPr/>
        </p:nvSpPr>
        <p:spPr>
          <a:xfrm>
            <a:off x="7973567" y="3108960"/>
            <a:ext cx="3474720" cy="22860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73567" y="3108960"/>
            <a:ext cx="64008" cy="22860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32735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2" name="TextBox 21"/>
          <p:cNvSpPr txBox="1"/>
          <p:nvPr/>
        </p:nvSpPr>
        <p:spPr>
          <a:xfrm>
            <a:off x="8174736" y="37307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OCH đi trước với AICDP</a:t>
            </a:r>
          </a:p>
        </p:txBody>
      </p:sp>
      <p:sp>
        <p:nvSpPr>
          <p:cNvPr id="23" name="TextBox 22"/>
          <p:cNvSpPr txBox="1"/>
          <p:nvPr/>
        </p:nvSpPr>
        <p:spPr>
          <a:xfrm>
            <a:off x="8174736" y="4041648"/>
            <a:ext cx="3118103" cy="124358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200" b="0" i="0">
                <a:solidFill>
                  <a:srgbClr val="565564"/>
                </a:solidFill>
                <a:latin typeface="Calibri"/>
              </a:rPr>
              <a:t>Self-host tại VN, may đo F&amp;B + Khách sạn, AI hành động.</a:t>
            </a:r>
          </a:p>
        </p:txBody>
      </p:sp>
      <p:sp>
        <p:nvSpPr>
          <p:cNvPr id="24" name="TextBox 23"/>
          <p:cNvSpPr txBox="1"/>
          <p:nvPr/>
        </p:nvSpPr>
        <p:spPr>
          <a:xfrm>
            <a:off x="566928" y="6355080"/>
            <a:ext cx="11064240" cy="32004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850" b="1" i="0">
                <a:solidFill>
                  <a:srgbClr val="2E2E40"/>
                </a:solidFill>
                <a:latin typeface="Calibri"/>
              </a:rPr>
              <a:t>Nguồn: </a:t>
            </a:r>
            <a:r>
              <a:rPr sz="850" b="0" i="1">
                <a:solidFill>
                  <a:srgbClr val="565564"/>
                </a:solidFill>
                <a:latin typeface="Calibri"/>
              </a:rPr>
              <a:t>Tổng hợp các nguồn ở trên (2024–2025).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GÓC NHÌN NGHIỆP VỤ · 1/2</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So sánh AICDP (cho OCH) vs CDP thị trường</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40</a:t>
            </a:r>
          </a:p>
        </p:txBody>
      </p:sp>
      <p:sp>
        <p:nvSpPr>
          <p:cNvPr id="8" name="Rectangle 7"/>
          <p:cNvSpPr/>
          <p:nvPr/>
        </p:nvSpPr>
        <p:spPr>
          <a:xfrm>
            <a:off x="566928" y="1965960"/>
            <a:ext cx="278892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965960"/>
            <a:ext cx="2697479"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Tiêu chí</a:t>
            </a:r>
          </a:p>
        </p:txBody>
      </p:sp>
      <p:sp>
        <p:nvSpPr>
          <p:cNvPr id="10" name="Rectangle 9"/>
          <p:cNvSpPr/>
          <p:nvPr/>
        </p:nvSpPr>
        <p:spPr>
          <a:xfrm>
            <a:off x="3355848" y="1965960"/>
            <a:ext cx="1874519" cy="566928"/>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1568" y="1965960"/>
            <a:ext cx="1783079"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2E2E40"/>
                </a:solidFill>
                <a:latin typeface="Calibri"/>
              </a:rPr>
              <a:t>AICDP / OCH</a:t>
            </a:r>
          </a:p>
        </p:txBody>
      </p:sp>
      <p:sp>
        <p:nvSpPr>
          <p:cNvPr id="12" name="Rectangle 11"/>
          <p:cNvSpPr/>
          <p:nvPr/>
        </p:nvSpPr>
        <p:spPr>
          <a:xfrm>
            <a:off x="5230368" y="1965960"/>
            <a:ext cx="123444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6088" y="1965960"/>
            <a:ext cx="114300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Segment</a:t>
            </a:r>
          </a:p>
        </p:txBody>
      </p:sp>
      <p:sp>
        <p:nvSpPr>
          <p:cNvPr id="14" name="Rectangle 13"/>
          <p:cNvSpPr/>
          <p:nvPr/>
        </p:nvSpPr>
        <p:spPr>
          <a:xfrm>
            <a:off x="6464808" y="1965960"/>
            <a:ext cx="141732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1965960"/>
            <a:ext cx="132588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Adobe RTCDP</a:t>
            </a:r>
          </a:p>
        </p:txBody>
      </p:sp>
      <p:sp>
        <p:nvSpPr>
          <p:cNvPr id="16" name="Rectangle 15"/>
          <p:cNvSpPr/>
          <p:nvPr/>
        </p:nvSpPr>
        <p:spPr>
          <a:xfrm>
            <a:off x="7882128" y="1965960"/>
            <a:ext cx="114300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27848" y="1965960"/>
            <a:ext cx="105156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Tealium</a:t>
            </a:r>
          </a:p>
        </p:txBody>
      </p:sp>
      <p:sp>
        <p:nvSpPr>
          <p:cNvPr id="18" name="Rectangle 17"/>
          <p:cNvSpPr/>
          <p:nvPr/>
        </p:nvSpPr>
        <p:spPr>
          <a:xfrm>
            <a:off x="9025128" y="1965960"/>
            <a:ext cx="123444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1965960"/>
            <a:ext cx="114300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Hightouch</a:t>
            </a:r>
          </a:p>
        </p:txBody>
      </p:sp>
      <p:sp>
        <p:nvSpPr>
          <p:cNvPr id="20" name="Rectangle 19"/>
          <p:cNvSpPr/>
          <p:nvPr/>
        </p:nvSpPr>
        <p:spPr>
          <a:xfrm>
            <a:off x="10259568" y="1965960"/>
            <a:ext cx="137160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05288" y="1965960"/>
            <a:ext cx="128016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Treasure Data</a:t>
            </a:r>
          </a:p>
        </p:txBody>
      </p:sp>
      <p:sp>
        <p:nvSpPr>
          <p:cNvPr id="22" name="Rectangle 21"/>
          <p:cNvSpPr/>
          <p:nvPr/>
        </p:nvSpPr>
        <p:spPr>
          <a:xfrm>
            <a:off x="566928" y="2532888"/>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2532888"/>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Mô hình triển khai</a:t>
            </a:r>
          </a:p>
        </p:txBody>
      </p:sp>
      <p:sp>
        <p:nvSpPr>
          <p:cNvPr id="24" name="Rectangle 23"/>
          <p:cNvSpPr/>
          <p:nvPr/>
        </p:nvSpPr>
        <p:spPr>
          <a:xfrm>
            <a:off x="3355848" y="2532888"/>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0712" y="2532888"/>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Self-host tại OCH</a:t>
            </a:r>
          </a:p>
        </p:txBody>
      </p:sp>
      <p:sp>
        <p:nvSpPr>
          <p:cNvPr id="26" name="Rectangle 25"/>
          <p:cNvSpPr/>
          <p:nvPr/>
        </p:nvSpPr>
        <p:spPr>
          <a:xfrm>
            <a:off x="5230368" y="2532888"/>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85231" y="2532888"/>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Cloud SaaS</a:t>
            </a:r>
          </a:p>
        </p:txBody>
      </p:sp>
      <p:sp>
        <p:nvSpPr>
          <p:cNvPr id="28" name="Rectangle 27"/>
          <p:cNvSpPr/>
          <p:nvPr/>
        </p:nvSpPr>
        <p:spPr>
          <a:xfrm>
            <a:off x="6464808" y="2532888"/>
            <a:ext cx="141732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9672" y="2532888"/>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Cloud SaaS</a:t>
            </a:r>
          </a:p>
        </p:txBody>
      </p:sp>
      <p:sp>
        <p:nvSpPr>
          <p:cNvPr id="30" name="Rectangle 29"/>
          <p:cNvSpPr/>
          <p:nvPr/>
        </p:nvSpPr>
        <p:spPr>
          <a:xfrm>
            <a:off x="7882128" y="2532888"/>
            <a:ext cx="11430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36992" y="2532888"/>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Cloud SaaS</a:t>
            </a:r>
          </a:p>
        </p:txBody>
      </p:sp>
      <p:sp>
        <p:nvSpPr>
          <p:cNvPr id="32" name="Rectangle 31"/>
          <p:cNvSpPr/>
          <p:nvPr/>
        </p:nvSpPr>
        <p:spPr>
          <a:xfrm>
            <a:off x="9025128" y="2532888"/>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9992" y="2532888"/>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Cloud (ELT)</a:t>
            </a:r>
          </a:p>
        </p:txBody>
      </p:sp>
      <p:sp>
        <p:nvSpPr>
          <p:cNvPr id="34" name="Rectangle 33"/>
          <p:cNvSpPr/>
          <p:nvPr/>
        </p:nvSpPr>
        <p:spPr>
          <a:xfrm>
            <a:off x="10259568" y="2532888"/>
            <a:ext cx="13716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4432" y="2532888"/>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Cloud SaaS</a:t>
            </a:r>
          </a:p>
        </p:txBody>
      </p:sp>
      <p:sp>
        <p:nvSpPr>
          <p:cNvPr id="36" name="Rectangle 35"/>
          <p:cNvSpPr/>
          <p:nvPr/>
        </p:nvSpPr>
        <p:spPr>
          <a:xfrm>
            <a:off x="566928" y="3374136"/>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3374136"/>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Dữ liệu đặt tại Việt Nam</a:t>
            </a:r>
          </a:p>
        </p:txBody>
      </p:sp>
      <p:sp>
        <p:nvSpPr>
          <p:cNvPr id="38" name="Rectangle 37"/>
          <p:cNvSpPr/>
          <p:nvPr/>
        </p:nvSpPr>
        <p:spPr>
          <a:xfrm>
            <a:off x="3355848" y="3374136"/>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10712" y="3374136"/>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Có — chủ quyền</a:t>
            </a:r>
          </a:p>
        </p:txBody>
      </p:sp>
      <p:sp>
        <p:nvSpPr>
          <p:cNvPr id="40" name="Rectangle 39"/>
          <p:cNvSpPr/>
          <p:nvPr/>
        </p:nvSpPr>
        <p:spPr>
          <a:xfrm>
            <a:off x="5230368" y="3374136"/>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85231" y="3374136"/>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Hạ tầng nước ngoài</a:t>
            </a:r>
          </a:p>
        </p:txBody>
      </p:sp>
      <p:sp>
        <p:nvSpPr>
          <p:cNvPr id="42" name="Rectangle 41"/>
          <p:cNvSpPr/>
          <p:nvPr/>
        </p:nvSpPr>
        <p:spPr>
          <a:xfrm>
            <a:off x="6464808" y="3374136"/>
            <a:ext cx="141732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9672" y="3374136"/>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Nước ngoài</a:t>
            </a:r>
          </a:p>
        </p:txBody>
      </p:sp>
      <p:sp>
        <p:nvSpPr>
          <p:cNvPr id="44" name="Rectangle 43"/>
          <p:cNvSpPr/>
          <p:nvPr/>
        </p:nvSpPr>
        <p:spPr>
          <a:xfrm>
            <a:off x="7882128" y="3374136"/>
            <a:ext cx="11430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36992" y="3374136"/>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Nước ngoài</a:t>
            </a:r>
          </a:p>
        </p:txBody>
      </p:sp>
      <p:sp>
        <p:nvSpPr>
          <p:cNvPr id="46" name="Rectangle 45"/>
          <p:cNvSpPr/>
          <p:nvPr/>
        </p:nvSpPr>
        <p:spPr>
          <a:xfrm>
            <a:off x="9025128" y="3374136"/>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79992" y="3374136"/>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Nước ngoài</a:t>
            </a:r>
          </a:p>
        </p:txBody>
      </p:sp>
      <p:sp>
        <p:nvSpPr>
          <p:cNvPr id="48" name="Rectangle 47"/>
          <p:cNvSpPr/>
          <p:nvPr/>
        </p:nvSpPr>
        <p:spPr>
          <a:xfrm>
            <a:off x="10259568" y="3374136"/>
            <a:ext cx="13716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314432" y="3374136"/>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Nước ngoài</a:t>
            </a:r>
          </a:p>
        </p:txBody>
      </p:sp>
      <p:sp>
        <p:nvSpPr>
          <p:cNvPr id="50" name="Rectangle 49"/>
          <p:cNvSpPr/>
          <p:nvPr/>
        </p:nvSpPr>
        <p:spPr>
          <a:xfrm>
            <a:off x="566928" y="4215384"/>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792" y="4215384"/>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May đo F&amp;B + Khách sạn</a:t>
            </a:r>
          </a:p>
        </p:txBody>
      </p:sp>
      <p:sp>
        <p:nvSpPr>
          <p:cNvPr id="52" name="Rectangle 51"/>
          <p:cNvSpPr/>
          <p:nvPr/>
        </p:nvSpPr>
        <p:spPr>
          <a:xfrm>
            <a:off x="3355848" y="4215384"/>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10712" y="4215384"/>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Thiết kế riêng</a:t>
            </a:r>
          </a:p>
        </p:txBody>
      </p:sp>
      <p:sp>
        <p:nvSpPr>
          <p:cNvPr id="54" name="Rectangle 53"/>
          <p:cNvSpPr/>
          <p:nvPr/>
        </p:nvSpPr>
        <p:spPr>
          <a:xfrm>
            <a:off x="5230368" y="4215384"/>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85231" y="4215384"/>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Tổng quát</a:t>
            </a:r>
          </a:p>
        </p:txBody>
      </p:sp>
      <p:sp>
        <p:nvSpPr>
          <p:cNvPr id="56" name="Rectangle 55"/>
          <p:cNvSpPr/>
          <p:nvPr/>
        </p:nvSpPr>
        <p:spPr>
          <a:xfrm>
            <a:off x="6464808" y="4215384"/>
            <a:ext cx="141732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19672" y="4215384"/>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Tổng quát</a:t>
            </a:r>
          </a:p>
        </p:txBody>
      </p:sp>
      <p:sp>
        <p:nvSpPr>
          <p:cNvPr id="58" name="Rectangle 57"/>
          <p:cNvSpPr/>
          <p:nvPr/>
        </p:nvSpPr>
        <p:spPr>
          <a:xfrm>
            <a:off x="7882128" y="4215384"/>
            <a:ext cx="11430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936992" y="4215384"/>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Tổng quát</a:t>
            </a:r>
          </a:p>
        </p:txBody>
      </p:sp>
      <p:sp>
        <p:nvSpPr>
          <p:cNvPr id="60" name="Rectangle 59"/>
          <p:cNvSpPr/>
          <p:nvPr/>
        </p:nvSpPr>
        <p:spPr>
          <a:xfrm>
            <a:off x="9025128" y="4215384"/>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79992" y="4215384"/>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Tổng quát</a:t>
            </a:r>
          </a:p>
        </p:txBody>
      </p:sp>
      <p:sp>
        <p:nvSpPr>
          <p:cNvPr id="62" name="Rectangle 61"/>
          <p:cNvSpPr/>
          <p:nvPr/>
        </p:nvSpPr>
        <p:spPr>
          <a:xfrm>
            <a:off x="10259568" y="4215384"/>
            <a:ext cx="13716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14432" y="4215384"/>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Tổng quát</a:t>
            </a:r>
          </a:p>
        </p:txBody>
      </p:sp>
      <p:sp>
        <p:nvSpPr>
          <p:cNvPr id="64" name="Rectangle 63"/>
          <p:cNvSpPr/>
          <p:nvPr/>
        </p:nvSpPr>
        <p:spPr>
          <a:xfrm>
            <a:off x="566928" y="5056632"/>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792" y="5056632"/>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Hợp nhất định danh (OCH ID)</a:t>
            </a:r>
          </a:p>
        </p:txBody>
      </p:sp>
      <p:sp>
        <p:nvSpPr>
          <p:cNvPr id="66" name="Rectangle 65"/>
          <p:cNvSpPr/>
          <p:nvPr/>
        </p:nvSpPr>
        <p:spPr>
          <a:xfrm>
            <a:off x="3355848" y="5056632"/>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410712" y="5056632"/>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Lõi hệ thống</a:t>
            </a:r>
          </a:p>
        </p:txBody>
      </p:sp>
      <p:sp>
        <p:nvSpPr>
          <p:cNvPr id="68" name="Rectangle 67"/>
          <p:cNvSpPr/>
          <p:nvPr/>
        </p:nvSpPr>
        <p:spPr>
          <a:xfrm>
            <a:off x="5230368" y="5056632"/>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285231" y="5056632"/>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Có</a:t>
            </a:r>
          </a:p>
        </p:txBody>
      </p:sp>
      <p:sp>
        <p:nvSpPr>
          <p:cNvPr id="70" name="Rectangle 69"/>
          <p:cNvSpPr/>
          <p:nvPr/>
        </p:nvSpPr>
        <p:spPr>
          <a:xfrm>
            <a:off x="6464808" y="5056632"/>
            <a:ext cx="141732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19672" y="5056632"/>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Có</a:t>
            </a:r>
          </a:p>
        </p:txBody>
      </p:sp>
      <p:sp>
        <p:nvSpPr>
          <p:cNvPr id="72" name="Rectangle 71"/>
          <p:cNvSpPr/>
          <p:nvPr/>
        </p:nvSpPr>
        <p:spPr>
          <a:xfrm>
            <a:off x="7882128" y="5056632"/>
            <a:ext cx="11430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36992" y="5056632"/>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Có</a:t>
            </a:r>
          </a:p>
        </p:txBody>
      </p:sp>
      <p:sp>
        <p:nvSpPr>
          <p:cNvPr id="74" name="Rectangle 73"/>
          <p:cNvSpPr/>
          <p:nvPr/>
        </p:nvSpPr>
        <p:spPr>
          <a:xfrm>
            <a:off x="9025128" y="5056632"/>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079992" y="5056632"/>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Reverse-ETL</a:t>
            </a:r>
          </a:p>
        </p:txBody>
      </p:sp>
      <p:sp>
        <p:nvSpPr>
          <p:cNvPr id="76" name="Rectangle 75"/>
          <p:cNvSpPr/>
          <p:nvPr/>
        </p:nvSpPr>
        <p:spPr>
          <a:xfrm>
            <a:off x="10259568" y="5056632"/>
            <a:ext cx="13716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314432" y="5056632"/>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Có</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GÓC NHÌN NGHIỆP VỤ · 2/2</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So sánh AICDP (cho OCH) vs CDP thị trường</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41</a:t>
            </a:r>
          </a:p>
        </p:txBody>
      </p:sp>
      <p:sp>
        <p:nvSpPr>
          <p:cNvPr id="8" name="Rectangle 7"/>
          <p:cNvSpPr/>
          <p:nvPr/>
        </p:nvSpPr>
        <p:spPr>
          <a:xfrm>
            <a:off x="566928" y="1965960"/>
            <a:ext cx="278892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965960"/>
            <a:ext cx="2697479"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Tiêu chí</a:t>
            </a:r>
          </a:p>
        </p:txBody>
      </p:sp>
      <p:sp>
        <p:nvSpPr>
          <p:cNvPr id="10" name="Rectangle 9"/>
          <p:cNvSpPr/>
          <p:nvPr/>
        </p:nvSpPr>
        <p:spPr>
          <a:xfrm>
            <a:off x="3355848" y="1965960"/>
            <a:ext cx="1874519" cy="566928"/>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01568" y="1965960"/>
            <a:ext cx="1783079"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2E2E40"/>
                </a:solidFill>
                <a:latin typeface="Calibri"/>
              </a:rPr>
              <a:t>AICDP / OCH</a:t>
            </a:r>
          </a:p>
        </p:txBody>
      </p:sp>
      <p:sp>
        <p:nvSpPr>
          <p:cNvPr id="12" name="Rectangle 11"/>
          <p:cNvSpPr/>
          <p:nvPr/>
        </p:nvSpPr>
        <p:spPr>
          <a:xfrm>
            <a:off x="5230368" y="1965960"/>
            <a:ext cx="123444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76088" y="1965960"/>
            <a:ext cx="114300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Segment</a:t>
            </a:r>
          </a:p>
        </p:txBody>
      </p:sp>
      <p:sp>
        <p:nvSpPr>
          <p:cNvPr id="14" name="Rectangle 13"/>
          <p:cNvSpPr/>
          <p:nvPr/>
        </p:nvSpPr>
        <p:spPr>
          <a:xfrm>
            <a:off x="6464808" y="1965960"/>
            <a:ext cx="141732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1965960"/>
            <a:ext cx="132588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Adobe RTCDP</a:t>
            </a:r>
          </a:p>
        </p:txBody>
      </p:sp>
      <p:sp>
        <p:nvSpPr>
          <p:cNvPr id="16" name="Rectangle 15"/>
          <p:cNvSpPr/>
          <p:nvPr/>
        </p:nvSpPr>
        <p:spPr>
          <a:xfrm>
            <a:off x="7882128" y="1965960"/>
            <a:ext cx="114300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27848" y="1965960"/>
            <a:ext cx="105156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Tealium</a:t>
            </a:r>
          </a:p>
        </p:txBody>
      </p:sp>
      <p:sp>
        <p:nvSpPr>
          <p:cNvPr id="18" name="Rectangle 17"/>
          <p:cNvSpPr/>
          <p:nvPr/>
        </p:nvSpPr>
        <p:spPr>
          <a:xfrm>
            <a:off x="9025128" y="1965960"/>
            <a:ext cx="123444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0848" y="1965960"/>
            <a:ext cx="114300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Hightouch</a:t>
            </a:r>
          </a:p>
        </p:txBody>
      </p:sp>
      <p:sp>
        <p:nvSpPr>
          <p:cNvPr id="20" name="Rectangle 19"/>
          <p:cNvSpPr/>
          <p:nvPr/>
        </p:nvSpPr>
        <p:spPr>
          <a:xfrm>
            <a:off x="10259568" y="1965960"/>
            <a:ext cx="1371600" cy="566928"/>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05288" y="1965960"/>
            <a:ext cx="1280160" cy="56692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50" b="1" i="0">
                <a:solidFill>
                  <a:srgbClr val="FFFFFF"/>
                </a:solidFill>
                <a:latin typeface="Calibri"/>
              </a:rPr>
              <a:t>Treasure Data</a:t>
            </a:r>
          </a:p>
        </p:txBody>
      </p:sp>
      <p:sp>
        <p:nvSpPr>
          <p:cNvPr id="22" name="Rectangle 21"/>
          <p:cNvSpPr/>
          <p:nvPr/>
        </p:nvSpPr>
        <p:spPr>
          <a:xfrm>
            <a:off x="566928" y="2532888"/>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2532888"/>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Loyalty tích hợp sẵn</a:t>
            </a:r>
          </a:p>
        </p:txBody>
      </p:sp>
      <p:sp>
        <p:nvSpPr>
          <p:cNvPr id="24" name="Rectangle 23"/>
          <p:cNvSpPr/>
          <p:nvPr/>
        </p:nvSpPr>
        <p:spPr>
          <a:xfrm>
            <a:off x="3355848" y="2532888"/>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10712" y="2532888"/>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Có — sổ kép</a:t>
            </a:r>
          </a:p>
        </p:txBody>
      </p:sp>
      <p:sp>
        <p:nvSpPr>
          <p:cNvPr id="26" name="Rectangle 25"/>
          <p:cNvSpPr/>
          <p:nvPr/>
        </p:nvSpPr>
        <p:spPr>
          <a:xfrm>
            <a:off x="5230368" y="2532888"/>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85231" y="2532888"/>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Cần tích hợp</a:t>
            </a:r>
          </a:p>
        </p:txBody>
      </p:sp>
      <p:sp>
        <p:nvSpPr>
          <p:cNvPr id="28" name="Rectangle 27"/>
          <p:cNvSpPr/>
          <p:nvPr/>
        </p:nvSpPr>
        <p:spPr>
          <a:xfrm>
            <a:off x="6464808" y="2532888"/>
            <a:ext cx="141732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9672" y="2532888"/>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Cần tích hợp</a:t>
            </a:r>
          </a:p>
        </p:txBody>
      </p:sp>
      <p:sp>
        <p:nvSpPr>
          <p:cNvPr id="30" name="Rectangle 29"/>
          <p:cNvSpPr/>
          <p:nvPr/>
        </p:nvSpPr>
        <p:spPr>
          <a:xfrm>
            <a:off x="7882128" y="2532888"/>
            <a:ext cx="11430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36992" y="2532888"/>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Cần tích hợp</a:t>
            </a:r>
          </a:p>
        </p:txBody>
      </p:sp>
      <p:sp>
        <p:nvSpPr>
          <p:cNvPr id="32" name="Rectangle 31"/>
          <p:cNvSpPr/>
          <p:nvPr/>
        </p:nvSpPr>
        <p:spPr>
          <a:xfrm>
            <a:off x="9025128" y="2532888"/>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9992" y="2532888"/>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Không</a:t>
            </a:r>
          </a:p>
        </p:txBody>
      </p:sp>
      <p:sp>
        <p:nvSpPr>
          <p:cNvPr id="34" name="Rectangle 33"/>
          <p:cNvSpPr/>
          <p:nvPr/>
        </p:nvSpPr>
        <p:spPr>
          <a:xfrm>
            <a:off x="10259568" y="2532888"/>
            <a:ext cx="13716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4432" y="2532888"/>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Cần tích hợp</a:t>
            </a:r>
          </a:p>
        </p:txBody>
      </p:sp>
      <p:sp>
        <p:nvSpPr>
          <p:cNvPr id="36" name="Rectangle 35"/>
          <p:cNvSpPr/>
          <p:nvPr/>
        </p:nvSpPr>
        <p:spPr>
          <a:xfrm>
            <a:off x="566928" y="3374136"/>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3374136"/>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AI giải thích được</a:t>
            </a:r>
          </a:p>
        </p:txBody>
      </p:sp>
      <p:sp>
        <p:nvSpPr>
          <p:cNvPr id="38" name="Rectangle 37"/>
          <p:cNvSpPr/>
          <p:nvPr/>
        </p:nvSpPr>
        <p:spPr>
          <a:xfrm>
            <a:off x="3355848" y="3374136"/>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10712" y="3374136"/>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Có — minh bạch</a:t>
            </a:r>
          </a:p>
        </p:txBody>
      </p:sp>
      <p:sp>
        <p:nvSpPr>
          <p:cNvPr id="40" name="Rectangle 39"/>
          <p:cNvSpPr/>
          <p:nvPr/>
        </p:nvSpPr>
        <p:spPr>
          <a:xfrm>
            <a:off x="5230368" y="3374136"/>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85231" y="3374136"/>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Hạn chế</a:t>
            </a:r>
          </a:p>
        </p:txBody>
      </p:sp>
      <p:sp>
        <p:nvSpPr>
          <p:cNvPr id="42" name="Rectangle 41"/>
          <p:cNvSpPr/>
          <p:nvPr/>
        </p:nvSpPr>
        <p:spPr>
          <a:xfrm>
            <a:off x="6464808" y="3374136"/>
            <a:ext cx="141732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9672" y="3374136"/>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Có (hộp đen)</a:t>
            </a:r>
          </a:p>
        </p:txBody>
      </p:sp>
      <p:sp>
        <p:nvSpPr>
          <p:cNvPr id="44" name="Rectangle 43"/>
          <p:cNvSpPr/>
          <p:nvPr/>
        </p:nvSpPr>
        <p:spPr>
          <a:xfrm>
            <a:off x="7882128" y="3374136"/>
            <a:ext cx="11430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36992" y="3374136"/>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Hạn chế</a:t>
            </a:r>
          </a:p>
        </p:txBody>
      </p:sp>
      <p:sp>
        <p:nvSpPr>
          <p:cNvPr id="46" name="Rectangle 45"/>
          <p:cNvSpPr/>
          <p:nvPr/>
        </p:nvSpPr>
        <p:spPr>
          <a:xfrm>
            <a:off x="9025128" y="3374136"/>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79992" y="3374136"/>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Không</a:t>
            </a:r>
          </a:p>
        </p:txBody>
      </p:sp>
      <p:sp>
        <p:nvSpPr>
          <p:cNvPr id="48" name="Rectangle 47"/>
          <p:cNvSpPr/>
          <p:nvPr/>
        </p:nvSpPr>
        <p:spPr>
          <a:xfrm>
            <a:off x="10259568" y="3374136"/>
            <a:ext cx="13716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314432" y="3374136"/>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Có</a:t>
            </a:r>
          </a:p>
        </p:txBody>
      </p:sp>
      <p:sp>
        <p:nvSpPr>
          <p:cNvPr id="50" name="Rectangle 49"/>
          <p:cNvSpPr/>
          <p:nvPr/>
        </p:nvSpPr>
        <p:spPr>
          <a:xfrm>
            <a:off x="566928" y="4215384"/>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792" y="4215384"/>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Kênh Việt Nam (Zalo ZNS)</a:t>
            </a:r>
          </a:p>
        </p:txBody>
      </p:sp>
      <p:sp>
        <p:nvSpPr>
          <p:cNvPr id="52" name="Rectangle 51"/>
          <p:cNvSpPr/>
          <p:nvPr/>
        </p:nvSpPr>
        <p:spPr>
          <a:xfrm>
            <a:off x="3355848" y="4215384"/>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10712" y="4215384"/>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Hỗ trợ sẵn</a:t>
            </a:r>
          </a:p>
        </p:txBody>
      </p:sp>
      <p:sp>
        <p:nvSpPr>
          <p:cNvPr id="54" name="Rectangle 53"/>
          <p:cNvSpPr/>
          <p:nvPr/>
        </p:nvSpPr>
        <p:spPr>
          <a:xfrm>
            <a:off x="5230368" y="4215384"/>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85231" y="4215384"/>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Qua tích hợp</a:t>
            </a:r>
          </a:p>
        </p:txBody>
      </p:sp>
      <p:sp>
        <p:nvSpPr>
          <p:cNvPr id="56" name="Rectangle 55"/>
          <p:cNvSpPr/>
          <p:nvPr/>
        </p:nvSpPr>
        <p:spPr>
          <a:xfrm>
            <a:off x="6464808" y="4215384"/>
            <a:ext cx="141732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19672" y="4215384"/>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Qua tích hợp</a:t>
            </a:r>
          </a:p>
        </p:txBody>
      </p:sp>
      <p:sp>
        <p:nvSpPr>
          <p:cNvPr id="58" name="Rectangle 57"/>
          <p:cNvSpPr/>
          <p:nvPr/>
        </p:nvSpPr>
        <p:spPr>
          <a:xfrm>
            <a:off x="7882128" y="4215384"/>
            <a:ext cx="11430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936992" y="4215384"/>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Qua tích hợp</a:t>
            </a:r>
          </a:p>
        </p:txBody>
      </p:sp>
      <p:sp>
        <p:nvSpPr>
          <p:cNvPr id="60" name="Rectangle 59"/>
          <p:cNvSpPr/>
          <p:nvPr/>
        </p:nvSpPr>
        <p:spPr>
          <a:xfrm>
            <a:off x="9025128" y="4215384"/>
            <a:ext cx="123444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79992" y="4215384"/>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Qua tích hợp</a:t>
            </a:r>
          </a:p>
        </p:txBody>
      </p:sp>
      <p:sp>
        <p:nvSpPr>
          <p:cNvPr id="62" name="Rectangle 61"/>
          <p:cNvSpPr/>
          <p:nvPr/>
        </p:nvSpPr>
        <p:spPr>
          <a:xfrm>
            <a:off x="10259568" y="4215384"/>
            <a:ext cx="1371600" cy="84124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14432" y="4215384"/>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Qua tích hợp</a:t>
            </a:r>
          </a:p>
        </p:txBody>
      </p:sp>
      <p:sp>
        <p:nvSpPr>
          <p:cNvPr id="64" name="Rectangle 63"/>
          <p:cNvSpPr/>
          <p:nvPr/>
        </p:nvSpPr>
        <p:spPr>
          <a:xfrm>
            <a:off x="566928" y="5056632"/>
            <a:ext cx="2788920" cy="84124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1792" y="5056632"/>
            <a:ext cx="2679191" cy="841248"/>
          </a:xfrm>
          <a:prstGeom prst="rect">
            <a:avLst/>
          </a:prstGeom>
          <a:noFill/>
        </p:spPr>
        <p:txBody>
          <a:bodyPr wrap="square" anchor="ctr" lIns="25400" rIns="25400" tIns="12700" bIns="12700">
            <a:spAutoFit/>
          </a:bodyPr>
          <a:lstStyle/>
          <a:p>
            <a:pPr algn="l">
              <a:lnSpc>
                <a:spcPct val="90000"/>
              </a:lnSpc>
              <a:spcBef>
                <a:spcPts val="0"/>
              </a:spcBef>
              <a:spcAft>
                <a:spcPts val="400"/>
              </a:spcAft>
            </a:pPr>
            <a:r>
              <a:rPr sz="1050" b="1" i="0">
                <a:solidFill>
                  <a:srgbClr val="FFFFFF"/>
                </a:solidFill>
                <a:latin typeface="Calibri"/>
              </a:rPr>
              <a:t>Chi phí license (định tính)</a:t>
            </a:r>
          </a:p>
        </p:txBody>
      </p:sp>
      <p:sp>
        <p:nvSpPr>
          <p:cNvPr id="66" name="Rectangle 65"/>
          <p:cNvSpPr/>
          <p:nvPr/>
        </p:nvSpPr>
        <p:spPr>
          <a:xfrm>
            <a:off x="3355848" y="5056632"/>
            <a:ext cx="1874519" cy="841248"/>
          </a:xfrm>
          <a:prstGeom prst="rect">
            <a:avLst/>
          </a:prstGeom>
          <a:solidFill>
            <a:srgbClr val="F3EAD8"/>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410712" y="5056632"/>
            <a:ext cx="176479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1" i="0">
                <a:solidFill>
                  <a:srgbClr val="2E2E40"/>
                </a:solidFill>
                <a:latin typeface="Calibri"/>
              </a:rPr>
              <a:t>Không phí/khách</a:t>
            </a:r>
          </a:p>
        </p:txBody>
      </p:sp>
      <p:sp>
        <p:nvSpPr>
          <p:cNvPr id="68" name="Rectangle 67"/>
          <p:cNvSpPr/>
          <p:nvPr/>
        </p:nvSpPr>
        <p:spPr>
          <a:xfrm>
            <a:off x="5230368" y="5056632"/>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285231" y="5056632"/>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Cao, theo MTU</a:t>
            </a:r>
          </a:p>
        </p:txBody>
      </p:sp>
      <p:sp>
        <p:nvSpPr>
          <p:cNvPr id="70" name="Rectangle 69"/>
          <p:cNvSpPr/>
          <p:nvPr/>
        </p:nvSpPr>
        <p:spPr>
          <a:xfrm>
            <a:off x="6464808" y="5056632"/>
            <a:ext cx="141732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19672" y="5056632"/>
            <a:ext cx="130759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Rất cao</a:t>
            </a:r>
          </a:p>
        </p:txBody>
      </p:sp>
      <p:sp>
        <p:nvSpPr>
          <p:cNvPr id="72" name="Rectangle 71"/>
          <p:cNvSpPr/>
          <p:nvPr/>
        </p:nvSpPr>
        <p:spPr>
          <a:xfrm>
            <a:off x="7882128" y="5056632"/>
            <a:ext cx="11430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36992" y="5056632"/>
            <a:ext cx="1033271"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Cao</a:t>
            </a:r>
          </a:p>
        </p:txBody>
      </p:sp>
      <p:sp>
        <p:nvSpPr>
          <p:cNvPr id="74" name="Rectangle 73"/>
          <p:cNvSpPr/>
          <p:nvPr/>
        </p:nvSpPr>
        <p:spPr>
          <a:xfrm>
            <a:off x="9025128" y="5056632"/>
            <a:ext cx="123444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079992" y="5056632"/>
            <a:ext cx="112471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Theo dòng ĐB</a:t>
            </a:r>
          </a:p>
        </p:txBody>
      </p:sp>
      <p:sp>
        <p:nvSpPr>
          <p:cNvPr id="76" name="Rectangle 75"/>
          <p:cNvSpPr/>
          <p:nvPr/>
        </p:nvSpPr>
        <p:spPr>
          <a:xfrm>
            <a:off x="10259568" y="5056632"/>
            <a:ext cx="1371600" cy="84124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314432" y="5056632"/>
            <a:ext cx="1261872" cy="841248"/>
          </a:xfrm>
          <a:prstGeom prst="rect">
            <a:avLst/>
          </a:prstGeom>
          <a:noFill/>
        </p:spPr>
        <p:txBody>
          <a:bodyPr wrap="square" anchor="ctr" lIns="25400" rIns="25400" tIns="12700" bIns="12700">
            <a:spAutoFit/>
          </a:bodyPr>
          <a:lstStyle/>
          <a:p>
            <a:pPr algn="ctr">
              <a:lnSpc>
                <a:spcPct val="90000"/>
              </a:lnSpc>
              <a:spcBef>
                <a:spcPts val="0"/>
              </a:spcBef>
              <a:spcAft>
                <a:spcPts val="400"/>
              </a:spcAft>
            </a:pPr>
            <a:r>
              <a:rPr sz="1000" b="0" i="0">
                <a:solidFill>
                  <a:srgbClr val="1B1B2E"/>
                </a:solidFill>
                <a:latin typeface="Calibri"/>
              </a:rPr>
              <a:t>Cao</a:t>
            </a:r>
          </a:p>
        </p:txBody>
      </p:sp>
      <p:sp>
        <p:nvSpPr>
          <p:cNvPr id="78" name="Rounded Rectangle 77"/>
          <p:cNvSpPr/>
          <p:nvPr/>
        </p:nvSpPr>
        <p:spPr>
          <a:xfrm>
            <a:off x="566928" y="5669280"/>
            <a:ext cx="11064240" cy="777240"/>
          </a:xfrm>
          <a:prstGeom prst="roundRect">
            <a:avLst/>
          </a:prstGeom>
          <a:solidFill>
            <a:srgbClr val="E7D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22960" y="5669280"/>
            <a:ext cx="10607040" cy="777240"/>
          </a:xfrm>
          <a:prstGeom prst="rect">
            <a:avLst/>
          </a:prstGeom>
          <a:noFill/>
        </p:spPr>
        <p:txBody>
          <a:bodyPr wrap="square" anchor="ctr" lIns="25400" rIns="25400" tIns="12700" bIns="12700">
            <a:spAutoFit/>
          </a:bodyPr>
          <a:lstStyle/>
          <a:p>
            <a:pPr algn="l">
              <a:lnSpc>
                <a:spcPct val="105000"/>
              </a:lnSpc>
              <a:spcBef>
                <a:spcPts val="0"/>
              </a:spcBef>
              <a:spcAft>
                <a:spcPts val="400"/>
              </a:spcAft>
            </a:pPr>
            <a:r>
              <a:rPr sz="1250" b="1" i="0">
                <a:solidFill>
                  <a:srgbClr val="2E2E40"/>
                </a:solidFill>
                <a:latin typeface="Calibri"/>
              </a:rPr>
              <a:t>Kết luận: </a:t>
            </a:r>
            <a:r>
              <a:rPr sz="1200" b="0" i="0">
                <a:solidFill>
                  <a:srgbClr val="1B1B2E"/>
                </a:solidFill>
                <a:latin typeface="Calibri"/>
              </a:rPr>
              <a:t>AICDP phù hợp OCH hơn nhờ chủ quyền dữ liệu tại VN, may đo đúng ngành F&amp;B + khách sạn, chi phí sở hữu thấp, và kênh Việt Nam (Zalo). Số liệu đối thủ chỉ định tính — không phóng đại.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KỸ THUẬT · KIẾN TRÚC THẬT</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Mô hình tích hợp kỹ thuật tổng thể</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42</a:t>
            </a:r>
          </a:p>
        </p:txBody>
      </p:sp>
      <p:sp>
        <p:nvSpPr>
          <p:cNvPr id="8" name="Rectangle 7"/>
          <p:cNvSpPr/>
          <p:nvPr/>
        </p:nvSpPr>
        <p:spPr>
          <a:xfrm>
            <a:off x="566928" y="2331720"/>
            <a:ext cx="2423160" cy="2103120"/>
          </a:xfrm>
          <a:prstGeom prst="rect">
            <a:avLst/>
          </a:prstGeom>
          <a:solidFill>
            <a:srgbClr val="3D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331720"/>
            <a:ext cx="2423160" cy="4572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331720"/>
            <a:ext cx="2423160"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NGUỒN DỮ LIỆU</a:t>
            </a:r>
          </a:p>
        </p:txBody>
      </p:sp>
      <p:sp>
        <p:nvSpPr>
          <p:cNvPr id="11" name="TextBox 10"/>
          <p:cNvSpPr txBox="1"/>
          <p:nvPr/>
        </p:nvSpPr>
        <p:spPr>
          <a:xfrm>
            <a:off x="676656" y="2898648"/>
            <a:ext cx="2203704" cy="1444751"/>
          </a:xfrm>
          <a:prstGeom prst="rect">
            <a:avLst/>
          </a:prstGeom>
          <a:noFill/>
        </p:spPr>
        <p:txBody>
          <a:bodyPr wrap="square" anchor="t" lIns="25400" rIns="25400" tIns="12700" bIns="12700">
            <a:spAutoFit/>
          </a:bodyPr>
          <a:lstStyle/>
          <a:p>
            <a:pPr algn="ctr">
              <a:lnSpc>
                <a:spcPct val="105000"/>
              </a:lnSpc>
              <a:spcBef>
                <a:spcPts val="0"/>
              </a:spcBef>
              <a:spcAft>
                <a:spcPts val="300"/>
              </a:spcAft>
            </a:pPr>
            <a:r>
              <a:rPr sz="1050" b="0" i="1">
                <a:solidFill>
                  <a:srgbClr val="C39851"/>
                </a:solidFill>
                <a:latin typeface="Calibri"/>
              </a:rPr>
              <a:t>POS (F&amp;B)</a:t>
            </a:r>
          </a:p>
          <a:p>
            <a:pPr algn="ctr">
              <a:lnSpc>
                <a:spcPct val="105000"/>
              </a:lnSpc>
              <a:spcBef>
                <a:spcPts val="0"/>
              </a:spcBef>
              <a:spcAft>
                <a:spcPts val="300"/>
              </a:spcAft>
            </a:pPr>
            <a:r>
              <a:rPr sz="1050" b="0" i="1">
                <a:solidFill>
                  <a:srgbClr val="C39851"/>
                </a:solidFill>
                <a:latin typeface="Calibri"/>
              </a:rPr>
              <a:t>PMS (Khách sạn)</a:t>
            </a:r>
          </a:p>
          <a:p>
            <a:pPr algn="ctr">
              <a:lnSpc>
                <a:spcPct val="105000"/>
              </a:lnSpc>
              <a:spcBef>
                <a:spcPts val="0"/>
              </a:spcBef>
              <a:spcAft>
                <a:spcPts val="300"/>
              </a:spcAft>
            </a:pPr>
            <a:r>
              <a:rPr sz="1050" b="1" i="0">
                <a:solidFill>
                  <a:srgbClr val="FFFFFF"/>
                </a:solidFill>
                <a:latin typeface="Calibri"/>
              </a:rPr>
              <a:t>Web/App SDK</a:t>
            </a:r>
          </a:p>
          <a:p>
            <a:pPr algn="ctr">
              <a:lnSpc>
                <a:spcPct val="105000"/>
              </a:lnSpc>
              <a:spcBef>
                <a:spcPts val="0"/>
              </a:spcBef>
              <a:spcAft>
                <a:spcPts val="300"/>
              </a:spcAft>
            </a:pPr>
            <a:r>
              <a:rPr sz="1050" b="1" i="0">
                <a:solidFill>
                  <a:srgbClr val="FFFFFF"/>
                </a:solidFill>
                <a:latin typeface="Calibri"/>
              </a:rPr>
              <a:t>E-commerce</a:t>
            </a:r>
          </a:p>
          <a:p>
            <a:pPr algn="ctr">
              <a:lnSpc>
                <a:spcPct val="105000"/>
              </a:lnSpc>
              <a:spcBef>
                <a:spcPts val="0"/>
              </a:spcBef>
              <a:spcAft>
                <a:spcPts val="300"/>
              </a:spcAft>
            </a:pPr>
            <a:r>
              <a:rPr sz="1050" b="1" i="0">
                <a:solidFill>
                  <a:srgbClr val="FFFFFF"/>
                </a:solidFill>
                <a:latin typeface="Calibri"/>
              </a:rPr>
              <a:t>Form / CSKH</a:t>
            </a:r>
          </a:p>
        </p:txBody>
      </p:sp>
      <p:sp>
        <p:nvSpPr>
          <p:cNvPr id="12" name="Right Arrow 11"/>
          <p:cNvSpPr/>
          <p:nvPr/>
        </p:nvSpPr>
        <p:spPr>
          <a:xfrm>
            <a:off x="3035808" y="3218687"/>
            <a:ext cx="365760" cy="329184"/>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47288" y="2331720"/>
            <a:ext cx="2423160" cy="21031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47288" y="2331720"/>
            <a:ext cx="2423160" cy="4572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2331720"/>
            <a:ext cx="2423160"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INGESTION</a:t>
            </a:r>
          </a:p>
        </p:txBody>
      </p:sp>
      <p:sp>
        <p:nvSpPr>
          <p:cNvPr id="16" name="TextBox 15"/>
          <p:cNvSpPr txBox="1"/>
          <p:nvPr/>
        </p:nvSpPr>
        <p:spPr>
          <a:xfrm>
            <a:off x="3557016" y="2898648"/>
            <a:ext cx="2203704" cy="1444751"/>
          </a:xfrm>
          <a:prstGeom prst="rect">
            <a:avLst/>
          </a:prstGeom>
          <a:noFill/>
        </p:spPr>
        <p:txBody>
          <a:bodyPr wrap="square" anchor="t" lIns="25400" rIns="25400" tIns="12700" bIns="12700">
            <a:spAutoFit/>
          </a:bodyPr>
          <a:lstStyle/>
          <a:p>
            <a:pPr algn="ctr">
              <a:lnSpc>
                <a:spcPct val="105000"/>
              </a:lnSpc>
              <a:spcBef>
                <a:spcPts val="0"/>
              </a:spcBef>
              <a:spcAft>
                <a:spcPts val="300"/>
              </a:spcAft>
            </a:pPr>
            <a:r>
              <a:rPr sz="1050" b="1" i="0">
                <a:solidFill>
                  <a:srgbClr val="FFFFFF"/>
                </a:solidFill>
                <a:latin typeface="Calibri"/>
              </a:rPr>
              <a:t>RudderStack OSS</a:t>
            </a:r>
          </a:p>
          <a:p>
            <a:pPr algn="ctr">
              <a:lnSpc>
                <a:spcPct val="105000"/>
              </a:lnSpc>
              <a:spcBef>
                <a:spcPts val="0"/>
              </a:spcBef>
              <a:spcAft>
                <a:spcPts val="300"/>
              </a:spcAft>
            </a:pPr>
            <a:r>
              <a:rPr sz="1050" b="0" i="1">
                <a:solidFill>
                  <a:srgbClr val="C39851"/>
                </a:solidFill>
                <a:latin typeface="Calibri"/>
              </a:rPr>
              <a:t>(thu sự kiện + định tuyến)</a:t>
            </a:r>
          </a:p>
          <a:p>
            <a:pPr algn="ctr">
              <a:lnSpc>
                <a:spcPct val="105000"/>
              </a:lnSpc>
              <a:spcBef>
                <a:spcPts val="0"/>
              </a:spcBef>
              <a:spcAft>
                <a:spcPts val="300"/>
              </a:spcAft>
            </a:pPr>
            <a:r>
              <a:rPr sz="1050" b="1" i="0">
                <a:solidFill>
                  <a:srgbClr val="FFFFFF"/>
                </a:solidFill>
                <a:latin typeface="Calibri"/>
              </a:rPr>
              <a:t>core-api / NestJS</a:t>
            </a:r>
          </a:p>
          <a:p>
            <a:pPr algn="ctr">
              <a:lnSpc>
                <a:spcPct val="105000"/>
              </a:lnSpc>
              <a:spcBef>
                <a:spcPts val="0"/>
              </a:spcBef>
              <a:spcAft>
                <a:spcPts val="300"/>
              </a:spcAft>
            </a:pPr>
            <a:r>
              <a:rPr sz="1050" b="1" i="0">
                <a:solidFill>
                  <a:srgbClr val="FFFFFF"/>
                </a:solidFill>
                <a:latin typeface="Calibri"/>
              </a:rPr>
              <a:t>REST/HTTP + SDK</a:t>
            </a:r>
          </a:p>
        </p:txBody>
      </p:sp>
      <p:sp>
        <p:nvSpPr>
          <p:cNvPr id="17" name="Right Arrow 16"/>
          <p:cNvSpPr/>
          <p:nvPr/>
        </p:nvSpPr>
        <p:spPr>
          <a:xfrm>
            <a:off x="5916168" y="3218687"/>
            <a:ext cx="365760" cy="329184"/>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27648" y="2331720"/>
            <a:ext cx="2423160" cy="21031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27648" y="2331720"/>
            <a:ext cx="2423160" cy="4572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7648" y="2331720"/>
            <a:ext cx="2423160"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LƯU TRỮ</a:t>
            </a:r>
          </a:p>
        </p:txBody>
      </p:sp>
      <p:sp>
        <p:nvSpPr>
          <p:cNvPr id="21" name="TextBox 20"/>
          <p:cNvSpPr txBox="1"/>
          <p:nvPr/>
        </p:nvSpPr>
        <p:spPr>
          <a:xfrm>
            <a:off x="6437376" y="2898648"/>
            <a:ext cx="2203704" cy="1444751"/>
          </a:xfrm>
          <a:prstGeom prst="rect">
            <a:avLst/>
          </a:prstGeom>
          <a:noFill/>
        </p:spPr>
        <p:txBody>
          <a:bodyPr wrap="square" anchor="t" lIns="25400" rIns="25400" tIns="12700" bIns="12700">
            <a:spAutoFit/>
          </a:bodyPr>
          <a:lstStyle/>
          <a:p>
            <a:pPr algn="ctr">
              <a:lnSpc>
                <a:spcPct val="105000"/>
              </a:lnSpc>
              <a:spcBef>
                <a:spcPts val="0"/>
              </a:spcBef>
              <a:spcAft>
                <a:spcPts val="300"/>
              </a:spcAft>
            </a:pPr>
            <a:r>
              <a:rPr sz="1050" b="1" i="0">
                <a:solidFill>
                  <a:srgbClr val="FFFFFF"/>
                </a:solidFill>
                <a:latin typeface="Calibri"/>
              </a:rPr>
              <a:t>PostgreSQL 18</a:t>
            </a:r>
          </a:p>
          <a:p>
            <a:pPr algn="ctr">
              <a:lnSpc>
                <a:spcPct val="105000"/>
              </a:lnSpc>
              <a:spcBef>
                <a:spcPts val="0"/>
              </a:spcBef>
              <a:spcAft>
                <a:spcPts val="300"/>
              </a:spcAft>
            </a:pPr>
            <a:r>
              <a:rPr sz="1050" b="0" i="1">
                <a:solidFill>
                  <a:srgbClr val="C39851"/>
                </a:solidFill>
                <a:latin typeface="Calibri"/>
              </a:rPr>
              <a:t>(system of record, ACID)</a:t>
            </a:r>
          </a:p>
          <a:p>
            <a:pPr algn="ctr">
              <a:lnSpc>
                <a:spcPct val="105000"/>
              </a:lnSpc>
              <a:spcBef>
                <a:spcPts val="0"/>
              </a:spcBef>
              <a:spcAft>
                <a:spcPts val="300"/>
              </a:spcAft>
            </a:pPr>
            <a:r>
              <a:rPr sz="1050" b="0" i="1">
                <a:solidFill>
                  <a:srgbClr val="C39851"/>
                </a:solidFill>
                <a:latin typeface="Calibri"/>
              </a:rPr>
              <a:t>ClickHouse (OLAP)</a:t>
            </a:r>
          </a:p>
          <a:p>
            <a:pPr algn="ctr">
              <a:lnSpc>
                <a:spcPct val="105000"/>
              </a:lnSpc>
              <a:spcBef>
                <a:spcPts val="0"/>
              </a:spcBef>
              <a:spcAft>
                <a:spcPts val="300"/>
              </a:spcAft>
            </a:pPr>
            <a:r>
              <a:rPr sz="1050" b="0" i="1">
                <a:solidFill>
                  <a:srgbClr val="C39851"/>
                </a:solidFill>
                <a:latin typeface="Calibri"/>
              </a:rPr>
              <a:t>MinIO (object store)</a:t>
            </a:r>
          </a:p>
          <a:p>
            <a:pPr algn="ctr">
              <a:lnSpc>
                <a:spcPct val="105000"/>
              </a:lnSpc>
              <a:spcBef>
                <a:spcPts val="0"/>
              </a:spcBef>
              <a:spcAft>
                <a:spcPts val="300"/>
              </a:spcAft>
            </a:pPr>
            <a:r>
              <a:rPr sz="1050" b="0" i="1">
                <a:solidFill>
                  <a:srgbClr val="C39851"/>
                </a:solidFill>
                <a:latin typeface="Calibri"/>
              </a:rPr>
              <a:t>Redis (cache)</a:t>
            </a:r>
          </a:p>
        </p:txBody>
      </p:sp>
      <p:sp>
        <p:nvSpPr>
          <p:cNvPr id="22" name="Right Arrow 21"/>
          <p:cNvSpPr/>
          <p:nvPr/>
        </p:nvSpPr>
        <p:spPr>
          <a:xfrm>
            <a:off x="8796528" y="3218687"/>
            <a:ext cx="365760" cy="329184"/>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08007" y="2331720"/>
            <a:ext cx="2423160" cy="2103120"/>
          </a:xfrm>
          <a:prstGeom prst="rect">
            <a:avLst/>
          </a:prstGeom>
          <a:solidFill>
            <a:srgbClr val="3D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08007" y="2331720"/>
            <a:ext cx="2423160" cy="4572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08007" y="2331720"/>
            <a:ext cx="2423160"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2E2E40"/>
                </a:solidFill>
                <a:latin typeface="Calibri"/>
              </a:rPr>
              <a:t>KÍCH HOẠT</a:t>
            </a:r>
          </a:p>
        </p:txBody>
      </p:sp>
      <p:sp>
        <p:nvSpPr>
          <p:cNvPr id="26" name="TextBox 25"/>
          <p:cNvSpPr txBox="1"/>
          <p:nvPr/>
        </p:nvSpPr>
        <p:spPr>
          <a:xfrm>
            <a:off x="9317735" y="2898648"/>
            <a:ext cx="2203704" cy="1444751"/>
          </a:xfrm>
          <a:prstGeom prst="rect">
            <a:avLst/>
          </a:prstGeom>
          <a:noFill/>
        </p:spPr>
        <p:txBody>
          <a:bodyPr wrap="square" anchor="t" lIns="25400" rIns="25400" tIns="12700" bIns="12700">
            <a:spAutoFit/>
          </a:bodyPr>
          <a:lstStyle/>
          <a:p>
            <a:pPr algn="ctr">
              <a:lnSpc>
                <a:spcPct val="105000"/>
              </a:lnSpc>
              <a:spcBef>
                <a:spcPts val="0"/>
              </a:spcBef>
              <a:spcAft>
                <a:spcPts val="300"/>
              </a:spcAft>
            </a:pPr>
            <a:r>
              <a:rPr sz="1050" b="1" i="0">
                <a:solidFill>
                  <a:srgbClr val="FFFFFF"/>
                </a:solidFill>
                <a:latin typeface="Calibri"/>
              </a:rPr>
              <a:t>Reverse-ETL</a:t>
            </a:r>
          </a:p>
          <a:p>
            <a:pPr algn="ctr">
              <a:lnSpc>
                <a:spcPct val="105000"/>
              </a:lnSpc>
              <a:spcBef>
                <a:spcPts val="0"/>
              </a:spcBef>
              <a:spcAft>
                <a:spcPts val="300"/>
              </a:spcAft>
            </a:pPr>
            <a:r>
              <a:rPr sz="1050" b="0" i="1">
                <a:solidFill>
                  <a:srgbClr val="C39851"/>
                </a:solidFill>
                <a:latin typeface="Calibri"/>
              </a:rPr>
              <a:t>(RudderStack)</a:t>
            </a:r>
          </a:p>
          <a:p>
            <a:pPr algn="ctr">
              <a:lnSpc>
                <a:spcPct val="105000"/>
              </a:lnSpc>
              <a:spcBef>
                <a:spcPts val="0"/>
              </a:spcBef>
              <a:spcAft>
                <a:spcPts val="300"/>
              </a:spcAft>
            </a:pPr>
            <a:r>
              <a:rPr sz="1050" b="1" i="0">
                <a:solidFill>
                  <a:srgbClr val="C39851"/>
                </a:solidFill>
                <a:latin typeface="Calibri"/>
              </a:rPr>
              <a:t>→ Email / SMS</a:t>
            </a:r>
          </a:p>
          <a:p>
            <a:pPr algn="ctr">
              <a:lnSpc>
                <a:spcPct val="105000"/>
              </a:lnSpc>
              <a:spcBef>
                <a:spcPts val="0"/>
              </a:spcBef>
              <a:spcAft>
                <a:spcPts val="300"/>
              </a:spcAft>
            </a:pPr>
            <a:r>
              <a:rPr sz="1050" b="1" i="0">
                <a:solidFill>
                  <a:srgbClr val="C39851"/>
                </a:solidFill>
                <a:latin typeface="Calibri"/>
              </a:rPr>
              <a:t>→ Zalo ZNS</a:t>
            </a:r>
          </a:p>
          <a:p>
            <a:pPr algn="ctr">
              <a:lnSpc>
                <a:spcPct val="105000"/>
              </a:lnSpc>
              <a:spcBef>
                <a:spcPts val="0"/>
              </a:spcBef>
              <a:spcAft>
                <a:spcPts val="300"/>
              </a:spcAft>
            </a:pPr>
            <a:r>
              <a:rPr sz="1050" b="1" i="0">
                <a:solidFill>
                  <a:srgbClr val="C39851"/>
                </a:solidFill>
                <a:latin typeface="Calibri"/>
              </a:rPr>
              <a:t>→ Google / Meta / BI</a:t>
            </a:r>
          </a:p>
        </p:txBody>
      </p:sp>
      <p:sp>
        <p:nvSpPr>
          <p:cNvPr id="27" name="Rectangle 26"/>
          <p:cNvSpPr/>
          <p:nvPr/>
        </p:nvSpPr>
        <p:spPr>
          <a:xfrm>
            <a:off x="566928" y="4800600"/>
            <a:ext cx="11064240" cy="68580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800600"/>
            <a:ext cx="82296" cy="68580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800600"/>
            <a:ext cx="10607040" cy="685800"/>
          </a:xfrm>
          <a:prstGeom prst="rect">
            <a:avLst/>
          </a:prstGeom>
          <a:noFill/>
        </p:spPr>
        <p:txBody>
          <a:bodyPr wrap="square" anchor="ctr" lIns="25400" rIns="25400" tIns="12700" bIns="12700">
            <a:spAutoFit/>
          </a:bodyPr>
          <a:lstStyle/>
          <a:p>
            <a:pPr algn="l">
              <a:lnSpc>
                <a:spcPct val="105000"/>
              </a:lnSpc>
              <a:spcBef>
                <a:spcPts val="0"/>
              </a:spcBef>
              <a:spcAft>
                <a:spcPts val="400"/>
              </a:spcAft>
            </a:pPr>
            <a:r>
              <a:rPr sz="1150" b="1" i="0">
                <a:solidFill>
                  <a:srgbClr val="2E2E40"/>
                </a:solidFill>
                <a:latin typeface="Calibri"/>
              </a:rPr>
              <a:t>Chống trùng dữ liệu (idempotency): </a:t>
            </a:r>
            <a:r>
              <a:rPr sz="1150" b="0" i="0">
                <a:solidFill>
                  <a:srgbClr val="1B1B2E"/>
                </a:solidFill>
                <a:latin typeface="Calibri"/>
              </a:rPr>
              <a:t>mỗi giao dịch POS có khoá duy nhất {thương hiệu}:{cửa hàng}:{mã giao dịch} — gửi lại bao nhiêu lần cũng chỉ ghi nhận MỘT lần, không nhân đôi doanh thu.</a:t>
            </a:r>
          </a:p>
        </p:txBody>
      </p:sp>
      <p:sp>
        <p:nvSpPr>
          <p:cNvPr id="30" name="TextBox 29"/>
          <p:cNvSpPr txBox="1"/>
          <p:nvPr/>
        </p:nvSpPr>
        <p:spPr>
          <a:xfrm>
            <a:off x="566928" y="5623560"/>
            <a:ext cx="10972800" cy="640080"/>
          </a:xfrm>
          <a:prstGeom prst="rect">
            <a:avLst/>
          </a:prstGeom>
          <a:noFill/>
        </p:spPr>
        <p:txBody>
          <a:bodyPr wrap="square" anchor="t" lIns="25400" rIns="25400" tIns="12700" bIns="12700">
            <a:spAutoFit/>
          </a:bodyPr>
          <a:lstStyle/>
          <a:p>
            <a:pPr algn="l">
              <a:lnSpc>
                <a:spcPct val="105000"/>
              </a:lnSpc>
              <a:spcBef>
                <a:spcPts val="0"/>
              </a:spcBef>
              <a:spcAft>
                <a:spcPts val="400"/>
              </a:spcAft>
            </a:pPr>
            <a:r>
              <a:rPr sz="1100" b="1" i="0">
                <a:solidFill>
                  <a:srgbClr val="2E2E40"/>
                </a:solidFill>
                <a:latin typeface="Calibri"/>
              </a:rPr>
              <a:t>core-api (NestJS) </a:t>
            </a:r>
            <a:r>
              <a:rPr sz="1100" b="0" i="0">
                <a:solidFill>
                  <a:srgbClr val="565564"/>
                </a:solidFill>
                <a:latin typeface="Calibri"/>
              </a:rPr>
              <a:t>gom định danh + loyalty + consent + ingestion trong MỘT giao dịch ACID — đảm bảo đúng tiền, đúng người ngay tại điểm bán.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KỸ THUẬT · CÁC MÔ HÌNH TÍCH HỢP</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Phương pháp kết nối &amp; đồng bộ dữ liệu</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43</a:t>
            </a:r>
          </a:p>
        </p:txBody>
      </p:sp>
      <p:sp>
        <p:nvSpPr>
          <p:cNvPr id="8" name="Rectangle 7"/>
          <p:cNvSpPr/>
          <p:nvPr/>
        </p:nvSpPr>
        <p:spPr>
          <a:xfrm>
            <a:off x="566928" y="1965960"/>
            <a:ext cx="283464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65960"/>
            <a:ext cx="2651760" cy="50292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00" b="1" i="0">
                <a:solidFill>
                  <a:srgbClr val="FFFFFF"/>
                </a:solidFill>
                <a:latin typeface="Calibri"/>
              </a:rPr>
              <a:t>Mô hình</a:t>
            </a:r>
          </a:p>
        </p:txBody>
      </p:sp>
      <p:sp>
        <p:nvSpPr>
          <p:cNvPr id="10" name="Rectangle 9"/>
          <p:cNvSpPr/>
          <p:nvPr/>
        </p:nvSpPr>
        <p:spPr>
          <a:xfrm>
            <a:off x="3401568" y="1965960"/>
            <a:ext cx="384048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93008" y="1965960"/>
            <a:ext cx="3657600" cy="50292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00" b="1" i="0">
                <a:solidFill>
                  <a:srgbClr val="FFFFFF"/>
                </a:solidFill>
                <a:latin typeface="Calibri"/>
              </a:rPr>
              <a:t>Khi nào dùng</a:t>
            </a:r>
          </a:p>
        </p:txBody>
      </p:sp>
      <p:sp>
        <p:nvSpPr>
          <p:cNvPr id="12" name="Rectangle 11"/>
          <p:cNvSpPr/>
          <p:nvPr/>
        </p:nvSpPr>
        <p:spPr>
          <a:xfrm>
            <a:off x="7242048" y="1965960"/>
            <a:ext cx="438912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3488" y="1965960"/>
            <a:ext cx="4206240" cy="50292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00" b="1" i="0">
                <a:solidFill>
                  <a:srgbClr val="FFFFFF"/>
                </a:solidFill>
                <a:latin typeface="Calibri"/>
              </a:rPr>
              <a:t>Ví dụ tại OCH</a:t>
            </a:r>
          </a:p>
        </p:txBody>
      </p:sp>
      <p:sp>
        <p:nvSpPr>
          <p:cNvPr id="14" name="Rectangle 13"/>
          <p:cNvSpPr/>
          <p:nvPr/>
        </p:nvSpPr>
        <p:spPr>
          <a:xfrm>
            <a:off x="566928" y="2468880"/>
            <a:ext cx="2834640" cy="65836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468880"/>
            <a:ext cx="263347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1" i="0">
                <a:solidFill>
                  <a:srgbClr val="FFFFFF"/>
                </a:solidFill>
                <a:latin typeface="Calibri"/>
              </a:rPr>
              <a:t>Streaming realtime</a:t>
            </a:r>
          </a:p>
        </p:txBody>
      </p:sp>
      <p:sp>
        <p:nvSpPr>
          <p:cNvPr id="16" name="Rectangle 15"/>
          <p:cNvSpPr/>
          <p:nvPr/>
        </p:nvSpPr>
        <p:spPr>
          <a:xfrm>
            <a:off x="3401568" y="2468880"/>
            <a:ext cx="3840480" cy="65836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11296" y="2468880"/>
            <a:ext cx="363931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Cần dữ liệu tức thời khi có sự kiện</a:t>
            </a:r>
          </a:p>
        </p:txBody>
      </p:sp>
      <p:sp>
        <p:nvSpPr>
          <p:cNvPr id="18" name="Rectangle 17"/>
          <p:cNvSpPr/>
          <p:nvPr/>
        </p:nvSpPr>
        <p:spPr>
          <a:xfrm>
            <a:off x="7242048" y="2468880"/>
            <a:ext cx="4389120" cy="65836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51775" y="2468880"/>
            <a:ext cx="418795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Giao dịch POS, sự kiện web/app → nạp ngay</a:t>
            </a:r>
          </a:p>
        </p:txBody>
      </p:sp>
      <p:sp>
        <p:nvSpPr>
          <p:cNvPr id="20" name="Rectangle 19"/>
          <p:cNvSpPr/>
          <p:nvPr/>
        </p:nvSpPr>
        <p:spPr>
          <a:xfrm>
            <a:off x="566928" y="3127248"/>
            <a:ext cx="2834640" cy="65836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3127248"/>
            <a:ext cx="263347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1" i="0">
                <a:solidFill>
                  <a:srgbClr val="FFFFFF"/>
                </a:solidFill>
                <a:latin typeface="Calibri"/>
              </a:rPr>
              <a:t>Batch / theo lịch</a:t>
            </a:r>
          </a:p>
        </p:txBody>
      </p:sp>
      <p:sp>
        <p:nvSpPr>
          <p:cNvPr id="22" name="Rectangle 21"/>
          <p:cNvSpPr/>
          <p:nvPr/>
        </p:nvSpPr>
        <p:spPr>
          <a:xfrm>
            <a:off x="3401568" y="3127248"/>
            <a:ext cx="3840480" cy="65836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1296" y="3127248"/>
            <a:ext cx="363931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Dữ liệu lớn, không cần tức thời</a:t>
            </a:r>
          </a:p>
        </p:txBody>
      </p:sp>
      <p:sp>
        <p:nvSpPr>
          <p:cNvPr id="24" name="Rectangle 23"/>
          <p:cNvSpPr/>
          <p:nvPr/>
        </p:nvSpPr>
        <p:spPr>
          <a:xfrm>
            <a:off x="7242048" y="3127248"/>
            <a:ext cx="4389120" cy="65836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51775" y="3127248"/>
            <a:ext cx="418795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Danh mục sản phẩm, đồng bộ đêm từ file/DB</a:t>
            </a:r>
          </a:p>
        </p:txBody>
      </p:sp>
      <p:sp>
        <p:nvSpPr>
          <p:cNvPr id="26" name="Rectangle 25"/>
          <p:cNvSpPr/>
          <p:nvPr/>
        </p:nvSpPr>
        <p:spPr>
          <a:xfrm>
            <a:off x="566928" y="3785616"/>
            <a:ext cx="2834640" cy="65836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3785616"/>
            <a:ext cx="263347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1" i="0">
                <a:solidFill>
                  <a:srgbClr val="FFFFFF"/>
                </a:solidFill>
                <a:latin typeface="Calibri"/>
              </a:rPr>
              <a:t>CDC (Change Data Capture)</a:t>
            </a:r>
          </a:p>
        </p:txBody>
      </p:sp>
      <p:sp>
        <p:nvSpPr>
          <p:cNvPr id="28" name="Rectangle 27"/>
          <p:cNvSpPr/>
          <p:nvPr/>
        </p:nvSpPr>
        <p:spPr>
          <a:xfrm>
            <a:off x="3401568" y="3785616"/>
            <a:ext cx="3840480" cy="65836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11296" y="3785616"/>
            <a:ext cx="363931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Bắt thay đổi từ CSDL nguồn</a:t>
            </a:r>
          </a:p>
        </p:txBody>
      </p:sp>
      <p:sp>
        <p:nvSpPr>
          <p:cNvPr id="30" name="Rectangle 29"/>
          <p:cNvSpPr/>
          <p:nvPr/>
        </p:nvSpPr>
        <p:spPr>
          <a:xfrm>
            <a:off x="7242048" y="3785616"/>
            <a:ext cx="4389120" cy="65836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51775" y="3785616"/>
            <a:ext cx="418795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Cập nhật hồ sơ khách từ hệ thống cũ</a:t>
            </a:r>
          </a:p>
        </p:txBody>
      </p:sp>
      <p:sp>
        <p:nvSpPr>
          <p:cNvPr id="32" name="Rectangle 31"/>
          <p:cNvSpPr/>
          <p:nvPr/>
        </p:nvSpPr>
        <p:spPr>
          <a:xfrm>
            <a:off x="566928" y="4443984"/>
            <a:ext cx="2834640" cy="65836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 y="4443984"/>
            <a:ext cx="263347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1" i="0">
                <a:solidFill>
                  <a:srgbClr val="FFFFFF"/>
                </a:solidFill>
                <a:latin typeface="Calibri"/>
              </a:rPr>
              <a:t>Reverse-ETL</a:t>
            </a:r>
          </a:p>
        </p:txBody>
      </p:sp>
      <p:sp>
        <p:nvSpPr>
          <p:cNvPr id="34" name="Rectangle 33"/>
          <p:cNvSpPr/>
          <p:nvPr/>
        </p:nvSpPr>
        <p:spPr>
          <a:xfrm>
            <a:off x="3401568" y="4443984"/>
            <a:ext cx="3840480" cy="65836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11296" y="4443984"/>
            <a:ext cx="363931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Đẩy từ kho dữ liệu ra công cụ SaaS</a:t>
            </a:r>
          </a:p>
        </p:txBody>
      </p:sp>
      <p:sp>
        <p:nvSpPr>
          <p:cNvPr id="36" name="Rectangle 35"/>
          <p:cNvSpPr/>
          <p:nvPr/>
        </p:nvSpPr>
        <p:spPr>
          <a:xfrm>
            <a:off x="7242048" y="4443984"/>
            <a:ext cx="4389120" cy="65836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51775" y="4443984"/>
            <a:ext cx="418795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Đẩy tệp Audience sang Zalo ZNS / Ads</a:t>
            </a:r>
          </a:p>
        </p:txBody>
      </p:sp>
      <p:sp>
        <p:nvSpPr>
          <p:cNvPr id="38" name="Rectangle 37"/>
          <p:cNvSpPr/>
          <p:nvPr/>
        </p:nvSpPr>
        <p:spPr>
          <a:xfrm>
            <a:off x="566928" y="5102352"/>
            <a:ext cx="2834640" cy="65836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 y="5102352"/>
            <a:ext cx="263347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1" i="0">
                <a:solidFill>
                  <a:srgbClr val="FFFFFF"/>
                </a:solidFill>
                <a:latin typeface="Calibri"/>
              </a:rPr>
              <a:t>Webhook</a:t>
            </a:r>
          </a:p>
        </p:txBody>
      </p:sp>
      <p:sp>
        <p:nvSpPr>
          <p:cNvPr id="40" name="Rectangle 39"/>
          <p:cNvSpPr/>
          <p:nvPr/>
        </p:nvSpPr>
        <p:spPr>
          <a:xfrm>
            <a:off x="3401568" y="5102352"/>
            <a:ext cx="3840480" cy="65836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11296" y="5102352"/>
            <a:ext cx="363931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Nguồn chủ động “gọi” khi có sự kiện</a:t>
            </a:r>
          </a:p>
        </p:txBody>
      </p:sp>
      <p:sp>
        <p:nvSpPr>
          <p:cNvPr id="42" name="Rectangle 41"/>
          <p:cNvSpPr/>
          <p:nvPr/>
        </p:nvSpPr>
        <p:spPr>
          <a:xfrm>
            <a:off x="7242048" y="5102352"/>
            <a:ext cx="4389120" cy="658368"/>
          </a:xfrm>
          <a:prstGeom prst="rect">
            <a:avLst/>
          </a:prstGeom>
          <a:solidFill>
            <a:srgbClr val="F7F6F2"/>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51775" y="5102352"/>
            <a:ext cx="418795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Cổng thanh toán / đối tác báo sự kiện</a:t>
            </a:r>
          </a:p>
        </p:txBody>
      </p:sp>
      <p:sp>
        <p:nvSpPr>
          <p:cNvPr id="44" name="Rectangle 43"/>
          <p:cNvSpPr/>
          <p:nvPr/>
        </p:nvSpPr>
        <p:spPr>
          <a:xfrm>
            <a:off x="566928" y="5760720"/>
            <a:ext cx="2834640" cy="658368"/>
          </a:xfrm>
          <a:prstGeom prst="rect">
            <a:avLst/>
          </a:prstGeom>
          <a:solidFill>
            <a:srgbClr val="3D3D54"/>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 y="5760720"/>
            <a:ext cx="263347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1" i="0">
                <a:solidFill>
                  <a:srgbClr val="FFFFFF"/>
                </a:solidFill>
                <a:latin typeface="Calibri"/>
              </a:rPr>
              <a:t>API REST</a:t>
            </a:r>
          </a:p>
        </p:txBody>
      </p:sp>
      <p:sp>
        <p:nvSpPr>
          <p:cNvPr id="46" name="Rectangle 45"/>
          <p:cNvSpPr/>
          <p:nvPr/>
        </p:nvSpPr>
        <p:spPr>
          <a:xfrm>
            <a:off x="3401568" y="5760720"/>
            <a:ext cx="3840480" cy="65836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511296" y="5760720"/>
            <a:ext cx="363931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Tích hợp linh hoạt hai chiều</a:t>
            </a:r>
          </a:p>
        </p:txBody>
      </p:sp>
      <p:sp>
        <p:nvSpPr>
          <p:cNvPr id="48" name="Rectangle 47"/>
          <p:cNvSpPr/>
          <p:nvPr/>
        </p:nvSpPr>
        <p:spPr>
          <a:xfrm>
            <a:off x="7242048" y="5760720"/>
            <a:ext cx="4389120" cy="658368"/>
          </a:xfrm>
          <a:prstGeom prst="rect">
            <a:avLst/>
          </a:prstGeom>
          <a:solidFill>
            <a:srgbClr val="FFFFFF"/>
          </a:solidFill>
          <a:ln w="635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51775" y="5760720"/>
            <a:ext cx="4187952" cy="658368"/>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100" b="0" i="0">
                <a:solidFill>
                  <a:srgbClr val="1B1B2E"/>
                </a:solidFill>
                <a:latin typeface="Calibri"/>
              </a:rPr>
              <a:t>Hệ thống khác của OCH đọc/ghi dữ liệu</a:t>
            </a:r>
          </a:p>
        </p:txBody>
      </p:sp>
      <p:sp>
        <p:nvSpPr>
          <p:cNvPr id="50" name="TextBox 49"/>
          <p:cNvSpPr txBox="1"/>
          <p:nvPr/>
        </p:nvSpPr>
        <p:spPr>
          <a:xfrm>
            <a:off x="566928" y="6172200"/>
            <a:ext cx="10972800" cy="365760"/>
          </a:xfrm>
          <a:prstGeom prst="rect">
            <a:avLst/>
          </a:prstGeom>
          <a:noFill/>
        </p:spPr>
        <p:txBody>
          <a:bodyPr wrap="square" anchor="t" lIns="25400" rIns="25400" tIns="12700" bIns="12700">
            <a:spAutoFit/>
          </a:bodyPr>
          <a:lstStyle/>
          <a:p>
            <a:pPr algn="l">
              <a:lnSpc>
                <a:spcPct val="105000"/>
              </a:lnSpc>
              <a:spcBef>
                <a:spcPts val="0"/>
              </a:spcBef>
              <a:spcAft>
                <a:spcPts val="400"/>
              </a:spcAft>
            </a:pPr>
            <a:r>
              <a:rPr sz="1000" b="1" i="0">
                <a:solidFill>
                  <a:srgbClr val="2E2E40"/>
                </a:solidFill>
                <a:latin typeface="Calibri"/>
              </a:rPr>
              <a:t>Chú thích: </a:t>
            </a:r>
            <a:r>
              <a:rPr sz="1000" b="0" i="1">
                <a:solidFill>
                  <a:srgbClr val="565564"/>
                </a:solidFill>
                <a:latin typeface="Calibri"/>
              </a:rPr>
              <a:t>ETL/reverse-ETL = luồng đưa dữ liệu vào/ra kho; CDC = bắt thay đổi ở CSDL; Webhook = nguồn tự động “gọi” khi có sự kiện.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KỸ THUẬT · PIPELINE DỮ LIỆU</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ELT vs ETL — Cách tiếp cận của hệ thống</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44</a:t>
            </a:r>
          </a:p>
        </p:txBody>
      </p:sp>
      <p:sp>
        <p:nvSpPr>
          <p:cNvPr id="8" name="Rectangle 7"/>
          <p:cNvSpPr/>
          <p:nvPr/>
        </p:nvSpPr>
        <p:spPr>
          <a:xfrm>
            <a:off x="566928" y="1874519"/>
            <a:ext cx="5394960" cy="141732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64008" cy="1417320"/>
          </a:xfrm>
          <a:prstGeom prst="rect">
            <a:avLst/>
          </a:prstGeom>
          <a:solidFill>
            <a:srgbClr val="5655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39112"/>
            <a:ext cx="508406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ETL — Transform trước khi load</a:t>
            </a:r>
          </a:p>
        </p:txBody>
      </p:sp>
      <p:sp>
        <p:nvSpPr>
          <p:cNvPr id="11" name="TextBox 10"/>
          <p:cNvSpPr txBox="1"/>
          <p:nvPr/>
        </p:nvSpPr>
        <p:spPr>
          <a:xfrm>
            <a:off x="768096" y="2350008"/>
            <a:ext cx="5038344" cy="83210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Biến đổi dữ liệu TRƯỚC rồi mới nạp vào kho. Cứng nhắc, khó thay đổi khi cần phân tích mới.</a:t>
            </a:r>
          </a:p>
        </p:txBody>
      </p:sp>
      <p:sp>
        <p:nvSpPr>
          <p:cNvPr id="12" name="Rectangle 11"/>
          <p:cNvSpPr/>
          <p:nvPr/>
        </p:nvSpPr>
        <p:spPr>
          <a:xfrm>
            <a:off x="6236208" y="1874519"/>
            <a:ext cx="5394960" cy="141732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6208" y="1874519"/>
            <a:ext cx="64008" cy="1417320"/>
          </a:xfrm>
          <a:prstGeom prst="rect">
            <a:avLst/>
          </a:prstGeom>
          <a:solidFill>
            <a:srgbClr val="2F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039112"/>
            <a:ext cx="508406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2E2E40"/>
                </a:solidFill>
                <a:latin typeface="Calibri"/>
              </a:rPr>
              <a:t>ELT — Load thô trước, Transform sau</a:t>
            </a:r>
          </a:p>
        </p:txBody>
      </p:sp>
      <p:sp>
        <p:nvSpPr>
          <p:cNvPr id="15" name="TextBox 14"/>
          <p:cNvSpPr txBox="1"/>
          <p:nvPr/>
        </p:nvSpPr>
        <p:spPr>
          <a:xfrm>
            <a:off x="6437376" y="2350008"/>
            <a:ext cx="5038344" cy="83210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50" b="0" i="0">
                <a:solidFill>
                  <a:srgbClr val="565564"/>
                </a:solidFill>
                <a:latin typeface="Calibri"/>
              </a:rPr>
              <a:t>Nạp dữ liệu THÔ về kho trước, rồi chuẩn hoá &amp; tính toán trong kho. Linh hoạt, giữ được dữ liệu gốc.</a:t>
            </a:r>
          </a:p>
        </p:txBody>
      </p:sp>
      <p:sp>
        <p:nvSpPr>
          <p:cNvPr id="16" name="TextBox 15"/>
          <p:cNvSpPr txBox="1"/>
          <p:nvPr/>
        </p:nvSpPr>
        <p:spPr>
          <a:xfrm>
            <a:off x="566928" y="3520440"/>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Hệ thống OCH dùng hướng ELT + streaming ingestion:</a:t>
            </a:r>
          </a:p>
        </p:txBody>
      </p:sp>
      <p:sp>
        <p:nvSpPr>
          <p:cNvPr id="17" name="Rectangle 16"/>
          <p:cNvSpPr/>
          <p:nvPr/>
        </p:nvSpPr>
        <p:spPr>
          <a:xfrm>
            <a:off x="566928" y="4069080"/>
            <a:ext cx="2423160" cy="14173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069080"/>
            <a:ext cx="242316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4197096"/>
            <a:ext cx="2203704"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FFFFFF"/>
                </a:solidFill>
                <a:latin typeface="Calibri"/>
              </a:rPr>
              <a:t>Extract</a:t>
            </a:r>
          </a:p>
        </p:txBody>
      </p:sp>
      <p:sp>
        <p:nvSpPr>
          <p:cNvPr id="20" name="TextBox 19"/>
          <p:cNvSpPr txBox="1"/>
          <p:nvPr/>
        </p:nvSpPr>
        <p:spPr>
          <a:xfrm>
            <a:off x="676656" y="4636008"/>
            <a:ext cx="2203704" cy="77724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00" b="0" i="0">
                <a:solidFill>
                  <a:srgbClr val="D8D6E0"/>
                </a:solidFill>
                <a:latin typeface="Calibri"/>
              </a:rPr>
              <a:t>Trích xuất từ POS, PMS, web/app, form</a:t>
            </a:r>
          </a:p>
        </p:txBody>
      </p:sp>
      <p:sp>
        <p:nvSpPr>
          <p:cNvPr id="21" name="Right Arrow 20"/>
          <p:cNvSpPr/>
          <p:nvPr/>
        </p:nvSpPr>
        <p:spPr>
          <a:xfrm>
            <a:off x="3035808" y="4613148"/>
            <a:ext cx="365760" cy="329184"/>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47288" y="4069080"/>
            <a:ext cx="2423160" cy="1417320"/>
          </a:xfrm>
          <a:prstGeom prst="rect">
            <a:avLst/>
          </a:prstGeom>
          <a:solidFill>
            <a:srgbClr val="3D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47288" y="4069080"/>
            <a:ext cx="242316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57016" y="4197096"/>
            <a:ext cx="2203704"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FFFFFF"/>
                </a:solidFill>
                <a:latin typeface="Calibri"/>
              </a:rPr>
              <a:t>Load (raw)</a:t>
            </a:r>
          </a:p>
        </p:txBody>
      </p:sp>
      <p:sp>
        <p:nvSpPr>
          <p:cNvPr id="25" name="TextBox 24"/>
          <p:cNvSpPr txBox="1"/>
          <p:nvPr/>
        </p:nvSpPr>
        <p:spPr>
          <a:xfrm>
            <a:off x="3557016" y="4636008"/>
            <a:ext cx="2203704" cy="77724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00" b="0" i="0">
                <a:solidFill>
                  <a:srgbClr val="D8D6E0"/>
                </a:solidFill>
                <a:latin typeface="Calibri"/>
              </a:rPr>
              <a:t>Nạp dữ liệu THÔ về hệ thống (PostgreSQL / MinIO)</a:t>
            </a:r>
          </a:p>
        </p:txBody>
      </p:sp>
      <p:sp>
        <p:nvSpPr>
          <p:cNvPr id="26" name="Right Arrow 25"/>
          <p:cNvSpPr/>
          <p:nvPr/>
        </p:nvSpPr>
        <p:spPr>
          <a:xfrm>
            <a:off x="5916168" y="4613148"/>
            <a:ext cx="365760" cy="329184"/>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27648" y="4069080"/>
            <a:ext cx="2423160" cy="14173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27648" y="4069080"/>
            <a:ext cx="242316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4197096"/>
            <a:ext cx="2203704"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FFFFFF"/>
                </a:solidFill>
                <a:latin typeface="Calibri"/>
              </a:rPr>
              <a:t>Transform</a:t>
            </a:r>
          </a:p>
        </p:txBody>
      </p:sp>
      <p:sp>
        <p:nvSpPr>
          <p:cNvPr id="30" name="TextBox 29"/>
          <p:cNvSpPr txBox="1"/>
          <p:nvPr/>
        </p:nvSpPr>
        <p:spPr>
          <a:xfrm>
            <a:off x="6437376" y="4636008"/>
            <a:ext cx="2203704" cy="77724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00" b="0" i="0">
                <a:solidFill>
                  <a:srgbClr val="D8D6E0"/>
                </a:solidFill>
                <a:latin typeface="Calibri"/>
              </a:rPr>
              <a:t>Chuẩn hoá thành canonical model + đặc trưng (feature)</a:t>
            </a:r>
          </a:p>
        </p:txBody>
      </p:sp>
      <p:sp>
        <p:nvSpPr>
          <p:cNvPr id="31" name="Right Arrow 30"/>
          <p:cNvSpPr/>
          <p:nvPr/>
        </p:nvSpPr>
        <p:spPr>
          <a:xfrm>
            <a:off x="8796528" y="4613148"/>
            <a:ext cx="365760" cy="329184"/>
          </a:xfrm>
          <a:prstGeom prst="rightArrow">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08007" y="4069080"/>
            <a:ext cx="2423160" cy="1417320"/>
          </a:xfrm>
          <a:prstGeom prst="rect">
            <a:avLst/>
          </a:prstGeom>
          <a:solidFill>
            <a:srgbClr val="3D3D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208007" y="4069080"/>
            <a:ext cx="2423160" cy="54864"/>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17735" y="4197096"/>
            <a:ext cx="2203704" cy="457200"/>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250" b="1" i="0">
                <a:solidFill>
                  <a:srgbClr val="FFFFFF"/>
                </a:solidFill>
                <a:latin typeface="Calibri"/>
              </a:rPr>
              <a:t>Serve</a:t>
            </a:r>
          </a:p>
        </p:txBody>
      </p:sp>
      <p:sp>
        <p:nvSpPr>
          <p:cNvPr id="35" name="TextBox 34"/>
          <p:cNvSpPr txBox="1"/>
          <p:nvPr/>
        </p:nvSpPr>
        <p:spPr>
          <a:xfrm>
            <a:off x="9317735" y="4636008"/>
            <a:ext cx="2203704" cy="77724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000" b="0" i="0">
                <a:solidFill>
                  <a:srgbClr val="D8D6E0"/>
                </a:solidFill>
                <a:latin typeface="Calibri"/>
              </a:rPr>
              <a:t>Phục vụ phân tích trong ClickHouse + Profile API</a:t>
            </a:r>
          </a:p>
        </p:txBody>
      </p:sp>
      <p:sp>
        <p:nvSpPr>
          <p:cNvPr id="36" name="TextBox 35"/>
          <p:cNvSpPr txBox="1"/>
          <p:nvPr/>
        </p:nvSpPr>
        <p:spPr>
          <a:xfrm>
            <a:off x="566928" y="5760720"/>
            <a:ext cx="10972800" cy="548640"/>
          </a:xfrm>
          <a:prstGeom prst="rect">
            <a:avLst/>
          </a:prstGeom>
          <a:noFill/>
        </p:spPr>
        <p:txBody>
          <a:bodyPr wrap="square" anchor="t" lIns="25400" rIns="25400" tIns="12700" bIns="12700">
            <a:spAutoFit/>
          </a:bodyPr>
          <a:lstStyle/>
          <a:p>
            <a:pPr algn="l">
              <a:lnSpc>
                <a:spcPct val="105000"/>
              </a:lnSpc>
              <a:spcBef>
                <a:spcPts val="0"/>
              </a:spcBef>
              <a:spcAft>
                <a:spcPts val="400"/>
              </a:spcAft>
            </a:pPr>
            <a:r>
              <a:rPr sz="1150" b="1" i="0">
                <a:solidFill>
                  <a:srgbClr val="2E2E40"/>
                </a:solidFill>
                <a:latin typeface="Calibri"/>
              </a:rPr>
              <a:t>Kết quả: </a:t>
            </a:r>
            <a:r>
              <a:rPr sz="1150" b="0" i="0">
                <a:solidFill>
                  <a:srgbClr val="1B1B2E"/>
                </a:solidFill>
                <a:latin typeface="Calibri"/>
              </a:rPr>
              <a:t>nạp thô nhanh (không mất dữ liệu gốc), chuẩn hoá thành mô hình chuẩn để phân tích cột (OLAP) trong ClickHouse. Công cụ transform như dbt có thể bổ sung khi mở rộng.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KỸ THUẬT · THÀNH PHẦN &amp; LÝ DO CHỌN</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Ngăn xếp công nghệ (Tech stack)</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45</a:t>
            </a:r>
          </a:p>
        </p:txBody>
      </p:sp>
      <p:sp>
        <p:nvSpPr>
          <p:cNvPr id="8" name="Rectangle 7"/>
          <p:cNvSpPr/>
          <p:nvPr/>
        </p:nvSpPr>
        <p:spPr>
          <a:xfrm>
            <a:off x="566928" y="1874519"/>
            <a:ext cx="11064240" cy="493776"/>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82296" cy="49377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28346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50" b="1" i="0">
                <a:solidFill>
                  <a:srgbClr val="2E2E40"/>
                </a:solidFill>
                <a:latin typeface="Calibri"/>
              </a:rPr>
              <a:t>RudderStack OSS</a:t>
            </a:r>
          </a:p>
        </p:txBody>
      </p:sp>
      <p:sp>
        <p:nvSpPr>
          <p:cNvPr id="11" name="TextBox 10"/>
          <p:cNvSpPr txBox="1"/>
          <p:nvPr/>
        </p:nvSpPr>
        <p:spPr>
          <a:xfrm>
            <a:off x="3703320" y="1874519"/>
            <a:ext cx="42062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00" b="0" i="0">
                <a:solidFill>
                  <a:srgbClr val="1B1B2E"/>
                </a:solidFill>
                <a:latin typeface="Calibri"/>
              </a:rPr>
              <a:t>Ingestion · routing · reverse-ETL</a:t>
            </a:r>
          </a:p>
        </p:txBody>
      </p:sp>
      <p:sp>
        <p:nvSpPr>
          <p:cNvPr id="12" name="TextBox 11"/>
          <p:cNvSpPr txBox="1"/>
          <p:nvPr/>
        </p:nvSpPr>
        <p:spPr>
          <a:xfrm>
            <a:off x="8001000" y="1874519"/>
            <a:ext cx="3520440" cy="493776"/>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1">
                <a:solidFill>
                  <a:srgbClr val="565564"/>
                </a:solidFill>
                <a:latin typeface="Calibri"/>
              </a:rPr>
              <a:t>Mã nguồn mở, tương thích Segment</a:t>
            </a:r>
          </a:p>
        </p:txBody>
      </p:sp>
      <p:sp>
        <p:nvSpPr>
          <p:cNvPr id="13" name="Rectangle 12"/>
          <p:cNvSpPr/>
          <p:nvPr/>
        </p:nvSpPr>
        <p:spPr>
          <a:xfrm>
            <a:off x="566928" y="2441448"/>
            <a:ext cx="11064240" cy="493776"/>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41448"/>
            <a:ext cx="82296" cy="49377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441448"/>
            <a:ext cx="28346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50" b="1" i="0">
                <a:solidFill>
                  <a:srgbClr val="2E2E40"/>
                </a:solidFill>
                <a:latin typeface="Calibri"/>
              </a:rPr>
              <a:t>NestJS (core-api)</a:t>
            </a:r>
          </a:p>
        </p:txBody>
      </p:sp>
      <p:sp>
        <p:nvSpPr>
          <p:cNvPr id="16" name="TextBox 15"/>
          <p:cNvSpPr txBox="1"/>
          <p:nvPr/>
        </p:nvSpPr>
        <p:spPr>
          <a:xfrm>
            <a:off x="3703320" y="2441448"/>
            <a:ext cx="42062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00" b="0" i="0">
                <a:solidFill>
                  <a:srgbClr val="1B1B2E"/>
                </a:solidFill>
                <a:latin typeface="Calibri"/>
              </a:rPr>
              <a:t>API nghiệp vụ trong 1 giao dịch ACID</a:t>
            </a:r>
          </a:p>
        </p:txBody>
      </p:sp>
      <p:sp>
        <p:nvSpPr>
          <p:cNvPr id="17" name="TextBox 16"/>
          <p:cNvSpPr txBox="1"/>
          <p:nvPr/>
        </p:nvSpPr>
        <p:spPr>
          <a:xfrm>
            <a:off x="8001000" y="2441448"/>
            <a:ext cx="3520440" cy="493776"/>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1">
                <a:solidFill>
                  <a:srgbClr val="565564"/>
                </a:solidFill>
                <a:latin typeface="Calibri"/>
              </a:rPr>
              <a:t>Gom identity+loyalty+consent+ingestion</a:t>
            </a:r>
          </a:p>
        </p:txBody>
      </p:sp>
      <p:sp>
        <p:nvSpPr>
          <p:cNvPr id="18" name="Rectangle 17"/>
          <p:cNvSpPr/>
          <p:nvPr/>
        </p:nvSpPr>
        <p:spPr>
          <a:xfrm>
            <a:off x="566928" y="3008376"/>
            <a:ext cx="11064240" cy="493776"/>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008376"/>
            <a:ext cx="82296" cy="49377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08376"/>
            <a:ext cx="28346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50" b="1" i="0">
                <a:solidFill>
                  <a:srgbClr val="2E2E40"/>
                </a:solidFill>
                <a:latin typeface="Calibri"/>
              </a:rPr>
              <a:t>PostgreSQL 18</a:t>
            </a:r>
          </a:p>
        </p:txBody>
      </p:sp>
      <p:sp>
        <p:nvSpPr>
          <p:cNvPr id="21" name="TextBox 20"/>
          <p:cNvSpPr txBox="1"/>
          <p:nvPr/>
        </p:nvSpPr>
        <p:spPr>
          <a:xfrm>
            <a:off x="3703320" y="3008376"/>
            <a:ext cx="42062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00" b="0" i="0">
                <a:solidFill>
                  <a:srgbClr val="1B1B2E"/>
                </a:solidFill>
                <a:latin typeface="Calibri"/>
              </a:rPr>
              <a:t>System of record (nguồn sự thật)</a:t>
            </a:r>
          </a:p>
        </p:txBody>
      </p:sp>
      <p:sp>
        <p:nvSpPr>
          <p:cNvPr id="22" name="TextBox 21"/>
          <p:cNvSpPr txBox="1"/>
          <p:nvPr/>
        </p:nvSpPr>
        <p:spPr>
          <a:xfrm>
            <a:off x="8001000" y="3008376"/>
            <a:ext cx="3520440" cy="493776"/>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1">
                <a:solidFill>
                  <a:srgbClr val="565564"/>
                </a:solidFill>
                <a:latin typeface="Calibri"/>
              </a:rPr>
              <a:t>ACID — đúng tiền, đúng danh tính</a:t>
            </a:r>
          </a:p>
        </p:txBody>
      </p:sp>
      <p:sp>
        <p:nvSpPr>
          <p:cNvPr id="23" name="Rectangle 22"/>
          <p:cNvSpPr/>
          <p:nvPr/>
        </p:nvSpPr>
        <p:spPr>
          <a:xfrm>
            <a:off x="566928" y="3575303"/>
            <a:ext cx="11064240" cy="493776"/>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75303"/>
            <a:ext cx="82296" cy="49377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575303"/>
            <a:ext cx="28346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50" b="1" i="0">
                <a:solidFill>
                  <a:srgbClr val="2E2E40"/>
                </a:solidFill>
                <a:latin typeface="Calibri"/>
              </a:rPr>
              <a:t>ClickHouse</a:t>
            </a:r>
          </a:p>
        </p:txBody>
      </p:sp>
      <p:sp>
        <p:nvSpPr>
          <p:cNvPr id="26" name="TextBox 25"/>
          <p:cNvSpPr txBox="1"/>
          <p:nvPr/>
        </p:nvSpPr>
        <p:spPr>
          <a:xfrm>
            <a:off x="3703320" y="3575303"/>
            <a:ext cx="42062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00" b="0" i="0">
                <a:solidFill>
                  <a:srgbClr val="1B1B2E"/>
                </a:solidFill>
                <a:latin typeface="Calibri"/>
              </a:rPr>
              <a:t>OLAP — phân tích cột tốc độ cao</a:t>
            </a:r>
          </a:p>
        </p:txBody>
      </p:sp>
      <p:sp>
        <p:nvSpPr>
          <p:cNvPr id="27" name="TextBox 26"/>
          <p:cNvSpPr txBox="1"/>
          <p:nvPr/>
        </p:nvSpPr>
        <p:spPr>
          <a:xfrm>
            <a:off x="8001000" y="3575303"/>
            <a:ext cx="3520440" cy="493776"/>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1">
                <a:solidFill>
                  <a:srgbClr val="565564"/>
                </a:solidFill>
                <a:latin typeface="Calibri"/>
              </a:rPr>
              <a:t>Báo cáo &amp; phân tích khối lượng lớn</a:t>
            </a:r>
          </a:p>
        </p:txBody>
      </p:sp>
      <p:sp>
        <p:nvSpPr>
          <p:cNvPr id="28" name="Rectangle 27"/>
          <p:cNvSpPr/>
          <p:nvPr/>
        </p:nvSpPr>
        <p:spPr>
          <a:xfrm>
            <a:off x="566928" y="4142231"/>
            <a:ext cx="11064240" cy="493776"/>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4142231"/>
            <a:ext cx="82296" cy="49377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142231"/>
            <a:ext cx="28346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50" b="1" i="0">
                <a:solidFill>
                  <a:srgbClr val="2E2E40"/>
                </a:solidFill>
                <a:latin typeface="Calibri"/>
              </a:rPr>
              <a:t>Redis</a:t>
            </a:r>
          </a:p>
        </p:txBody>
      </p:sp>
      <p:sp>
        <p:nvSpPr>
          <p:cNvPr id="31" name="TextBox 30"/>
          <p:cNvSpPr txBox="1"/>
          <p:nvPr/>
        </p:nvSpPr>
        <p:spPr>
          <a:xfrm>
            <a:off x="3703320" y="4142231"/>
            <a:ext cx="42062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00" b="0" i="0">
                <a:solidFill>
                  <a:srgbClr val="1B1B2E"/>
                </a:solidFill>
                <a:latin typeface="Calibri"/>
              </a:rPr>
              <a:t>Cache (Profile API)</a:t>
            </a:r>
          </a:p>
        </p:txBody>
      </p:sp>
      <p:sp>
        <p:nvSpPr>
          <p:cNvPr id="32" name="TextBox 31"/>
          <p:cNvSpPr txBox="1"/>
          <p:nvPr/>
        </p:nvSpPr>
        <p:spPr>
          <a:xfrm>
            <a:off x="8001000" y="4142231"/>
            <a:ext cx="3520440" cy="493776"/>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1">
                <a:solidFill>
                  <a:srgbClr val="565564"/>
                </a:solidFill>
                <a:latin typeface="Calibri"/>
              </a:rPr>
              <a:t>Tra cứu hồ sơ 360° tức thời</a:t>
            </a:r>
          </a:p>
        </p:txBody>
      </p:sp>
      <p:sp>
        <p:nvSpPr>
          <p:cNvPr id="33" name="Rectangle 32"/>
          <p:cNvSpPr/>
          <p:nvPr/>
        </p:nvSpPr>
        <p:spPr>
          <a:xfrm>
            <a:off x="566928" y="4709160"/>
            <a:ext cx="11064240" cy="493776"/>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709160"/>
            <a:ext cx="82296" cy="49377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709160"/>
            <a:ext cx="28346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50" b="1" i="0">
                <a:solidFill>
                  <a:srgbClr val="2E2E40"/>
                </a:solidFill>
                <a:latin typeface="Calibri"/>
              </a:rPr>
              <a:t>MinIO</a:t>
            </a:r>
          </a:p>
        </p:txBody>
      </p:sp>
      <p:sp>
        <p:nvSpPr>
          <p:cNvPr id="36" name="TextBox 35"/>
          <p:cNvSpPr txBox="1"/>
          <p:nvPr/>
        </p:nvSpPr>
        <p:spPr>
          <a:xfrm>
            <a:off x="3703320" y="4709160"/>
            <a:ext cx="42062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00" b="0" i="0">
                <a:solidFill>
                  <a:srgbClr val="1B1B2E"/>
                </a:solidFill>
                <a:latin typeface="Calibri"/>
              </a:rPr>
              <a:t>Object storage</a:t>
            </a:r>
          </a:p>
        </p:txBody>
      </p:sp>
      <p:sp>
        <p:nvSpPr>
          <p:cNvPr id="37" name="TextBox 36"/>
          <p:cNvSpPr txBox="1"/>
          <p:nvPr/>
        </p:nvSpPr>
        <p:spPr>
          <a:xfrm>
            <a:off x="8001000" y="4709160"/>
            <a:ext cx="3520440" cy="493776"/>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1">
                <a:solidFill>
                  <a:srgbClr val="565564"/>
                </a:solidFill>
                <a:latin typeface="Calibri"/>
              </a:rPr>
              <a:t>Lưu file/tài nguyên tương thích S3</a:t>
            </a:r>
          </a:p>
        </p:txBody>
      </p:sp>
      <p:sp>
        <p:nvSpPr>
          <p:cNvPr id="38" name="Rectangle 37"/>
          <p:cNvSpPr/>
          <p:nvPr/>
        </p:nvSpPr>
        <p:spPr>
          <a:xfrm>
            <a:off x="566928" y="5276088"/>
            <a:ext cx="11064240" cy="493776"/>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276088"/>
            <a:ext cx="82296" cy="493776"/>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276088"/>
            <a:ext cx="28346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50" b="1" i="0">
                <a:solidFill>
                  <a:srgbClr val="2E2E40"/>
                </a:solidFill>
                <a:latin typeface="Calibri"/>
              </a:rPr>
              <a:t>Docker</a:t>
            </a:r>
          </a:p>
        </p:txBody>
      </p:sp>
      <p:sp>
        <p:nvSpPr>
          <p:cNvPr id="41" name="TextBox 40"/>
          <p:cNvSpPr txBox="1"/>
          <p:nvPr/>
        </p:nvSpPr>
        <p:spPr>
          <a:xfrm>
            <a:off x="3703320" y="5276088"/>
            <a:ext cx="4206240" cy="493776"/>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100" b="0" i="0">
                <a:solidFill>
                  <a:srgbClr val="1B1B2E"/>
                </a:solidFill>
                <a:latin typeface="Calibri"/>
              </a:rPr>
              <a:t>Đóng gói &amp; self-host</a:t>
            </a:r>
          </a:p>
        </p:txBody>
      </p:sp>
      <p:sp>
        <p:nvSpPr>
          <p:cNvPr id="42" name="TextBox 41"/>
          <p:cNvSpPr txBox="1"/>
          <p:nvPr/>
        </p:nvSpPr>
        <p:spPr>
          <a:xfrm>
            <a:off x="8001000" y="5276088"/>
            <a:ext cx="3520440" cy="493776"/>
          </a:xfrm>
          <a:prstGeom prst="rect">
            <a:avLst/>
          </a:prstGeom>
          <a:noFill/>
        </p:spPr>
        <p:txBody>
          <a:bodyPr wrap="square" anchor="ctr" lIns="25400" rIns="25400" tIns="12700" bIns="12700">
            <a:spAutoFit/>
          </a:bodyPr>
          <a:lstStyle/>
          <a:p>
            <a:pPr algn="l">
              <a:lnSpc>
                <a:spcPct val="95000"/>
              </a:lnSpc>
              <a:spcBef>
                <a:spcPts val="0"/>
              </a:spcBef>
              <a:spcAft>
                <a:spcPts val="400"/>
              </a:spcAft>
            </a:pPr>
            <a:r>
              <a:rPr sz="1050" b="0" i="1">
                <a:solidFill>
                  <a:srgbClr val="565564"/>
                </a:solidFill>
                <a:latin typeface="Calibri"/>
              </a:rPr>
              <a:t>Triển khai nhất quán tại hạ tầng OCH</a:t>
            </a:r>
          </a:p>
        </p:txBody>
      </p:sp>
      <p:sp>
        <p:nvSpPr>
          <p:cNvPr id="43" name="Rectangle 42"/>
          <p:cNvSpPr/>
          <p:nvPr/>
        </p:nvSpPr>
        <p:spPr>
          <a:xfrm>
            <a:off x="566928" y="5989320"/>
            <a:ext cx="11064240" cy="502920"/>
          </a:xfrm>
          <a:prstGeom prst="rect">
            <a:avLst/>
          </a:prstGeom>
          <a:solidFill>
            <a:srgbClr val="2E2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989320"/>
            <a:ext cx="10607040" cy="50292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1200" b="1" i="0">
                <a:solidFill>
                  <a:srgbClr val="FFFFFF"/>
                </a:solidFill>
                <a:latin typeface="Calibri"/>
              </a:rPr>
              <a:t>Tất cả đều MÃ NGUỒN MỞ, self-host tại Việt Nam → </a:t>
            </a:r>
            <a:r>
              <a:rPr sz="1200" b="0" i="0">
                <a:solidFill>
                  <a:srgbClr val="E7DDC8"/>
                </a:solidFill>
                <a:latin typeface="Calibri"/>
              </a:rPr>
              <a:t>chủ quyền dữ liệu, không lệ thuộc cloud nước ngoài, chi phí license tối thiểu.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PHỤ LỤC KỸ THUẬT · GIAO THỨC &amp; AN TOÀN</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Chuẩn kết nối &amp; bảo mật tích hợp</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46</a:t>
            </a:r>
          </a:p>
        </p:txBody>
      </p:sp>
      <p:sp>
        <p:nvSpPr>
          <p:cNvPr id="8" name="Rectangle 7"/>
          <p:cNvSpPr/>
          <p:nvPr/>
        </p:nvSpPr>
        <p:spPr>
          <a:xfrm>
            <a:off x="566928" y="1874519"/>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3911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1" name="TextBox 10"/>
          <p:cNvSpPr txBox="1"/>
          <p:nvPr/>
        </p:nvSpPr>
        <p:spPr>
          <a:xfrm>
            <a:off x="768096" y="249631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REST/HTTP API + SDK</a:t>
            </a:r>
          </a:p>
        </p:txBody>
      </p:sp>
      <p:sp>
        <p:nvSpPr>
          <p:cNvPr id="12" name="TextBox 11"/>
          <p:cNvSpPr txBox="1"/>
          <p:nvPr/>
        </p:nvSpPr>
        <p:spPr>
          <a:xfrm>
            <a:off x="768096" y="280720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Kết nối chuẩn cho web, app, server — dễ tích hợp mọi hệ thống.</a:t>
            </a:r>
          </a:p>
        </p:txBody>
      </p:sp>
      <p:sp>
        <p:nvSpPr>
          <p:cNvPr id="13" name="Rectangle 12"/>
          <p:cNvSpPr/>
          <p:nvPr/>
        </p:nvSpPr>
        <p:spPr>
          <a:xfrm>
            <a:off x="4270248" y="1874519"/>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874519"/>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203911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16" name="TextBox 15"/>
          <p:cNvSpPr txBox="1"/>
          <p:nvPr/>
        </p:nvSpPr>
        <p:spPr>
          <a:xfrm>
            <a:off x="4471416" y="249631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Webhook</a:t>
            </a:r>
          </a:p>
        </p:txBody>
      </p:sp>
      <p:sp>
        <p:nvSpPr>
          <p:cNvPr id="17" name="TextBox 16"/>
          <p:cNvSpPr txBox="1"/>
          <p:nvPr/>
        </p:nvSpPr>
        <p:spPr>
          <a:xfrm>
            <a:off x="4471416" y="280720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Nguồn chủ động “gọi” hệ thống khi có sự kiện — realtime, ít độ trễ.</a:t>
            </a:r>
          </a:p>
        </p:txBody>
      </p:sp>
      <p:sp>
        <p:nvSpPr>
          <p:cNvPr id="18" name="Rectangle 17"/>
          <p:cNvSpPr/>
          <p:nvPr/>
        </p:nvSpPr>
        <p:spPr>
          <a:xfrm>
            <a:off x="7973567" y="1874519"/>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7" y="1874519"/>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203911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1" name="TextBox 20"/>
          <p:cNvSpPr txBox="1"/>
          <p:nvPr/>
        </p:nvSpPr>
        <p:spPr>
          <a:xfrm>
            <a:off x="8174736" y="249631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API key theo vai trò (RBAC)</a:t>
            </a:r>
          </a:p>
        </p:txBody>
      </p:sp>
      <p:sp>
        <p:nvSpPr>
          <p:cNvPr id="22" name="TextBox 21"/>
          <p:cNvSpPr txBox="1"/>
          <p:nvPr/>
        </p:nvSpPr>
        <p:spPr>
          <a:xfrm>
            <a:off x="8174736" y="280720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Mỗi kết nối có khoá riêng, quyền hạn theo vai trò — kiểm soát chặt ai làm gì.</a:t>
            </a:r>
          </a:p>
        </p:txBody>
      </p:sp>
      <p:sp>
        <p:nvSpPr>
          <p:cNvPr id="23" name="Rectangle 22"/>
          <p:cNvSpPr/>
          <p:nvPr/>
        </p:nvSpPr>
        <p:spPr>
          <a:xfrm>
            <a:off x="566928" y="402336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0233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1879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26" name="TextBox 25"/>
          <p:cNvSpPr txBox="1"/>
          <p:nvPr/>
        </p:nvSpPr>
        <p:spPr>
          <a:xfrm>
            <a:off x="768096" y="46451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Cổng consent (deny-by-default)</a:t>
            </a:r>
          </a:p>
        </p:txBody>
      </p:sp>
      <p:sp>
        <p:nvSpPr>
          <p:cNvPr id="27" name="TextBox 26"/>
          <p:cNvSpPr txBox="1"/>
          <p:nvPr/>
        </p:nvSpPr>
        <p:spPr>
          <a:xfrm>
            <a:off x="768096" y="495604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Ở khâu kích hoạt: chưa đồng ý thì KHÔNG gửi — mặc định an toàn.</a:t>
            </a:r>
          </a:p>
        </p:txBody>
      </p:sp>
      <p:sp>
        <p:nvSpPr>
          <p:cNvPr id="28" name="Rectangle 27"/>
          <p:cNvSpPr/>
          <p:nvPr/>
        </p:nvSpPr>
        <p:spPr>
          <a:xfrm>
            <a:off x="4270248" y="402336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70248" y="40233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71416" y="41879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1" name="TextBox 30"/>
          <p:cNvSpPr txBox="1"/>
          <p:nvPr/>
        </p:nvSpPr>
        <p:spPr>
          <a:xfrm>
            <a:off x="4471416" y="46451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Idempotency chống trùng</a:t>
            </a:r>
          </a:p>
        </p:txBody>
      </p:sp>
      <p:sp>
        <p:nvSpPr>
          <p:cNvPr id="32" name="TextBox 31"/>
          <p:cNvSpPr txBox="1"/>
          <p:nvPr/>
        </p:nvSpPr>
        <p:spPr>
          <a:xfrm>
            <a:off x="4471416" y="495604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Khoá giao dịch duy nhất — gửi lại nhiều lần chỉ ghi nhận một lần.</a:t>
            </a:r>
          </a:p>
        </p:txBody>
      </p:sp>
      <p:sp>
        <p:nvSpPr>
          <p:cNvPr id="33" name="Rectangle 32"/>
          <p:cNvSpPr/>
          <p:nvPr/>
        </p:nvSpPr>
        <p:spPr>
          <a:xfrm>
            <a:off x="7973567" y="4023360"/>
            <a:ext cx="3474720" cy="1920240"/>
          </a:xfrm>
          <a:prstGeom prst="rect">
            <a:avLst/>
          </a:prstGeom>
          <a:solidFill>
            <a:srgbClr val="FFFFFF"/>
          </a:solidFill>
          <a:ln w="12700">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73567" y="4023360"/>
            <a:ext cx="64008" cy="1920240"/>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74736" y="4187952"/>
            <a:ext cx="3273551"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2000" b="0" i="0">
                <a:solidFill>
                  <a:srgbClr val="C39851"/>
                </a:solidFill>
                <a:latin typeface="Calibri"/>
              </a:rPr>
              <a:t>🇻🇳</a:t>
            </a:r>
          </a:p>
        </p:txBody>
      </p:sp>
      <p:sp>
        <p:nvSpPr>
          <p:cNvPr id="36" name="TextBox 35"/>
          <p:cNvSpPr txBox="1"/>
          <p:nvPr/>
        </p:nvSpPr>
        <p:spPr>
          <a:xfrm>
            <a:off x="8174736" y="4645152"/>
            <a:ext cx="3163824"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1" i="0">
                <a:solidFill>
                  <a:srgbClr val="2E2E40"/>
                </a:solidFill>
                <a:latin typeface="Calibri"/>
              </a:rPr>
              <a:t>Residency dữ liệu tại VN</a:t>
            </a:r>
          </a:p>
        </p:txBody>
      </p:sp>
      <p:sp>
        <p:nvSpPr>
          <p:cNvPr id="37" name="TextBox 36"/>
          <p:cNvSpPr txBox="1"/>
          <p:nvPr/>
        </p:nvSpPr>
        <p:spPr>
          <a:xfrm>
            <a:off x="8174736" y="4956048"/>
            <a:ext cx="3118103" cy="877824"/>
          </a:xfrm>
          <a:prstGeom prst="rect">
            <a:avLst/>
          </a:prstGeom>
          <a:noFill/>
        </p:spPr>
        <p:txBody>
          <a:bodyPr wrap="square" anchor="t" lIns="25400" rIns="25400" tIns="12700" bIns="12700">
            <a:spAutoFit/>
          </a:bodyPr>
          <a:lstStyle/>
          <a:p>
            <a:pPr algn="l">
              <a:lnSpc>
                <a:spcPct val="105000"/>
              </a:lnSpc>
              <a:spcBef>
                <a:spcPts val="0"/>
              </a:spcBef>
              <a:spcAft>
                <a:spcPts val="300"/>
              </a:spcAft>
            </a:pPr>
            <a:r>
              <a:rPr sz="1100" b="0" i="0">
                <a:solidFill>
                  <a:srgbClr val="565564"/>
                </a:solidFill>
                <a:latin typeface="Calibri"/>
              </a:rPr>
              <a:t>Dữ liệu lưu &amp; xử lý trong nước — chủ quyền và tuân thủ pháp lý.</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423" cy="6967728"/>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515600" cy="27432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100" b="1" i="0">
                <a:solidFill>
                  <a:srgbClr val="C39851"/>
                </a:solidFill>
                <a:latin typeface="Calibri"/>
              </a:rPr>
              <a:t>TRÍCH DẪN ĐẦY ĐỦ · MINH BẠCH</a:t>
            </a:r>
          </a:p>
        </p:txBody>
      </p:sp>
      <p:sp>
        <p:nvSpPr>
          <p:cNvPr id="4" name="TextBox 3"/>
          <p:cNvSpPr txBox="1"/>
          <p:nvPr/>
        </p:nvSpPr>
        <p:spPr>
          <a:xfrm>
            <a:off x="548640" y="658368"/>
            <a:ext cx="11064240" cy="68580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700" b="1" i="0">
                <a:solidFill>
                  <a:srgbClr val="2E2E40"/>
                </a:solidFill>
                <a:latin typeface="Georgia"/>
              </a:rPr>
              <a:t>Nguồn tham khảo</a:t>
            </a:r>
          </a:p>
        </p:txBody>
      </p:sp>
      <p:sp>
        <p:nvSpPr>
          <p:cNvPr id="5" name="Rectangle 4"/>
          <p:cNvSpPr/>
          <p:nvPr/>
        </p:nvSpPr>
        <p:spPr>
          <a:xfrm>
            <a:off x="576072" y="1371600"/>
            <a:ext cx="1051560" cy="50292"/>
          </a:xfrm>
          <a:prstGeom prst="rect">
            <a:avLst/>
          </a:prstGeom>
          <a:solidFill>
            <a:srgbClr val="C398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8686800" cy="3200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900" b="1" i="0">
                <a:solidFill>
                  <a:srgbClr val="565564"/>
                </a:solidFill>
                <a:latin typeface="Calibri"/>
              </a:rPr>
              <a:t>OCH · Customer Data Platform</a:t>
            </a:r>
            <a:r>
              <a:rPr sz="900" b="0" i="0">
                <a:solidFill>
                  <a:srgbClr val="565564"/>
                </a:solidFill>
                <a:latin typeface="Calibri"/>
              </a:rPr>
              <a:t>  —  Phát triển bởi AIPOWER</a:t>
            </a:r>
          </a:p>
        </p:txBody>
      </p:sp>
      <p:sp>
        <p:nvSpPr>
          <p:cNvPr id="7" name="TextBox 6"/>
          <p:cNvSpPr txBox="1"/>
          <p:nvPr/>
        </p:nvSpPr>
        <p:spPr>
          <a:xfrm>
            <a:off x="10789920" y="6473952"/>
            <a:ext cx="914400" cy="320040"/>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900" b="1" i="0">
                <a:solidFill>
                  <a:srgbClr val="565564"/>
                </a:solidFill>
                <a:latin typeface="Calibri"/>
              </a:rPr>
              <a:t>47</a:t>
            </a:r>
          </a:p>
        </p:txBody>
      </p:sp>
      <p:sp>
        <p:nvSpPr>
          <p:cNvPr id="8" name="TextBox 7"/>
          <p:cNvSpPr txBox="1"/>
          <p:nvPr/>
        </p:nvSpPr>
        <p:spPr>
          <a:xfrm>
            <a:off x="566928" y="1965960"/>
            <a:ext cx="11064240" cy="4206240"/>
          </a:xfrm>
          <a:prstGeom prst="rect">
            <a:avLst/>
          </a:prstGeom>
          <a:noFill/>
        </p:spPr>
        <p:txBody>
          <a:bodyPr wrap="square" lIns="25400" rIns="25400" tIns="25400">
            <a:spAutoFit/>
          </a:bodyPr>
          <a:lstStyle/>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Grand View Research — Customer Data Platform Market: grandviewresearch.com/industry-analysis/customer-data-platform-market</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MarketsandMarkets — Customer Data Platform Market (Report 94223554): marketsandmarkets.com</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Fortune Business Insights — Customer Data Platform Market: fortunebusinessinsights.com</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Data Bridge Market Research — Customer Data Platform Market: databridgemarketresearch.com</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CDP Institute — Industry Update / Member Report 2024: cdpinstitute.org</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Statista — Customer Data Platform vendors: statista.com</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Gartner — Khảo sát ứng dụng CDP 2024: gartner.com</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Twilio Segment — The State of Personalization 2024: segment.com/state-of-personalization-report · twilio.com</a:t>
            </a:r>
          </a:p>
          <a:p>
            <a:pPr>
              <a:lnSpc>
                <a:spcPct val="105000"/>
              </a:lnSpc>
              <a:spcBef>
                <a:spcPts val="0"/>
              </a:spcBef>
              <a:spcAft>
                <a:spcPts val="1000"/>
              </a:spcAft>
            </a:pPr>
            <a:r>
              <a:rPr sz="1000" b="1">
                <a:solidFill>
                  <a:srgbClr val="C39851"/>
                </a:solidFill>
                <a:latin typeface="Calibri"/>
              </a:rPr>
              <a:t>•  </a:t>
            </a:r>
            <a:r>
              <a:rPr sz="1200">
                <a:solidFill>
                  <a:srgbClr val="1B1B2E"/>
                </a:solidFill>
                <a:latin typeface="Calibri"/>
              </a:rPr>
              <a:t>McKinsey &amp; Company — Next in Personalization (72%, dẫn qua báo cáo Twilio).</a:t>
            </a:r>
          </a:p>
        </p:txBody>
      </p:sp>
      <p:sp>
        <p:nvSpPr>
          <p:cNvPr id="9" name="TextBox 8"/>
          <p:cNvSpPr txBox="1"/>
          <p:nvPr/>
        </p:nvSpPr>
        <p:spPr>
          <a:xfrm>
            <a:off x="566928" y="6035040"/>
            <a:ext cx="10972800" cy="365760"/>
          </a:xfrm>
          <a:prstGeom prst="rect">
            <a:avLst/>
          </a:prstGeom>
          <a:noFill/>
        </p:spPr>
        <p:txBody>
          <a:bodyPr wrap="square" anchor="t" lIns="25400" rIns="25400" tIns="12700" bIns="12700">
            <a:spAutoFit/>
          </a:bodyPr>
          <a:lstStyle/>
          <a:p>
            <a:pPr algn="l">
              <a:lnSpc>
                <a:spcPct val="105000"/>
              </a:lnSpc>
              <a:spcBef>
                <a:spcPts val="0"/>
              </a:spcBef>
              <a:spcAft>
                <a:spcPts val="400"/>
              </a:spcAft>
            </a:pPr>
            <a:r>
              <a:rPr sz="1000" b="0" i="1">
                <a:solidFill>
                  <a:srgbClr val="565564"/>
                </a:solidFill>
                <a:latin typeface="Calibri"/>
              </a:rPr>
              <a:t>Lưu ý: con số thị trường lấy nguyên từ các hãng nghiên cứu; số liệu đối thủ trong bảng so sánh chỉ nêu định tính, không suy diễn con số.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