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76524" y="553211"/>
            <a:ext cx="5721978" cy="57515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och-tow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532" y="617219"/>
            <a:ext cx="5593962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40532" y="6222492"/>
            <a:ext cx="559396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1">
                <a:solidFill>
                  <a:srgbClr val="565564"/>
                </a:solidFill>
                <a:latin typeface="Calibri"/>
              </a:rPr>
              <a:t>Leadvisors Tower — trụ sở OCH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43000"/>
            <a:ext cx="4754880" cy="12344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400" b="1" i="0">
                <a:solidFill>
                  <a:srgbClr val="2E2E40"/>
                </a:solidFill>
                <a:latin typeface="Georgia"/>
              </a:rPr>
              <a:t>OCH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404872"/>
            <a:ext cx="2651760" cy="4114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496312"/>
            <a:ext cx="47548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39851"/>
                </a:solidFill>
                <a:latin typeface="Calibri"/>
              </a:rPr>
              <a:t>O N E   C A P I T A L   H O S P I T A L I T 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49377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2E2E40"/>
                </a:solidFill>
                <a:latin typeface="Georgia"/>
              </a:rPr>
              <a:t>CUSTOMER DATA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40480"/>
            <a:ext cx="47548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1">
                <a:solidFill>
                  <a:srgbClr val="565564"/>
                </a:solidFill>
                <a:latin typeface="Calibri"/>
              </a:rPr>
              <a:t>Nền tảng dữ liệu khách hàng hợp nhất cho hệ sinh thái đa thương hiệu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800600"/>
            <a:ext cx="4480560" cy="502920"/>
          </a:xfrm>
          <a:prstGeom prst="round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800600"/>
            <a:ext cx="42062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2E40"/>
                </a:solidFill>
                <a:latin typeface="Calibri"/>
              </a:rPr>
              <a:t>Demo trực tiếp:  </a:t>
            </a:r>
            <a:r>
              <a:rPr sz="1250" b="1" i="0">
                <a:solidFill>
                  <a:srgbClr val="2E2E40"/>
                </a:solidFill>
                <a:latin typeface="Calibri"/>
              </a:rPr>
              <a:t>och-aicdp.aipower.vn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577840"/>
            <a:ext cx="5029200" cy="18288"/>
          </a:xfrm>
          <a:prstGeom prst="rect">
            <a:avLst/>
          </a:prstGeom>
          <a:solidFill>
            <a:srgbClr val="DE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Được phát triển bởi</a:t>
            </a:r>
          </a:p>
        </p:txBody>
      </p:sp>
      <p:pic>
        <p:nvPicPr>
          <p:cNvPr id="16" name="Picture 15" descr="aipow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5559552"/>
            <a:ext cx="1417320" cy="59302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8680" y="6309360"/>
            <a:ext cx="4572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65564"/>
                </a:solidFill>
                <a:latin typeface="Calibri"/>
              </a:rPr>
              <a:t>Tài liệu giới thiệu hệ thống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THỰC TRẠNG DỮ LIỆU TẠI TẬP ĐOÀN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Một khách hàng — sáu bản ghi rời, không bản nào kể đúng câu chuyện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38528"/>
            <a:ext cx="539496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Chị Vy mua bánh ở Givral bằng số điện thoại, ăn kem Tràng Tiền như khách vãng lai, nghỉ ở Sunrise bằng email cá nhân. </a:t>
            </a:r>
            <a:r>
              <a:rPr sz="1600" b="1" i="0">
                <a:solidFill>
                  <a:srgbClr val="2E2E40"/>
                </a:solidFill>
                <a:latin typeface="Calibri"/>
              </a:rPr>
              <a:t>Với tập đoàn, chị là sáu người xa lạ.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11880"/>
            <a:ext cx="5394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CHI PHÍ CỦA VIỆC KHÔNG BIẾT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023360"/>
            <a:ext cx="5440680" cy="2194560"/>
          </a:xfrm>
          <a:prstGeom prst="rect">
            <a:avLst/>
          </a:prstGeom>
          <a:noFill/>
        </p:spPr>
        <p:txBody>
          <a:bodyPr wrap="square" lIns="25400" rIns="25400" tIns="2540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39851"/>
                </a:solidFill>
                <a:latin typeface="Calibri"/>
              </a:rPr>
              <a:t>●  </a:t>
            </a:r>
            <a:r>
              <a:rPr sz="1600" b="1">
                <a:solidFill>
                  <a:srgbClr val="2E2E40"/>
                </a:solidFill>
                <a:latin typeface="Calibri"/>
              </a:rPr>
              <a:t>Trùng ưu đãi</a:t>
            </a:r>
            <a:r>
              <a:rPr sz="1600">
                <a:solidFill>
                  <a:srgbClr val="1B1B2E"/>
                </a:solidFill>
                <a:latin typeface="Calibri"/>
              </a:rPr>
              <a:t> — hai thương hiệu cùng giảm giá cho một người.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39851"/>
                </a:solidFill>
                <a:latin typeface="Calibri"/>
              </a:rPr>
              <a:t>●  </a:t>
            </a:r>
            <a:r>
              <a:rPr sz="1600" b="1">
                <a:solidFill>
                  <a:srgbClr val="2E2E40"/>
                </a:solidFill>
                <a:latin typeface="Calibri"/>
              </a:rPr>
              <a:t>Bỏ lỡ bán chéo</a:t>
            </a:r>
            <a:r>
              <a:rPr sz="1600">
                <a:solidFill>
                  <a:srgbClr val="1B1B2E"/>
                </a:solidFill>
                <a:latin typeface="Calibri"/>
              </a:rPr>
              <a:t> — khách F&amp;B không bao giờ nhận được lời mời nghỉ dưỡng.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39851"/>
                </a:solidFill>
                <a:latin typeface="Calibri"/>
              </a:rPr>
              <a:t>●  </a:t>
            </a:r>
            <a:r>
              <a:rPr sz="1600" b="1">
                <a:solidFill>
                  <a:srgbClr val="2E2E40"/>
                </a:solidFill>
                <a:latin typeface="Calibri"/>
              </a:rPr>
              <a:t>Marketing bắn mù</a:t>
            </a:r>
            <a:r>
              <a:rPr sz="1600">
                <a:solidFill>
                  <a:srgbClr val="1B1B2E"/>
                </a:solidFill>
                <a:latin typeface="Calibri"/>
              </a:rPr>
              <a:t> — không biết ai đáng giữ, ai sắp rời.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rag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1753" y="1938528"/>
            <a:ext cx="5138733" cy="39593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Sáu bản ghi rời — không bản nào biết các bản còn lại tồn tại.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Hệ thống nhận ra: sáu bản ghi ấy là một con người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38528"/>
            <a:ext cx="502920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Mọi định danh — số điện thoại, email, mã thẻ — được đối chiếu và gộp về một OCH ID duy nhất. </a:t>
            </a:r>
            <a:r>
              <a:rPr sz="1600" b="1" i="0">
                <a:solidFill>
                  <a:srgbClr val="2E2E40"/>
                </a:solidFill>
                <a:latin typeface="Calibri"/>
              </a:rPr>
              <a:t>Gộp phi phá huỷ: </a:t>
            </a:r>
            <a:r>
              <a:rPr sz="1600" b="0" i="0">
                <a:solidFill>
                  <a:srgbClr val="1B1B2E"/>
                </a:solidFill>
                <a:latin typeface="Calibri"/>
              </a:rPr>
              <a:t>vết gộp lưu lại để kiểm toán, tách được khi gộp nhầm.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977639"/>
            <a:ext cx="5029200" cy="1371600"/>
          </a:xfrm>
          <a:prstGeom prst="round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4572000" cy="1371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Demo: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E2E40"/>
                </a:solidFill>
                <a:latin typeface="Calibri"/>
              </a:rPr>
              <a:t>335 hồ sơ hợp nhất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15 ca hệ thống tự phát hiện hai hồ sơ rời là một người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2057400"/>
            <a:ext cx="5897879" cy="373075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c_ident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776768"/>
            <a:ext cx="5806440" cy="229201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60720" y="5824727"/>
            <a:ext cx="589787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Từ hoá đơn POS đến hồ sơ 360 — bốn bước, không cần con người.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GIÁ TRỊ KINH DOANH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Bốn thứ tập đoàn có được khi dữ liệu về một mối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64008" cy="196596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176272"/>
            <a:ext cx="50566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633472"/>
            <a:ext cx="494690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MỘT OCH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17520"/>
            <a:ext cx="4901183" cy="85039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565564"/>
                </a:solidFill>
                <a:latin typeface="Calibri"/>
              </a:rPr>
              <a:t>Khách được nhận ra ở mọi quầy, mọi khách sạn.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9048" y="201168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9048" y="2011680"/>
            <a:ext cx="64008" cy="196596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2176272"/>
            <a:ext cx="50566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633472"/>
            <a:ext cx="494690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MỘT SỐ DƯ ĐIỂM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3017520"/>
            <a:ext cx="4901183" cy="85039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565564"/>
                </a:solidFill>
                <a:latin typeface="Calibri"/>
              </a:rPr>
              <a:t>Tích ở Givral, tiêu ở Sunrise.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16052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160520"/>
            <a:ext cx="64008" cy="196596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325112"/>
            <a:ext cx="50566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782312"/>
            <a:ext cx="494690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MARKETING TỰ ĐỘNG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5166360"/>
            <a:ext cx="4901183" cy="8503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565564"/>
                </a:solidFill>
                <a:latin typeface="Calibri"/>
              </a:rPr>
              <a:t>Đúng người, đúng lúc, đúng kênh.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9048" y="416052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99048" y="4160520"/>
            <a:ext cx="64008" cy="196596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0216" y="4325112"/>
            <a:ext cx="50566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4782312"/>
            <a:ext cx="494690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AI CHỈ VIỆC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216" y="5166360"/>
            <a:ext cx="4901183" cy="8503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565564"/>
                </a:solidFill>
                <a:latin typeface="Calibri"/>
              </a:rPr>
              <a:t>Máy đề xuất, người quyết định.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BỨC TRANH TỔNG THỂ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Mọi điểm chạm đổ về một bộ não — và bộ não ra lệnh ngược lại các kênh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27432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NGUỒN DỮ LIỆU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40280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POS F&amp;B (Givral, KTT, Fuji)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98648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PMS Khách sạn (Sunrise, StarCity, Dusit)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557016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57016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Website / Ứng dụng / E-commerce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15384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215384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Chăm sóc khách hàng (CSKH)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456432" y="3154680"/>
            <a:ext cx="502920" cy="457200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9080" y="1965960"/>
            <a:ext cx="406908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69080" y="1965960"/>
            <a:ext cx="4069080" cy="50292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1965960"/>
            <a:ext cx="40690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E2E40"/>
                </a:solidFill>
                <a:latin typeface="Calibri"/>
              </a:rPr>
              <a:t>BỘ NÃO CDP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2651760"/>
            <a:ext cx="3566160" cy="502920"/>
          </a:xfrm>
          <a:prstGeom prst="roundRect">
            <a:avLst/>
          </a:prstGeom>
          <a:solidFill>
            <a:srgbClr val="F7F6F2"/>
          </a:solidFill>
          <a:ln w="95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15968" y="2651760"/>
            <a:ext cx="35661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① Hợp nhất định danh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3273552"/>
            <a:ext cx="3566160" cy="502920"/>
          </a:xfrm>
          <a:prstGeom prst="roundRect">
            <a:avLst/>
          </a:prstGeom>
          <a:solidFill>
            <a:srgbClr val="F7F6F2"/>
          </a:solidFill>
          <a:ln w="95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15968" y="3273552"/>
            <a:ext cx="35661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② Hồ sơ 360°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3895344"/>
            <a:ext cx="3566160" cy="502920"/>
          </a:xfrm>
          <a:prstGeom prst="roundRect">
            <a:avLst/>
          </a:prstGeom>
          <a:solidFill>
            <a:srgbClr val="F7F6F2"/>
          </a:solidFill>
          <a:ln w="95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3895344"/>
            <a:ext cx="35661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③ Phân khúc (Segment)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4517136"/>
            <a:ext cx="3566160" cy="502920"/>
          </a:xfrm>
          <a:prstGeom prst="roundRect">
            <a:avLst/>
          </a:prstGeom>
          <a:solidFill>
            <a:srgbClr val="F7F6F2"/>
          </a:solidFill>
          <a:ln w="95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15968" y="4517136"/>
            <a:ext cx="35661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④ Kích hoạt (Activation)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211312" y="3154680"/>
            <a:ext cx="502920" cy="457200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23960" y="1874519"/>
            <a:ext cx="29260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KÊNH KÍCH HOẠT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23960" y="2240280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42832" y="2240280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Email / SMS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23960" y="2898648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42832" y="2898648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Zalo ZNS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23960" y="3557016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42832" y="3557016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Quảng cáo Google / Meta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823960" y="4215384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42832" y="4215384"/>
            <a:ext cx="26060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BI / Kho dữ liệu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5532120"/>
            <a:ext cx="11064240" cy="777240"/>
          </a:xfrm>
          <a:prstGeom prst="roundRect">
            <a:avLst/>
          </a:prstGeom>
          <a:solidFill>
            <a:srgbClr val="E7D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5532120"/>
            <a:ext cx="10607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Đọc như câu chuyện: </a:t>
            </a:r>
            <a:r>
              <a:rPr sz="1400" b="0" i="0">
                <a:solidFill>
                  <a:srgbClr val="1B1B2E"/>
                </a:solidFill>
                <a:latin typeface="Calibri"/>
              </a:rPr>
              <a:t>dữ liệu rời rạc từ mọi thương hiệu → hồ sơ 360° → nhóm khách → đúng thông điệp ra đúng kênh.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MÔ HÌNH TÍCH HỢP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Cắm vào hệ thống đang có — không bắt nghiệp vụ đổi cách làm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3291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INBOUND · Đưa dữ liệu VÀO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12848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212848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POS F&amp;B — Givral · KTT · Fuji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926080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26080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PMS Khách sạn — Sunrise · StarCity · Dusit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639312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639312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Web · App · E-commerce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352544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Form đăng ký · CSKH · Call center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931920" y="3063240"/>
            <a:ext cx="457200" cy="457200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26280" y="2331720"/>
            <a:ext cx="3154680" cy="2468880"/>
          </a:xfrm>
          <a:prstGeom prst="rect">
            <a:avLst/>
          </a:prstGeom>
          <a:solidFill>
            <a:srgbClr val="FFFFFF"/>
          </a:solidFill>
          <a:ln w="222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26280" y="2331720"/>
            <a:ext cx="3154680" cy="128016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2560320"/>
            <a:ext cx="315468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OCH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39851"/>
                </a:solidFill>
                <a:latin typeface="Georgia"/>
              </a:rPr>
              <a:t>CDP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977639"/>
            <a:ext cx="288036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Hợp nhất · Hồ sơ 360° · Phân khúc · Kích hoạt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0" y="3063240"/>
            <a:ext cx="457200" cy="457200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1847088"/>
            <a:ext cx="3291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OUTBOUND · Đưa dữ liệu RA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66760" y="2212848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85632" y="2212848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Email · SMS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66760" y="2926080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85632" y="2926080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Zalo ZNS (kênh Việt Nam)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66760" y="3639312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85632" y="3639312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Quảng cáo Google · Meta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66760" y="4352544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85632" y="4352544"/>
            <a:ext cx="30632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Kho dữ liệu · BI · Loyalty/CRM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349240"/>
            <a:ext cx="11064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5349240"/>
            <a:ext cx="82296" cy="10058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349240"/>
            <a:ext cx="10607040" cy="10058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Hai chế độ kết nối: </a:t>
            </a:r>
            <a:r>
              <a:rPr sz="1300" b="0" i="0">
                <a:solidFill>
                  <a:srgbClr val="1B1B2E"/>
                </a:solidFill>
                <a:latin typeface="Calibri"/>
              </a:rPr>
              <a:t>realtime và batch — POS/PMS giữ nguyên cách làm. </a:t>
            </a:r>
            <a:r>
              <a:rPr sz="1300" b="1" i="0">
                <a:solidFill>
                  <a:srgbClr val="2F7D5B"/>
                </a:solidFill>
                <a:latin typeface="Calibri"/>
              </a:rPr>
              <a:t>Cổng consent </a:t>
            </a:r>
            <a:r>
              <a:rPr sz="1300" b="0" i="0">
                <a:solidFill>
                  <a:srgbClr val="1B1B2E"/>
                </a:solidFill>
                <a:latin typeface="Calibri"/>
              </a:rPr>
              <a:t>ở khâu kích hoạt: chỉ gửi khi được phép. </a:t>
            </a:r>
            <a:r>
              <a:rPr sz="1300" b="1" i="0">
                <a:solidFill>
                  <a:srgbClr val="2E2E40"/>
                </a:solidFill>
                <a:latin typeface="Calibri"/>
              </a:rPr>
              <a:t>Chống trùng doanh thu: </a:t>
            </a:r>
            <a:r>
              <a:rPr sz="1300" b="0" i="0">
                <a:solidFill>
                  <a:srgbClr val="1B1B2E"/>
                </a:solidFill>
                <a:latin typeface="Calibri"/>
              </a:rPr>
              <a:t>mỗi giao dịch mang khoá duy nhất — gửi trùng không nhân đôi doanh thu.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Mã nguồn mở, chạy trên máy chủ của OCH — dữ liệu khách không rời Việt Nam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47088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847088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RudderStack 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847088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Nền tảng data pipeline realtime chuẩn CDP, tương thích chuẩn Segment — chuẩn de-facto của ngành; hơn 200 connector dựng sẵn tới các công cụ marketing &amp; kho dữ liệu.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423160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423160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423160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PostgreSQL 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23160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CSDL quan hệ mã nguồn mở uy tín nhất thế giới, “được yêu thích nhất” nhiều năm liền trong khảo sát Stack Overflow; ACID tuyệt đối cho tiền và điểm thưởng.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999232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999232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999232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ClickHouse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2999232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CSDL phân tích cột nhanh bậc nhất thế giới — công nghệ đứng sau hệ thống phân tích của Cloudflare, Uber, Spotify; truy vấn hàng tỷ dòng dưới một giây.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575304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575304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575304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NestJS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575304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Framework Node.js chuẩn enterprise phổ biến nhất cho backend lớn — kiến trúc module, kiểm soát giao dịch chặt chẽ.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151376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151376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151376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Redis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151376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Cache tiêu chuẩn công nghiệp — trả hồ sơ khách trong mili-giây tại quầy POS.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727448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727448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727448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MinIO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4727448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Object storage tương thích chuẩn Amazon S3, tự vận hành — không phí cloud, dữ liệu ở VN.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303520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5303520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303520"/>
            <a:ext cx="22860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Docker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303520"/>
            <a:ext cx="83210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Chuẩn đóng gói &amp; triển khai toàn ngành — cài đặt lặp lại được, nâng cấp không rủi ro.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5943600"/>
            <a:ext cx="1106424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943600"/>
            <a:ext cx="106984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Toàn bộ là công nghệ chuẩn ngành đã được chứng minh ở quy mô toàn cầu — </a:t>
            </a:r>
            <a:r>
              <a:rPr sz="1400" b="0" i="0">
                <a:solidFill>
                  <a:srgbClr val="E7DDC8"/>
                </a:solidFill>
                <a:latin typeface="Calibri"/>
              </a:rPr>
              <a:t>OCH sở hữu trọn vẹn, không phí license, không gửi dữ liệu ra nước ngoài.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KIẾN TRÚC KỸ THUẬT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Bốn tầng từ nguồn đến kênh — mỗi tầng một việc, không giẫm chân nhau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331720"/>
            <a:ext cx="2423160" cy="2103120"/>
          </a:xfrm>
          <a:prstGeom prst="rect">
            <a:avLst/>
          </a:prstGeom>
          <a:solidFill>
            <a:srgbClr val="3D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331720"/>
            <a:ext cx="2423160" cy="4572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331720"/>
            <a:ext cx="24231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NGUỒN DỮ LIỆU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2898648"/>
            <a:ext cx="2203704" cy="14447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POS (F&amp;B)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PMS (Khách sạn)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Web/App SDK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E-commerce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Form / CSKH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035808" y="3218687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47288" y="2331720"/>
            <a:ext cx="2423160" cy="21031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7288" y="2331720"/>
            <a:ext cx="2423160" cy="4572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7288" y="2331720"/>
            <a:ext cx="24231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INGESTION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7016" y="2898648"/>
            <a:ext cx="2203704" cy="14447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RudderStack OSS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(thu sự kiện + định tuyến)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core-api / NestJS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REST/HTTP + SDK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16168" y="3218687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7648" y="2331720"/>
            <a:ext cx="2423160" cy="21031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2331720"/>
            <a:ext cx="2423160" cy="4572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331720"/>
            <a:ext cx="24231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LƯU TRỮ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2898648"/>
            <a:ext cx="2203704" cy="14447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PostgreSQL 18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(system of record, ACID)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ClickHouse (OLAP)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MinIO (object store)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Redis (cache)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96528" y="3218687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08007" y="2331720"/>
            <a:ext cx="2423160" cy="2103120"/>
          </a:xfrm>
          <a:prstGeom prst="rect">
            <a:avLst/>
          </a:prstGeom>
          <a:solidFill>
            <a:srgbClr val="3D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08007" y="2331720"/>
            <a:ext cx="2423160" cy="4572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08007" y="2331720"/>
            <a:ext cx="24231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KÍCH HOẠT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17735" y="2898648"/>
            <a:ext cx="2203704" cy="14447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Reverse-ETL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(RudderStack)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→ Email / SMS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→ Zalo ZNS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→ Google / Meta / BI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800600"/>
            <a:ext cx="110642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4800600"/>
            <a:ext cx="82296" cy="6858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800600"/>
            <a:ext cx="1060704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Chống trùng dữ liệu (idempotency): </a:t>
            </a:r>
            <a:r>
              <a:rPr sz="1300" b="0" i="0">
                <a:solidFill>
                  <a:srgbClr val="1B1B2E"/>
                </a:solidFill>
                <a:latin typeface="Calibri"/>
              </a:rPr>
              <a:t>mỗi giao dịch POS có khoá duy nhất — gửi lại bao nhiêu lần cũng chỉ ghi nhận MỘT lần.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562356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core-api (NestJS) </a:t>
            </a:r>
            <a:r>
              <a:rPr sz="1300" b="0" i="0">
                <a:solidFill>
                  <a:srgbClr val="565564"/>
                </a:solidFill>
                <a:latin typeface="Calibri"/>
              </a:rPr>
              <a:t>gom định danh + loyalty + consent + ingestion trong MỘT giao dịch ACID — đúng tiền, đúng người tại điểm bán.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CÁC MÔ HÌNH ĐỒNG BỘ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Dữ liệu đồng bộ theo sáu ngả — chọn ngả nào là theo bài toán, không theo mốt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20240"/>
            <a:ext cx="283464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920240"/>
            <a:ext cx="26517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Mô hình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01568" y="1920240"/>
            <a:ext cx="384048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008" y="1920240"/>
            <a:ext cx="36576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Khi nào dùng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42048" y="1920240"/>
            <a:ext cx="438912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33488" y="1920240"/>
            <a:ext cx="42062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Ví dụ tại OCH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42316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42316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Streaming realtime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1568" y="2423160"/>
            <a:ext cx="384048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1296" y="242316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Cần dữ liệu tức thời khi có sự kiện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42048" y="2423160"/>
            <a:ext cx="438912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51775" y="242316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Giao dịch POS, sự kiện web/app → nạp ngay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06324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306324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Batch / theo lịch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01568" y="3063240"/>
            <a:ext cx="38404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11296" y="306324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Dữ liệu lớn, không cần tức thời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42048" y="3063240"/>
            <a:ext cx="4389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51775" y="306324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Danh mục sản phẩm, đồng bộ đêm từ file/DB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70332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70332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CDC (Change Data Capture)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01568" y="3703320"/>
            <a:ext cx="384048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11296" y="370332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Bắt thay đổi từ CSDL nguồn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42048" y="3703320"/>
            <a:ext cx="438912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1775" y="370332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Cập nhật hồ sơ khách từ hệ thống cũ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34340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" y="434340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Reverse-ETL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01568" y="4343400"/>
            <a:ext cx="38404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11296" y="434340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Đẩy từ kho dữ liệu ra công cụ SaaS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42048" y="4343400"/>
            <a:ext cx="4389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51775" y="434340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Đẩy tệp Audience sang Zalo ZNS / Ads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498348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498348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Webhook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01568" y="4983480"/>
            <a:ext cx="384048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11296" y="498348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Nguồn chủ động “gọi” khi có sự kiện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42048" y="4983480"/>
            <a:ext cx="438912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51775" y="498348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Cổng thanh toán / đối tác báo sự kiện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562356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623560"/>
            <a:ext cx="263347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API REST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01568" y="5623560"/>
            <a:ext cx="38404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11296" y="5623560"/>
            <a:ext cx="363931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Tích hợp linh hoạt hai chiều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42048" y="5623560"/>
            <a:ext cx="4389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51775" y="5623560"/>
            <a:ext cx="418795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Hệ thống khác của OCH đọc/ghi dữ liệu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PIPELINE DỮ LIỆU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ELT: nạp thô trước, chuẩn hoá sau — không mất dữ liệu gốc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20240"/>
            <a:ext cx="5394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20240"/>
            <a:ext cx="64008" cy="1463040"/>
          </a:xfrm>
          <a:prstGeom prst="rect">
            <a:avLst/>
          </a:prstGeom>
          <a:solidFill>
            <a:srgbClr val="565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084832"/>
            <a:ext cx="508406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ETL — transform trước khi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468880"/>
            <a:ext cx="5038344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Biến đổi dữ liệu trước rồi mới nạp vào kho. Cứng nhắc, khó thay đổi khi cần phân tích mới.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6208" y="1920240"/>
            <a:ext cx="5394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920240"/>
            <a:ext cx="64008" cy="1463040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2084832"/>
            <a:ext cx="508406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ELT — load thô trước, transform sau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468880"/>
            <a:ext cx="5038344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Nạp dữ liệu thô về kho trước, rồi chuẩn hoá và tính toán trong kho. Linh hoạt, giữ dữ liệu gốc.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56616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Hệ thống OCH dùng ELT + streaming ingestion: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069080"/>
            <a:ext cx="2423160" cy="14173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069080"/>
            <a:ext cx="24231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4197096"/>
            <a:ext cx="22037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Extract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4636008"/>
            <a:ext cx="220370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8D6E0"/>
                </a:solidFill>
                <a:latin typeface="Calibri"/>
              </a:rPr>
              <a:t>Trích xuất từ POS, PMS, web/app, form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035808" y="4613148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47288" y="4069080"/>
            <a:ext cx="2423160" cy="1417320"/>
          </a:xfrm>
          <a:prstGeom prst="rect">
            <a:avLst/>
          </a:prstGeom>
          <a:solidFill>
            <a:srgbClr val="3D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47288" y="4069080"/>
            <a:ext cx="24231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57016" y="4197096"/>
            <a:ext cx="22037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Load (raw)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57016" y="4636008"/>
            <a:ext cx="220370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8D6E0"/>
                </a:solidFill>
                <a:latin typeface="Calibri"/>
              </a:rPr>
              <a:t>Nạp dữ liệu THÔ về hệ thống (PostgreSQL / MinIO)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916168" y="4613148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27648" y="4069080"/>
            <a:ext cx="2423160" cy="14173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27648" y="4069080"/>
            <a:ext cx="24231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7376" y="4197096"/>
            <a:ext cx="22037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Transform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6" y="4636008"/>
            <a:ext cx="220370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8D6E0"/>
                </a:solidFill>
                <a:latin typeface="Calibri"/>
              </a:rPr>
              <a:t>Chuẩn hoá thành canonical model + đặc trưng (feature)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796528" y="4613148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08007" y="4069080"/>
            <a:ext cx="2423160" cy="1417320"/>
          </a:xfrm>
          <a:prstGeom prst="rect">
            <a:avLst/>
          </a:prstGeom>
          <a:solidFill>
            <a:srgbClr val="3D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08007" y="4069080"/>
            <a:ext cx="24231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17735" y="4197096"/>
            <a:ext cx="22037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Serve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17735" y="4636008"/>
            <a:ext cx="220370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8D6E0"/>
                </a:solidFill>
                <a:latin typeface="Calibri"/>
              </a:rPr>
              <a:t>Phục vụ phân tích trong ClickHouse + Profile API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760720"/>
            <a:ext cx="109728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2E40"/>
                </a:solidFill>
                <a:latin typeface="Calibri"/>
              </a:rPr>
              <a:t>Kết quả: </a:t>
            </a:r>
            <a:r>
              <a:rPr sz="1350" b="0" i="0">
                <a:solidFill>
                  <a:srgbClr val="1B1B2E"/>
                </a:solidFill>
                <a:latin typeface="Calibri"/>
              </a:rPr>
              <a:t>nạp thô nhanh, chuẩn hoá thành mô hình chuẩn, phân tích OLAP trong ClickHouse. dbt bổ sung được khi mở rộng.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TỔNG QUAN NỀN TẢNG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Mười một workspace — mỗi vai trò một cửa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874519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1984248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🗼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Control Tower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441448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Bảng điều khiển realtime toàn tập đoàn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1874519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0712" y="1874519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8728" y="1984248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👤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Customer 360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7016" y="2441448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Hồ sơ khách hàng 360° hợp nhất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54496" y="1874519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4496" y="1874519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1984248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🎁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Loyalty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441448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Tích/đổi điểm xuyên thương hiệu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1874519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98280" y="1874519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26296" y="1984248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🗄️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Data 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4584" y="2441448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Quản trị dữ liệu chủ (thương hiệu/cửa hàng/SP)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1927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319272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429000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📊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Phân tích chuyên sâu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3886200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Doanh thu, vòng đời, synergy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10712" y="331927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10712" y="3319272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38728" y="3429000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🎯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Audiences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7016" y="3886200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Tạo tệp khách theo tiêu chí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54496" y="331927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54496" y="3319272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3429000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🧭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Journeys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886200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Hành trình chăm sóc tự động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98280" y="331927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98280" y="3319272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26296" y="3429000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💬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Trợ lý 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44584" y="3886200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Hỏi đáp dữ liệu bằng ngôn ngữ tự nhiên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4764023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4764023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4944" y="4873751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🛡️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AI &amp; Governance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" y="5330951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Quản trị &amp; audit tham số AI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10712" y="4764023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410712" y="4764023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38728" y="4873751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✅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Governance (Consent)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57016" y="5330951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Đồng ý &amp; quyền riêng tư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54496" y="4764023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54496" y="4764023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82512" y="4873751"/>
            <a:ext cx="2441448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⚙️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Platform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330951"/>
            <a:ext cx="24231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Người dùng, phân quyền, API key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98280" y="4764023"/>
            <a:ext cx="2697480" cy="1298448"/>
          </a:xfrm>
          <a:prstGeom prst="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26296" y="4764023"/>
            <a:ext cx="2441448" cy="12984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2E40"/>
                </a:solidFill>
                <a:latin typeface="Calibri"/>
              </a:rPr>
              <a:t>Một nền tảng —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C39851"/>
                </a:solidFill>
                <a:latin typeface="Georgia"/>
              </a:rPr>
              <a:t>11 workspace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2E40"/>
                </a:solidFill>
                <a:latin typeface="Calibri"/>
              </a:rPr>
              <a:t>cho mọi vai trò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CONTROL TOWER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Sáng thứ Hai, toàn tập đoàn nằm trong một màn hình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Dashboard hợp nhất realtime: doanh thu, khách hàng, sức khoẻ dữ liệu của sáu thương hiệu trên một màn hình.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Điều hành đa thương hiệu không thể chờ báo cáo cuối tháng ghép tay từ sáu nguồn.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Một nguồn sự thật cho ban điều hành; bất thường được nhìn thấy trong ngày.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ntrol-t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Control Tower — tổng quan realtime toàn tập đoàn.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CUSTOMER 360 · 1/4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“Khách này là ai với tập đoàn?” — trả lời trong năm giây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Danh bạ hợp nhất toàn tập đoàn: tìm theo tên, SĐT, email; lọc theo vòng đời, hạng, thương hiệu.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CSKH phải trả lời khi khách đang đứng ở quầy — không phải sau ba cuộc gọi nội bộ.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335 khách xuyên 6 thương hiệu trong một màn hình; một cú nhấp mở toàn bộ lịch sử.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ustomers-dir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Danh bạ hợp nhất — cửa ngõ vào hồ sơ Customer 360.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CUSTOMER 360 · 2/4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8% khách Kim cương tạo phần lớn doanh thu — biết chính xác họ là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Hạng Kim cương / Vàng / Bạc / Đồng theo chi tiêu tích luỹ toàn tập đoàn — không theo từng thương hiệu.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Nguồn lực chăm sóc có hạn — phải dồn cho nhóm nhỏ tạo phần lớn doanh thu.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CLV dự đoán cho biết nên đầu tư bao nhiêu để giữ một khách.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360-cl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98019"/>
            <a:ext cx="5303520" cy="140008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373989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Giá trị khách — LTV, CLV dự đoán, AOV.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13308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360-behavi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020" y="4178808"/>
            <a:ext cx="4398198" cy="171907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Hành vi mua — thương hiệu, nhóm hàng, thời điểm.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CUSTOMER 360 · 3/4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Khách chưa rời đi — họ chỉ đang trễ nhịp. Hệ thống đếm từng ngày.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Khoảng cách mua trung bình của từng khách → ngày dự kiến quay lại; lệch nhịp thì gắn cờ quá hạn.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Giữ khách đúng chu kỳ rẻ hơn nhiều so với giành lại khách đã rời.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“Quá hạn 37 ngày” là lệnh hành động cho CSKH — không phải con số trang trí.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360-ca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465524"/>
            <a:ext cx="5303520" cy="90535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Nhịp mua — chu kỳ, ngày dự kiến quay lại, cảnh báo quá hạn.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CƠ HỘI BÁN BỊ LÃNG QUÊN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8,95 triệu đồng nằm quên trong một giỏ hàng ở Sunrise — đã 224 giờ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CDP giữ mọi giỏ hàng / đặt phòng chưa thanh toán và xếp việc cho đội bán theo ưu tiên.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Không hệ thống nào khác trong tập đoàn nhìn thấy giỏ hàng này.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86 giỏ đang mở hoặc bỏ quên, xếp sẵn thành danh sách gọi lại kèm kịch bản — nhắc hoàn tất, kèm ưu đãi.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360-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281069"/>
            <a:ext cx="5303520" cy="10339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373989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Giỏ bỏ quên — giá trị và thời gian chờ từng giỏ.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13308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360-a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4311088"/>
            <a:ext cx="5303520" cy="145451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Hành động đề xuất — việc cần làm, xếp theo ưu tiên.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Nhìn thấy quý sau từ hôm nay — doanh thu, vòng đời, sức cộng hưởng sáu thương hiệu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Doanh thu theo tháng kèm dự báo; vòng đời khách (VIP / active / at-risk / dormant); mức dùng chéo thương hiệu.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Tỷ lệ at-risk tăng là cảnh báo sớm hơn mọi báo cáo doanh thu.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Sức khoẻ tệp khách và tiềm năng bán chéo nằm trên cùng một trang.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ns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Insights — doanh thu, dự báo, vòng đời khách hàng.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AUDIENCES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179 lần kích hoạt — lần nào cũng có sổ sách: ai được gửi, ai bị chặn, vì sao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Dựng tệp khách (audience) theo tiêu chí rồi kích hoạt ra Email / SMS / Zalo ZNS / Ads.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Chiến dịch không có log là chiến dịch không kiểm chứng được.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Mỗi lần kích hoạt ghi đủ số gửi / số bị chặn bởi consent — kiểm toán đến từng khách.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udi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Audiences — tệp khách, tiêu chí và lịch sử kích hoạt.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JOURNEYS ·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Marketer tự dựng kịch bản chăm sóc — không xếp hàng chờ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Kéo–thả lưu đồ journey: Vào → Điều kiện → Hành động → Chờ → Kết thúc, nhánh Có/Không.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Kịch bản phải chờ đội kỹ thuật thì tốc độ thử nghiệm marketing bị chặn lại.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Mỗi khách được chạm ĐÚNG MỘT LẦN mỗi bước — kể cả khi hệ thống trục trặc giữa chừng.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ourney-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Canvas journey — lưu đồ kéo–thả với nhánh điều kiện.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JOURNEYS ·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38 vào, 22 được chạm, 16 hoàn tất — nhìn thấy chỗ rơi để sửa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Mỗi journey có báo cáo funnel: bao nhiêu khách vào, qua từng bước còn bao nhiêu.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Không có funnel thì chỉ biết chiến dịch “đã chạy” — không biết khách rơi ở đâu.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7 journey đang chạy trên demo; đọc funnel là thấy bước nào đang làm mất khách.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ourney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Báo cáo journey — funnel và tỉ lệ chuyển đổi từng bước.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LOYALTY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119.646 điểm lưu hành là một khoản nợ — sổ kép bảo đảm không thất thoát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Một quỹ điểm chung: tích ở thương hiệu này, tiêu ở thương hiệu khác. Mỗi biến động là một bút toán có đối ứng.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Điểm thưởng là nợ phải trả — không có sổ kép thì thất thoát không ai phát hiện.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230 thành viên tích–tiêu xuyên thương hiệu; không thể âm quỹ, không thể cộng trùng.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oyal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Loyalty — bảng xếp hạng thành viên và quỹ điểm.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Khách chưa đồng ý thì máy không cho gửi — luật nằm trong hệ thống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Consent (sự đồng ý) ghi theo từng mục đích, mặc định là TỪ CHỐI; mọi thay đổi đều lưu vết.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Tuân thủ không thể dựa vào ý thức người chạy chiến dịch.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Mọi kích hoạt đi qua một cổng consent; danh sách bị chặn nằm trong log — chứng minh được khi bị kiểm tra.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Governance — consent theo mục đích, lưu vết đầy đủ.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DATA OPS &amp;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Một nguồn sự thật cho thương hiệu, cửa hàng, sản phẩm — đúng người đúng quyền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Data Ops quản danh mục chuẩn toàn tập đoàn; Platform quản người dùng theo 7 vai trò và API key.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Báo cáo sai bắt đầu từ danh mục lệch; sự cố bảo mật bắt đầu từ tài khoản không rõ quyền.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Một nơi sửa — mọi nơi cập nhật; kết nối ngoài đi qua API key riêng.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ata-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Data Ops — danh mục thương hiệu / cửa hàng / sản phẩm.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TRỢ LÝ AI &amp; AI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Hỏi bằng tiếng Việt, trả lời bằng dữ liệu — thông tin định danh không rời hệ thống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Đặt câu hỏi tự nhiên và nhận câu trả lời từ dữ liệu thật; tham số AI quản trị và audit được.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Mọi câu hỏi phải qua đội phân tích thì người quyết định luôn chậm một nhịp.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Guardrail PII: dữ liệu định danh không rời hệ thống; mỗi đề xuất kèm lý do, có lưu vết.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397" y="1938528"/>
            <a:ext cx="2417445" cy="17190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373989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Trợ lý AI — hỏi đáp trên dữ liệu thật.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13308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ai-govern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397" y="4178808"/>
            <a:ext cx="2417445" cy="171907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AI Governance — tham số và audit.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SO SÁNH VỚI CDP THỊ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Vì sao không mua CDP ngoại? Dữ liệu, chi phí và Zalo —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278892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965960"/>
            <a:ext cx="26974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Tiêu chí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1965960"/>
            <a:ext cx="1874519" cy="56692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1568" y="1965960"/>
            <a:ext cx="17830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AICDP / OCH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30368" y="1965960"/>
            <a:ext cx="123444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76088" y="1965960"/>
            <a:ext cx="11430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Segment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64808" y="1965960"/>
            <a:ext cx="141732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965960"/>
            <a:ext cx="13258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Adobe RTCDP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82128" y="1965960"/>
            <a:ext cx="114300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7848" y="1965960"/>
            <a:ext cx="10515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Tealium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5128" y="1965960"/>
            <a:ext cx="123444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965960"/>
            <a:ext cx="11430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Hightouch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59568" y="1965960"/>
            <a:ext cx="137160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05288" y="1965960"/>
            <a:ext cx="1280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Treasure Data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532888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2532888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Mô hình triển khai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55848" y="2532888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10712" y="2532888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Self-host tại OCH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30368" y="2532888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1" y="2532888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SaaS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64808" y="2532888"/>
            <a:ext cx="141732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9672" y="2532888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SaaS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82128" y="2532888"/>
            <a:ext cx="11430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36992" y="2532888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SaaS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25128" y="2532888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79992" y="2532888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(ELT)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59568" y="2532888"/>
            <a:ext cx="13716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14432" y="2532888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SaaS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374136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" y="3374136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Dữ liệu đặt tại Việt Nam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55848" y="3374136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10712" y="3374136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Có — chủ quyền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30368" y="3374136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85231" y="3374136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Hạ tầng nước ngoài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64808" y="3374136"/>
            <a:ext cx="14173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9672" y="3374136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Nước ngoài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8" y="3374136"/>
            <a:ext cx="11430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36992" y="3374136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Nước ngoài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25128" y="3374136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79992" y="3374136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Nước ngoài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259568" y="3374136"/>
            <a:ext cx="13716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314432" y="3374136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Nước ngoài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4215384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1792" y="4215384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May đo F&amp;B + Khách sạn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55848" y="4215384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10712" y="4215384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Thiết kế riêng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30368" y="4215384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85231" y="4215384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64808" y="4215384"/>
            <a:ext cx="141732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19672" y="4215384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82128" y="4215384"/>
            <a:ext cx="11430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36992" y="4215384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025128" y="4215384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79992" y="4215384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259568" y="4215384"/>
            <a:ext cx="13716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314432" y="4215384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5056632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1792" y="5056632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Hợp nhất định danh (OCH ID)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355848" y="5056632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410712" y="5056632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Lõi hệ thống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30368" y="5056632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85231" y="5056632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64808" y="5056632"/>
            <a:ext cx="14173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519672" y="5056632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882128" y="5056632"/>
            <a:ext cx="11430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936992" y="5056632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025128" y="5056632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79992" y="5056632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Reverse-ETL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259568" y="5056632"/>
            <a:ext cx="13716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314432" y="5056632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SO SÁNH VỚI CDP THỊ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Vì sao không mua CDP ngoại? Dữ liệu, chi phí và Zalo —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278892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965960"/>
            <a:ext cx="26974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Tiêu chí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1965960"/>
            <a:ext cx="1874519" cy="56692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1568" y="1965960"/>
            <a:ext cx="17830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AICDP / OCH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30368" y="1965960"/>
            <a:ext cx="123444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76088" y="1965960"/>
            <a:ext cx="11430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Segment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64808" y="1965960"/>
            <a:ext cx="141732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965960"/>
            <a:ext cx="13258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Adobe RTCDP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82128" y="1965960"/>
            <a:ext cx="114300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7848" y="1965960"/>
            <a:ext cx="10515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Tealium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5128" y="1965960"/>
            <a:ext cx="123444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965960"/>
            <a:ext cx="11430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Hightouch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59568" y="1965960"/>
            <a:ext cx="137160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05288" y="1965960"/>
            <a:ext cx="1280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Treasure Data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532888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2532888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Loyalty tích hợp sẵn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55848" y="2532888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10712" y="2532888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Có — sổ kép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30368" y="2532888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1" y="2532888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Cần tích hợp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64808" y="2532888"/>
            <a:ext cx="141732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9672" y="2532888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Cần tích hợp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82128" y="2532888"/>
            <a:ext cx="11430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36992" y="2532888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Cần tích hợp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25128" y="2532888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79992" y="2532888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Không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59568" y="2532888"/>
            <a:ext cx="13716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14432" y="2532888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Cần tích hợp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374136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" y="3374136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AI giải thích được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55848" y="3374136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10712" y="3374136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Có — minh bạch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30368" y="3374136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85231" y="3374136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Hạn chế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64808" y="3374136"/>
            <a:ext cx="14173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9672" y="3374136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 (hộp đen)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8" y="3374136"/>
            <a:ext cx="11430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36992" y="3374136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Hạn chế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25128" y="3374136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79992" y="3374136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Không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259568" y="3374136"/>
            <a:ext cx="13716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314432" y="3374136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4215384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1792" y="4215384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Kênh Việt Nam (Zalo ZNS)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55848" y="4215384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10712" y="4215384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Hỗ trợ sẵn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30368" y="4215384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85231" y="4215384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64808" y="4215384"/>
            <a:ext cx="141732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19672" y="4215384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82128" y="4215384"/>
            <a:ext cx="11430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36992" y="4215384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025128" y="4215384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79992" y="4215384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259568" y="4215384"/>
            <a:ext cx="13716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314432" y="4215384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5056632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1792" y="5056632"/>
            <a:ext cx="26791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Chi phí license (định tính)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355848" y="5056632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410712" y="5056632"/>
            <a:ext cx="176479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Không phí/khách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30368" y="5056632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85231" y="5056632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Cao, theo MTU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64808" y="5056632"/>
            <a:ext cx="14173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519672" y="5056632"/>
            <a:ext cx="130759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Rất cao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882128" y="5056632"/>
            <a:ext cx="11430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936992" y="5056632"/>
            <a:ext cx="1033271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Cao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025128" y="5056632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79992" y="5056632"/>
            <a:ext cx="112471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Theo dòng ĐB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259568" y="5056632"/>
            <a:ext cx="13716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314432" y="5056632"/>
            <a:ext cx="1261872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Cao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66928" y="5669280"/>
            <a:ext cx="11064240" cy="777240"/>
          </a:xfrm>
          <a:prstGeom prst="roundRect">
            <a:avLst/>
          </a:prstGeom>
          <a:solidFill>
            <a:srgbClr val="E7D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2E40"/>
                </a:solidFill>
                <a:latin typeface="Calibri"/>
              </a:rPr>
              <a:t>Kết luận: </a:t>
            </a:r>
            <a:r>
              <a:rPr sz="1200" b="0" i="0">
                <a:solidFill>
                  <a:srgbClr val="1B1B2E"/>
                </a:solidFill>
                <a:latin typeface="Calibri"/>
              </a:rPr>
              <a:t>AICDP phù hợp OCH hơn nhờ chủ quyền dữ liệu tại VN, may đo đúng ngành F&amp;B + khách sạn, chi phí sở hữu thấp, và kênh Việt Nam (Zalo). Số liệu đối thủ chỉ định tính — không phóng đại.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LƯU ĐỒ VẬN HÀNH ·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Consent chặn ở cửa cuối — dữ liệu vào đủ, chỉ gửi khi được phép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27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20"/>
            <a:ext cx="10652760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c_cons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40" y="1920240"/>
            <a:ext cx="10030358" cy="3959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61888"/>
            <a:ext cx="106527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Tệp khách đi qua cổng consent trước khi gửi; người chưa đồng ý bị loại và ghi log.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LƯU ĐỒ VẬN HÀNH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Journey: máy chạy ngày đêm theo kịch bản người vẽ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20"/>
            <a:ext cx="10652760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c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40" y="1920240"/>
            <a:ext cx="10030358" cy="3959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61888"/>
            <a:ext cx="106527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Trigger → điều kiện → hành động → chờ → lặp; kết thúc ghi funnel để đo rơi rụng.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LƯU ĐỒ VẬN HÀNH ·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Điểm thưởng đi qua bốn trạm — trạm nào cũng có biên lai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29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20"/>
            <a:ext cx="10652760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c_loyal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40" y="1920240"/>
            <a:ext cx="10030358" cy="3959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61888"/>
            <a:ext cx="106527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Điểm được khoá khi đổi thưởng, chỉ trừ khi giao dịch hoàn tất — huỷ thì hoàn đủ.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TRIỂN KHAI &amp; VẬN HÀNH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Bảy bước từ khảo sát đến go-live — bước nào cũng có đầu ra kiểm chứng được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30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20"/>
            <a:ext cx="10652760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c_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32339"/>
            <a:ext cx="10561320" cy="33351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61888"/>
            <a:ext cx="106527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Mỗi giai đoạn có cột mốc nghiệm thu; vòng phản hồi từ vận hành quay lại cải tiến.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KẾT LUẬN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Năm cơ chế khiến hệ thống này đáng tin — không phải khẩu hiệu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20240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20240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20240"/>
            <a:ext cx="34290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Chống trùng doanh thu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920240"/>
            <a:ext cx="7132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Mỗi giao dịch POS mang khoá duy nhất — gửi lại bao nhiêu lần cũng chỉ ghi nhận một lần.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88336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688336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688336"/>
            <a:ext cx="34290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Sổ kép loyalty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688336"/>
            <a:ext cx="7132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Mỗi điểm có bút toán đối ứng: không cộng trùng, quỹ không thể âm.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45643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456432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56432"/>
            <a:ext cx="34290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Cổng consent kỹ thuật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456432"/>
            <a:ext cx="7132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Chưa đồng ý thì máy chặn gửi — không phụ thuộc ý thức người chạy chiến dịch.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22452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224528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24528"/>
            <a:ext cx="34290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Chạm khách đúng một lần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224528"/>
            <a:ext cx="7132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Mỗi bước journey thực thi đúng một lần — lỗi hệ thống không gây spam.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99262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992624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92624"/>
            <a:ext cx="34290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Self-host tại Việt Nam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4992624"/>
            <a:ext cx="71323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Dữ liệu khách không rời hạ tầng OCH; không phí license theo sự kiện.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97880"/>
            <a:ext cx="11064240" cy="530352"/>
          </a:xfrm>
          <a:prstGeom prst="round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897880"/>
            <a:ext cx="1060704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Hệ thống đang chạy với dữ liệu thật — trải nghiệm tại </a:t>
            </a:r>
            <a:r>
              <a:rPr sz="1500" b="1" i="0">
                <a:solidFill>
                  <a:srgbClr val="2E2E40"/>
                </a:solidFill>
                <a:latin typeface="Calibri"/>
              </a:rPr>
              <a:t>och-aicdp.aipower.vn</a:t>
            </a:r>
            <a:r>
              <a:rPr sz="1250" b="0" i="0">
                <a:solidFill>
                  <a:srgbClr val="565564"/>
                </a:solidFill>
                <a:latin typeface="Calibri"/>
              </a:rPr>
              <a:t>  (admin / Och@2026)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2236" y="1499616"/>
            <a:ext cx="3384242" cy="340156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ch-tow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7100" y="1554480"/>
            <a:ext cx="3274514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45920"/>
            <a:ext cx="694944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2E2E40"/>
                </a:solidFill>
                <a:latin typeface="Georgia"/>
              </a:rPr>
              <a:t>Xin cảm 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67665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565564"/>
                </a:solidFill>
                <a:latin typeface="Calibri"/>
              </a:rPr>
              <a:t>OCH · Customer Data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383280"/>
            <a:ext cx="658368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20440"/>
            <a:ext cx="6126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Mời trải nghiệm trực tiếp hệ thống demo: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931920"/>
            <a:ext cx="61264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E2E40"/>
                </a:solidFill>
                <a:latin typeface="Calibri"/>
              </a:rPr>
              <a:t>https://och-aicdp.aipower.vn</a:t>
            </a:r>
            <a:r>
              <a:rPr sz="1200" b="0" i="0">
                <a:solidFill>
                  <a:srgbClr val="565564"/>
                </a:solidFill>
                <a:latin typeface="Calibri"/>
              </a:rPr>
              <a:t>    (tài khoản: admin / Och@2026)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029200"/>
            <a:ext cx="65836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39851"/>
                </a:solidFill>
                <a:latin typeface="Calibri"/>
              </a:rPr>
              <a:t>Phát triển bởi AIPOWER  ·  aipower.vn</a:t>
            </a:r>
          </a:p>
        </p:txBody>
      </p:sp>
      <p:pic>
        <p:nvPicPr>
          <p:cNvPr id="13" name="Picture 12" descr="aipow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623560"/>
            <a:ext cx="1463040" cy="6121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38160" y="0"/>
            <a:ext cx="4144975" cy="6858000"/>
          </a:xfrm>
          <a:prstGeom prst="rect">
            <a:avLst/>
          </a:prstGeom>
          <a:solidFill>
            <a:srgbClr val="E7D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· Tư liệu tham khảo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87168"/>
            <a:ext cx="9601200" cy="1463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 i="0">
                <a:solidFill>
                  <a:srgbClr val="2E2E40"/>
                </a:solidFill>
                <a:latin typeface="Georgia"/>
              </a:rPr>
              <a:t>PHỤ LỤC</a:t>
            </a:r>
          </a:p>
        </p:txBody>
      </p:sp>
      <p:sp>
        <p:nvSpPr>
          <p:cNvPr id="7" name="Rectangle 6"/>
          <p:cNvSpPr/>
          <p:nvPr/>
        </p:nvSpPr>
        <p:spPr>
          <a:xfrm>
            <a:off x="941832" y="4297680"/>
            <a:ext cx="21945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4526280"/>
            <a:ext cx="87782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65564"/>
                </a:solidFill>
                <a:latin typeface="Calibri"/>
              </a:rPr>
              <a:t>Thị trường CDP (số liệu &amp; nguồn), bảo mật tích hợp và nguồn tham khảo.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1/10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Thị trường CDP — Bối cảnh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20240"/>
            <a:ext cx="109728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E2E40"/>
                </a:solidFill>
                <a:latin typeface="Calibri"/>
              </a:rPr>
              <a:t>CDP là một trong những hạ tầng martech tăng trưởng nhanh nhất thế giới.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20040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20040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336499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822191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Tăng trưởng nhanh nhất martech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4133087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Nhu cầu hợp nhất dữ liệu khách hàng bùng nổ ở mọi ngành.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320040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320040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36499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822191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Động lực chính: dữ liệu phân mảnh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1416" y="4133087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Doanh nghiệp không có hồ sơ khách toàn diện — đúng bài toán OCH.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73567" y="320040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73567" y="320040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336499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3822191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AI thúc đẩy nhu cầu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4133087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Cá nhân hoá bằng AI cần một nền dữ liệu hợp nhất, sạch, realtime.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Tổng hợp Grand View Research, MarketsandMarkets, CDP Institute, Twilio Segment (2024–2025).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2/10 · SỐ LIỆU NHIỀU NGUỒN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Quy mô thị trường CDP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365760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34747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Nguồn nghiên cứu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24528" y="1874519"/>
            <a:ext cx="283464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1874519"/>
            <a:ext cx="26517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Hiện tại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59168" y="1874519"/>
            <a:ext cx="301752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0608" y="1874519"/>
            <a:ext cx="2834639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Dự báo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76688" y="1874519"/>
            <a:ext cx="155448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68128" y="1874519"/>
            <a:ext cx="13716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CAGR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377439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377439"/>
            <a:ext cx="343814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Grand View Research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24528" y="2377439"/>
            <a:ext cx="283464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4256" y="2377439"/>
            <a:ext cx="261518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8,26 tỷ USD (2025)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59168" y="2377439"/>
            <a:ext cx="301752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8896" y="2377439"/>
            <a:ext cx="2798063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58,41 tỷ USD (2033)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76688" y="2377439"/>
            <a:ext cx="155448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86415" y="2377439"/>
            <a:ext cx="133502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27,8%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127247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127247"/>
            <a:ext cx="343814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MarketsandMarkets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24528" y="3127247"/>
            <a:ext cx="283464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34256" y="3127247"/>
            <a:ext cx="261518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9,72 tỷ USD (2025)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59168" y="3127247"/>
            <a:ext cx="301752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68896" y="3127247"/>
            <a:ext cx="2798063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37,11 tỷ USD (2030)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76688" y="3127247"/>
            <a:ext cx="155448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86415" y="3127247"/>
            <a:ext cx="133502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30,7%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3877055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" y="3877055"/>
            <a:ext cx="343814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Fortune Business Insights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24528" y="3877055"/>
            <a:ext cx="283464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34256" y="3877055"/>
            <a:ext cx="261518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3,28 tỷ USD (2025)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59168" y="3877055"/>
            <a:ext cx="301752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68896" y="3877055"/>
            <a:ext cx="2798063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17,03 tỷ USD (2034)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76688" y="3877055"/>
            <a:ext cx="155448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86415" y="3877055"/>
            <a:ext cx="133502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19,6%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4626864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6656" y="4626864"/>
            <a:ext cx="343814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Data Bridge Market Research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24528" y="4626864"/>
            <a:ext cx="283464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34256" y="4626864"/>
            <a:ext cx="261518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8,34 tỷ USD (2024)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59168" y="4626864"/>
            <a:ext cx="301752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68896" y="4626864"/>
            <a:ext cx="2798063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85,18 tỷ USD (2032)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76688" y="4626864"/>
            <a:ext cx="155448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86415" y="4626864"/>
            <a:ext cx="133502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33,7%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5376671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6656" y="5376671"/>
            <a:ext cx="343814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CDP Institute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24528" y="5376671"/>
            <a:ext cx="283464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34256" y="5376671"/>
            <a:ext cx="261518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2,4 tỷ USD (2024)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59168" y="5376671"/>
            <a:ext cx="301752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68896" y="5376671"/>
            <a:ext cx="2798063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28,2 tỷ USD (2028)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76688" y="5376671"/>
            <a:ext cx="155448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186415" y="5376671"/>
            <a:ext cx="1335024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39,9%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9436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2E2E40"/>
                </a:solidFill>
                <a:latin typeface="Calibri"/>
              </a:rPr>
              <a:t>Khác biệt con số do phương pháp/định nghĩa khác nhau — nhưng MỌI nguồn đều tăng trưởng hai chữ số.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grandviewresearch.com · marketsandmarkets.com (Report 94223554) · fortunebusinessinsights.com · databridgemarketresearch.com · cdpinstitute.org (2024–2025).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3/10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Tốc độ tăng trưởng (CAGR)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36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1783080"/>
            <a:ext cx="10241280" cy="373075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ag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786" y="1828800"/>
            <a:ext cx="8099947" cy="36393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5550408"/>
            <a:ext cx="102412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CAGR dự báo theo từng hãng — tất cả đều ở mức hai chữ số (19,6%–39,9%).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98932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2E40"/>
                </a:solidFill>
                <a:latin typeface="Calibri"/>
              </a:rPr>
              <a:t>Thông điệp: </a:t>
            </a:r>
            <a:r>
              <a:rPr sz="1150" b="0" i="0">
                <a:solidFill>
                  <a:srgbClr val="1B1B2E"/>
                </a:solidFill>
                <a:latin typeface="Calibri"/>
              </a:rPr>
              <a:t>dù nguồn nào, CDP đều tăng trưởng hai chữ số mạnh mẽ — thị trường đang tăng tốc.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Grand View Research; MarketsandMarkets; Fortune Business Insights; Data Bridge Market Research; CDP Institute (2024–2025).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4/10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Quy mô thị trường — hiện tại vs dự báo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37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1783080"/>
            <a:ext cx="10241280" cy="373075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rket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819" y="1828800"/>
            <a:ext cx="8427880" cy="36393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5550408"/>
            <a:ext cx="102412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Quy mô CDP (tỷ USD): hiện tại (2024–25) so với dự báo, theo từng nguồn.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grandviewresearch.com · marketsandmarkets.com · fortunebusinessinsights.com · databridgemarketresearch.com · cdpinstitute.org.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5/10 · GARTNER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Mức độ ứng dụng CDP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240280"/>
            <a:ext cx="347472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C39851"/>
                </a:solidFill>
                <a:latin typeface="Georgia"/>
              </a:rPr>
              <a:t>41%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3200400"/>
            <a:ext cx="301752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doanh nghiệp ĐÃ triển khai CDP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201168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201168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2240280"/>
            <a:ext cx="347472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C39851"/>
                </a:solidFill>
                <a:latin typeface="Georgia"/>
              </a:rPr>
              <a:t>36%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3200400"/>
            <a:ext cx="301752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đang cân nhắc triển khai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73567" y="201168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73567" y="201168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73567" y="2240280"/>
            <a:ext cx="347472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C39851"/>
                </a:solidFill>
                <a:latin typeface="Georgia"/>
              </a:rPr>
              <a:t>22%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7" y="3200400"/>
            <a:ext cx="301752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marketer tận dụng CDP ở mức cao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389120"/>
            <a:ext cx="11064240" cy="1280160"/>
          </a:xfrm>
          <a:prstGeom prst="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389120"/>
            <a:ext cx="10607040" cy="12801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Khoảng trống “triển khai nhưng chưa tận dụng”: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nhiều doanh nghiệp đã có CDP nhưng chưa khai thác hết. Lợi thế thuộc về nơi biến dữ liệu thành HÀNH ĐỘNG — đúng định hướng AI hành động của AICDP cho OCH.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Gartner — khảo sát ứng dụng CDP 2024.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6/10 · STATISTA / CDP INSTITUTE 06-2024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Ngành CDP &amp; nhà cung cấp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10972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194 nhà cung cấp CDP trên toàn cầu</a:t>
            </a:r>
            <a:r>
              <a:rPr sz="1300" b="0" i="0">
                <a:solidFill>
                  <a:srgbClr val="565564"/>
                </a:solidFill>
                <a:latin typeface="Calibri"/>
              </a:rPr>
              <a:t>  (+5% so với 12-2023)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14600"/>
            <a:ext cx="5394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THEO QUỐC GIA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92608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92608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Hoa Kỳ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92608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89 vendor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70332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70332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70332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Anh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70332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14 vendor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48056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48056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48056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Ấn Độ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448056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13 vendor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514600"/>
            <a:ext cx="5303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PHÂN LOẠI THEO CHỨC NĂNG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92608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292608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292608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Campaign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92608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34%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70332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370332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370332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Delivery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370332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33%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448056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9360" y="448056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4480560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Analytics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4480560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18%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Statista / CDP Institute — Industry Update, tháng 06-2024.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7/10 · TWILIO SEGMENT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Nỗi đau #1 — Dữ liệu phân mảnh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5257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525780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286000"/>
            <a:ext cx="525780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C39851"/>
                </a:solidFill>
                <a:latin typeface="Georgia"/>
              </a:rPr>
              <a:t>16%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520440"/>
            <a:ext cx="45262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thương hiệu “hoàn toàn đồng ý” CÓ ĐỦ dữ liệu để hiểu khách hàng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9048" y="2011680"/>
            <a:ext cx="5257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9048" y="2011680"/>
            <a:ext cx="525780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9048" y="2286000"/>
            <a:ext cx="525780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C39851"/>
                </a:solidFill>
                <a:latin typeface="Georgia"/>
              </a:rPr>
              <a:t>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3520440"/>
            <a:ext cx="45262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“hoàn toàn đồng ý” có HỒ SƠ khách hàng toàn diện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709160"/>
            <a:ext cx="110642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Hơn 80% thương hiệu THIẾU nền dữ liệu khách hàng toàn diện — đây chính là rào cản lớn nhất, và là lý do CDP tồn tại.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Twilio Segment — The State of Personalization 2024 (segment.com/state-of-personalization-report).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8/10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Giá trị của cá nhân hoá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534924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77440"/>
            <a:ext cx="5349240" cy="11887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600" b="1" i="0">
                <a:solidFill>
                  <a:srgbClr val="C39851"/>
                </a:solidFill>
                <a:latin typeface="Georgia"/>
              </a:rPr>
              <a:t>+54%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94760"/>
            <a:ext cx="466344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khách chi nhiều hơn trung bình khi được cá nhân hoá bằng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011680"/>
            <a:ext cx="534924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2377440"/>
            <a:ext cx="5349240" cy="11887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600" b="1" i="0">
                <a:solidFill>
                  <a:srgbClr val="2E2E40"/>
                </a:solidFill>
                <a:latin typeface="Georgia"/>
              </a:rPr>
              <a:t>72%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94760"/>
            <a:ext cx="466344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người tiêu dùng KỲ VỌNG được trải nghiệm cá nhân hoá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Twilio Segment — State of Personalization 2024 (+54%); McKinsey &amp; Company (72%, dẫn qua báo cáo Twilio).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9/10 · TWILIO SEGMENT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Xu hướng — AI &amp; cá nhân hoá dự đoán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103120"/>
            <a:ext cx="34747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10312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468880"/>
            <a:ext cx="347472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C39851"/>
                </a:solidFill>
                <a:latin typeface="Georgia"/>
              </a:rPr>
              <a:t>7/10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794760"/>
            <a:ext cx="29260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doanh nghiệp đã dùng AI để cá nhân hoá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2103120"/>
            <a:ext cx="34747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210312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2468880"/>
            <a:ext cx="347472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C39851"/>
                </a:solidFill>
                <a:latin typeface="Georgia"/>
              </a:rPr>
              <a:t>86%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794760"/>
            <a:ext cx="29260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kỳ vọng chuyển từ cá nhân hoá phản ứng → DỰ ĐOÁN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73567" y="2103120"/>
            <a:ext cx="34747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73567" y="210312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73567" y="2468880"/>
            <a:ext cx="347472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C39851"/>
                </a:solidFill>
                <a:latin typeface="Georgia"/>
              </a:rPr>
              <a:t>89%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3794760"/>
            <a:ext cx="29260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tin dùng AI có đạo đức là lợi thế cạnh tranh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Twilio Segment — The State of Personalization 2024 (twilio.com · segment.com).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10/10 · KẾT PHẦN THỊ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Hàm ý cho OCH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6596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Thị trường bùng nổ + dữ liệu phân mảnh là rào cản #1 → OCH nên đi trước.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10896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10896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32735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7307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Thị trường tăng tốc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4041648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CDP tăng trưởng hai chữ số — đi trước là lợi thế cạnh tranh.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310896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310896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735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7307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Rào cản là dữ liệu phân mảnh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1416" y="4041648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Đúng bài toán OCH đang gặp — CDP giải quyết tận gốc.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73567" y="310896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73567" y="310896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32735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37307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OCH đi trước với AICDP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4041648"/>
            <a:ext cx="3118103" cy="12435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Self-host tại VN, may đo F&amp;B + Khách sạn, AI hành động.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Tổng hợp các nguồn ở trên (2024–2025).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KỸ THUẬT · GIAO THỨC &amp; AN TOÀN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Chuẩn kết nối &amp; bảo mật tích hợp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874519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03911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49631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REST/HTTP API + SDK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0720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Kết nối chuẩn cho web, app, server — dễ tích hợp mọi hệ thống.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874519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874519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203911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1416" y="249631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Webhook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280720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Nguồn chủ động “gọi” hệ thống khi có sự kiện — realtime, ít độ trễ.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73567" y="1874519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7" y="1874519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6" y="203911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249631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API key theo vai trò (RBAC)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280720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Mỗi kết nối có khoá riêng, quyền hạn theo vai trò — kiểm soát chặt ai làm gì.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023360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4023360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41879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46451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Cổng consent (deny-by-default)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95604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Ở khâu kích hoạt: chưa đồng ý thì KHÔNG gửi — mặc định an toàn.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70248" y="4023360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0248" y="4023360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71416" y="41879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🚫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1416" y="46451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Idempotency chống trùng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71416" y="495604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Khoá giao dịch duy nhất — gửi lại nhiều lần chỉ ghi nhận một lần.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73567" y="4023360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73567" y="4023360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74736" y="4187952"/>
            <a:ext cx="327355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🇻🇳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74736" y="4645152"/>
            <a:ext cx="3163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Residency dữ liệu tại VN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74736" y="4956048"/>
            <a:ext cx="3118103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Dữ liệu lưu &amp; xử lý trong nước — chủ quyền và tuân thủ pháp lý.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TRÍCH DẪN ĐẦY ĐỦ · MINH BẠCH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Nguồn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65960"/>
            <a:ext cx="11064240" cy="4206240"/>
          </a:xfrm>
          <a:prstGeom prst="rect">
            <a:avLst/>
          </a:prstGeom>
          <a:noFill/>
        </p:spPr>
        <p:txBody>
          <a:bodyPr wrap="square" lIns="25400" rIns="25400" tIns="2540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Grand View Research — Customer Data Platform Market: grandviewresearch.com/industry-analysis/customer-data-platform-market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MarketsandMarkets — Customer Data Platform Market (Report 94223554): marketsandmarkets.com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Fortune Business Insights — Customer Data Platform Market: fortunebusinessinsights.com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Data Bridge Market Research — Customer Data Platform Market: databridgemarketresearch.com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CDP Institute — Industry Update / Member Report 2024: cdpinstitute.org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Statista — Customer Data Platform vendors: statista.com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Gartner — Khảo sát ứng dụng CDP 2024: gartner.com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Twilio Segment — The State of Personalization 2024: segment.com/state-of-personalization-report · twilio.com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McKinsey &amp; Company — Next in Personalization (72%, dẫn qua báo cáo Twilio).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65564"/>
                </a:solidFill>
                <a:latin typeface="Calibri"/>
              </a:rPr>
              <a:t>Lưu ý: con số thị trường lấy nguyên từ các hãng nghiên cứu; số liệu đối thủ trong bảng so sánh chỉ nêu định tính, không suy diễn con số.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