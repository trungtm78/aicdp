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och-hero.jpg"/>
          <p:cNvPicPr>
            <a:picLocks noChangeAspect="1"/>
          </p:cNvPicPr>
          <p:nvPr/>
        </p:nvPicPr>
        <p:blipFill>
          <a:blip r:embed="rId2"/>
          <a:stretch>
            <a:fillRect/>
          </a:stretch>
        </p:blipFill>
        <p:spPr>
          <a:xfrm>
            <a:off x="0" y="-3882"/>
            <a:ext cx="12191695" cy="6865766"/>
          </a:xfrm>
          <a:prstGeom prst="rect">
            <a:avLst/>
          </a:prstGeom>
        </p:spPr>
      </p:pic>
      <p:sp>
        <p:nvSpPr>
          <p:cNvPr id="4" name="Rectangle 3"/>
          <p:cNvSpPr/>
          <p:nvPr/>
        </p:nvSpPr>
        <p:spPr>
          <a:xfrm>
            <a:off x="-54864" y="-54864"/>
            <a:ext cx="12301423" cy="6967728"/>
          </a:xfrm>
          <a:prstGeom prst="rect">
            <a:avLst/>
          </a:prstGeom>
          <a:solidFill>
            <a:srgbClr val="2E2E40">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74320"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7315200" cy="11887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8400" b="1" i="0">
                <a:solidFill>
                  <a:srgbClr val="FFFFFF"/>
                </a:solidFill>
                <a:latin typeface="Georgia"/>
              </a:rPr>
              <a:t>OCH</a:t>
            </a:r>
          </a:p>
        </p:txBody>
      </p:sp>
      <p:sp>
        <p:nvSpPr>
          <p:cNvPr id="7" name="Rectangle 6"/>
          <p:cNvSpPr/>
          <p:nvPr/>
        </p:nvSpPr>
        <p:spPr>
          <a:xfrm>
            <a:off x="987552" y="2670048"/>
            <a:ext cx="2743200" cy="457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61488"/>
            <a:ext cx="7315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O N E   C A P I T A L   H O S P I T A L I T Y</a:t>
            </a:r>
          </a:p>
        </p:txBody>
      </p:sp>
      <p:sp>
        <p:nvSpPr>
          <p:cNvPr id="9" name="TextBox 8"/>
          <p:cNvSpPr txBox="1"/>
          <p:nvPr/>
        </p:nvSpPr>
        <p:spPr>
          <a:xfrm>
            <a:off x="960120" y="3429000"/>
            <a:ext cx="10058400" cy="7315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400" b="1" i="0">
                <a:solidFill>
                  <a:srgbClr val="FFFFFF"/>
                </a:solidFill>
                <a:latin typeface="Georgia"/>
              </a:rPr>
              <a:t>CUSTOMER DATA PLATFORM</a:t>
            </a:r>
          </a:p>
        </p:txBody>
      </p:sp>
      <p:sp>
        <p:nvSpPr>
          <p:cNvPr id="10" name="TextBox 9"/>
          <p:cNvSpPr txBox="1"/>
          <p:nvPr/>
        </p:nvSpPr>
        <p:spPr>
          <a:xfrm>
            <a:off x="987552" y="4206240"/>
            <a:ext cx="9692640" cy="82296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600" b="0" i="1">
                <a:solidFill>
                  <a:srgbClr val="DDDBE6"/>
                </a:solidFill>
                <a:latin typeface="Calibri"/>
              </a:rPr>
              <a:t>Nền tảng Dữ liệu Khách hàng hợp nhất cho hệ sinh thái đa thương hiệu</a:t>
            </a:r>
          </a:p>
        </p:txBody>
      </p:sp>
      <p:sp>
        <p:nvSpPr>
          <p:cNvPr id="11" name="TextBox 10"/>
          <p:cNvSpPr txBox="1"/>
          <p:nvPr/>
        </p:nvSpPr>
        <p:spPr>
          <a:xfrm>
            <a:off x="960120" y="5806440"/>
            <a:ext cx="36576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0" i="0">
                <a:solidFill>
                  <a:srgbClr val="B9B7C4"/>
                </a:solidFill>
                <a:latin typeface="Calibri"/>
              </a:rPr>
              <a:t>Được phát triển bởi</a:t>
            </a:r>
          </a:p>
        </p:txBody>
      </p:sp>
      <p:pic>
        <p:nvPicPr>
          <p:cNvPr id="12" name="Picture 11" descr="aipower-logo.png"/>
          <p:cNvPicPr>
            <a:picLocks noChangeAspect="1"/>
          </p:cNvPicPr>
          <p:nvPr/>
        </p:nvPicPr>
        <p:blipFill>
          <a:blip r:embed="rId3"/>
          <a:stretch>
            <a:fillRect/>
          </a:stretch>
        </p:blipFill>
        <p:spPr>
          <a:xfrm>
            <a:off x="3063240" y="5623560"/>
            <a:ext cx="1554480" cy="650417"/>
          </a:xfrm>
          <a:prstGeom prst="rect">
            <a:avLst/>
          </a:prstGeom>
        </p:spPr>
      </p:pic>
      <p:sp>
        <p:nvSpPr>
          <p:cNvPr id="13" name="TextBox 12"/>
          <p:cNvSpPr txBox="1"/>
          <p:nvPr/>
        </p:nvSpPr>
        <p:spPr>
          <a:xfrm>
            <a:off x="8778240" y="6309360"/>
            <a:ext cx="2926080" cy="365760"/>
          </a:xfrm>
          <a:prstGeom prst="rect">
            <a:avLst/>
          </a:prstGeom>
          <a:noFill/>
        </p:spPr>
        <p:txBody>
          <a:bodyPr wrap="square" anchor="t" lIns="25400" rIns="25400" tIns="12700" bIns="12700">
            <a:spAutoFit/>
          </a:bodyPr>
          <a:lstStyle/>
          <a:p>
            <a:pPr algn="r">
              <a:lnSpc>
                <a:spcPct val="100000"/>
              </a:lnSpc>
              <a:spcBef>
                <a:spcPts val="0"/>
              </a:spcBef>
              <a:spcAft>
                <a:spcPts val="400"/>
              </a:spcAft>
            </a:pPr>
            <a:r>
              <a:rPr sz="1000" b="0" i="0">
                <a:solidFill>
                  <a:srgbClr val="9E9CAB"/>
                </a:solidFill>
                <a:latin typeface="Calibri"/>
              </a:rPr>
              <a:t>Tài liệu giới thiệu hệ thống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BỐI CẢNH DOANH NGHIỆP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OCH — Tập đoàn dịch vụ đa thương hiệu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a:t>
            </a:r>
          </a:p>
        </p:txBody>
      </p:sp>
      <p:sp>
        <p:nvSpPr>
          <p:cNvPr id="8" name="TextBox 7"/>
          <p:cNvSpPr txBox="1"/>
          <p:nvPr/>
        </p:nvSpPr>
        <p:spPr>
          <a:xfrm>
            <a:off x="566928" y="1783080"/>
            <a:ext cx="11064240" cy="4572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400" b="0" i="0">
                <a:solidFill>
                  <a:srgbClr val="1B1B2E"/>
                </a:solidFill>
                <a:latin typeface="Calibri"/>
              </a:rPr>
              <a:t>One Capital Hospitality vận hành hai nhóm ngành lớn với tệp khách hàng khổng lồ và chồng lấn:</a:t>
            </a:r>
          </a:p>
        </p:txBody>
      </p:sp>
      <p:sp>
        <p:nvSpPr>
          <p:cNvPr id="9" name="Rectangle 8"/>
          <p:cNvSpPr/>
          <p:nvPr/>
        </p:nvSpPr>
        <p:spPr>
          <a:xfrm>
            <a:off x="566928" y="2423160"/>
            <a:ext cx="5394960" cy="26974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423160"/>
            <a:ext cx="539496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423160"/>
            <a:ext cx="51206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FFFFFF"/>
                </a:solidFill>
                <a:latin typeface="Calibri"/>
              </a:rPr>
              <a:t>🍰  Thực phẩm &amp; Đồ uống (F&amp;B)</a:t>
            </a:r>
          </a:p>
        </p:txBody>
      </p:sp>
      <p:sp>
        <p:nvSpPr>
          <p:cNvPr id="12" name="TextBox 11"/>
          <p:cNvSpPr txBox="1"/>
          <p:nvPr/>
        </p:nvSpPr>
        <p:spPr>
          <a:xfrm>
            <a:off x="777240" y="3063240"/>
            <a:ext cx="5029200" cy="1920240"/>
          </a:xfrm>
          <a:prstGeom prst="rect">
            <a:avLst/>
          </a:prstGeom>
          <a:noFill/>
        </p:spPr>
        <p:txBody>
          <a:bodyPr wrap="square" lIns="25400" rIns="25400" tIns="25400">
            <a:spAutoFit/>
          </a:bodyPr>
          <a:lstStyle/>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Givral</a:t>
            </a:r>
            <a:r>
              <a:rPr sz="1350">
                <a:solidFill>
                  <a:srgbClr val="1B1B2E"/>
                </a:solidFill>
                <a:latin typeface="Calibri"/>
              </a:rPr>
              <a:t> — thương hiệu bánh cao cấp Sài Gòn từ 1950</a:t>
            </a:r>
          </a:p>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Kem Tràng Tiền</a:t>
            </a:r>
            <a:r>
              <a:rPr sz="1350">
                <a:solidFill>
                  <a:srgbClr val="1B1B2E"/>
                </a:solidFill>
                <a:latin typeface="Calibri"/>
              </a:rPr>
              <a:t> — biểu tượng Hà Nội từ 1958</a:t>
            </a:r>
          </a:p>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Fuji</a:t>
            </a:r>
            <a:r>
              <a:rPr sz="1350">
                <a:solidFill>
                  <a:srgbClr val="1B1B2E"/>
                </a:solidFill>
                <a:latin typeface="Calibri"/>
              </a:rPr>
              <a:t> — chuỗi thực phẩm &amp; sản phẩm tươi</a:t>
            </a:r>
          </a:p>
        </p:txBody>
      </p:sp>
      <p:sp>
        <p:nvSpPr>
          <p:cNvPr id="13" name="Rectangle 12"/>
          <p:cNvSpPr/>
          <p:nvPr/>
        </p:nvSpPr>
        <p:spPr>
          <a:xfrm>
            <a:off x="6236208" y="2423160"/>
            <a:ext cx="5394960" cy="26974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6208" y="2423160"/>
            <a:ext cx="539496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423160"/>
            <a:ext cx="51206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FFFFFF"/>
                </a:solidFill>
                <a:latin typeface="Calibri"/>
              </a:rPr>
              <a:t>🏨  Khách sạn &amp; Nghỉ dưỡng</a:t>
            </a:r>
          </a:p>
        </p:txBody>
      </p:sp>
      <p:sp>
        <p:nvSpPr>
          <p:cNvPr id="16" name="TextBox 15"/>
          <p:cNvSpPr txBox="1"/>
          <p:nvPr/>
        </p:nvSpPr>
        <p:spPr>
          <a:xfrm>
            <a:off x="6446520" y="3063240"/>
            <a:ext cx="5029200" cy="1920240"/>
          </a:xfrm>
          <a:prstGeom prst="rect">
            <a:avLst/>
          </a:prstGeom>
          <a:noFill/>
        </p:spPr>
        <p:txBody>
          <a:bodyPr wrap="square" lIns="25400" rIns="25400" tIns="25400">
            <a:spAutoFit/>
          </a:bodyPr>
          <a:lstStyle/>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Sunrise Nha Trang</a:t>
            </a:r>
            <a:r>
              <a:rPr sz="1350">
                <a:solidFill>
                  <a:srgbClr val="1B1B2E"/>
                </a:solidFill>
                <a:latin typeface="Calibri"/>
              </a:rPr>
              <a:t> — resort biển 5 sao</a:t>
            </a:r>
          </a:p>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StarCity Nha Trang</a:t>
            </a:r>
            <a:r>
              <a:rPr sz="1350">
                <a:solidFill>
                  <a:srgbClr val="1B1B2E"/>
                </a:solidFill>
                <a:latin typeface="Calibri"/>
              </a:rPr>
              <a:t> — khách sạn trung tâm biển</a:t>
            </a:r>
          </a:p>
          <a:p>
            <a:pPr>
              <a:lnSpc>
                <a:spcPct val="105000"/>
              </a:lnSpc>
              <a:spcBef>
                <a:spcPts val="0"/>
              </a:spcBef>
              <a:spcAft>
                <a:spcPts val="1100"/>
              </a:spcAft>
            </a:pPr>
            <a:r>
              <a:rPr sz="1150" b="1">
                <a:solidFill>
                  <a:srgbClr val="C39851"/>
                </a:solidFill>
                <a:latin typeface="Calibri"/>
              </a:rPr>
              <a:t>●  </a:t>
            </a:r>
            <a:r>
              <a:rPr sz="1350" b="1">
                <a:solidFill>
                  <a:srgbClr val="2E2E40"/>
                </a:solidFill>
                <a:latin typeface="Calibri"/>
              </a:rPr>
              <a:t>Dusit Le Palais Tú Hoa</a:t>
            </a:r>
            <a:r>
              <a:rPr sz="1350">
                <a:solidFill>
                  <a:srgbClr val="1B1B2E"/>
                </a:solidFill>
                <a:latin typeface="Calibri"/>
              </a:rPr>
              <a:t> — khách sạn cao cấp Hà Nội</a:t>
            </a:r>
          </a:p>
        </p:txBody>
      </p:sp>
      <p:sp>
        <p:nvSpPr>
          <p:cNvPr id="17" name="Rounded Rectangle 16"/>
          <p:cNvSpPr/>
          <p:nvPr/>
        </p:nvSpPr>
        <p:spPr>
          <a:xfrm>
            <a:off x="566928" y="5349240"/>
            <a:ext cx="11064240" cy="86868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349240"/>
            <a:ext cx="10607040" cy="86868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2E2E40"/>
                </a:solidFill>
                <a:latin typeface="Calibri"/>
              </a:rPr>
              <a:t>Bài toán cốt lõi: </a:t>
            </a:r>
            <a:r>
              <a:rPr sz="1400" b="0" i="0">
                <a:solidFill>
                  <a:srgbClr val="1B1B2E"/>
                </a:solidFill>
                <a:latin typeface="Calibri"/>
              </a:rPr>
              <a:t>cùng một khách hàng nhưng lại </a:t>
            </a:r>
            <a:r>
              <a:rPr sz="1400" b="1" i="0">
                <a:solidFill>
                  <a:srgbClr val="B3372F"/>
                </a:solidFill>
                <a:latin typeface="Calibri"/>
              </a:rPr>
              <a:t>phân mảnh</a:t>
            </a:r>
            <a:r>
              <a:rPr sz="1400" b="0" i="0">
                <a:solidFill>
                  <a:srgbClr val="1B1B2E"/>
                </a:solidFill>
                <a:latin typeface="Calibri"/>
              </a:rPr>
              <a:t> giữa các thương hiệu — mỗi nơi chỉ thấy một mảnh, không ai thấy bức tranh toàn cảnh.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VÌ SAO OCH CẦN MỘT CDP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Bài toán kinh doanh hôm nay</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a:t>
            </a:r>
          </a:p>
        </p:txBody>
      </p:sp>
      <p:sp>
        <p:nvSpPr>
          <p:cNvPr id="8" name="Rectangle 7"/>
          <p:cNvSpPr/>
          <p:nvPr/>
        </p:nvSpPr>
        <p:spPr>
          <a:xfrm>
            <a:off x="566928"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Khách hàng bị chia nhỏ</a:t>
            </a:r>
          </a:p>
        </p:txBody>
      </p:sp>
      <p:sp>
        <p:nvSpPr>
          <p:cNvPr id="12" name="TextBox 11"/>
          <p:cNvSpPr txBox="1"/>
          <p:nvPr/>
        </p:nvSpPr>
        <p:spPr>
          <a:xfrm>
            <a:off x="7680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Một khách ăn bánh Givral, nghỉ Sunrise, mua kem Tràng Tiền — nhưng hệ thống xem là 3 người xa lạ.</a:t>
            </a:r>
          </a:p>
        </p:txBody>
      </p:sp>
      <p:sp>
        <p:nvSpPr>
          <p:cNvPr id="13" name="Rectangle 12"/>
          <p:cNvSpPr/>
          <p:nvPr/>
        </p:nvSpPr>
        <p:spPr>
          <a:xfrm>
            <a:off x="4224528"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56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256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Không nhận ra khách VIP tổng thể</a:t>
            </a:r>
          </a:p>
        </p:txBody>
      </p:sp>
      <p:sp>
        <p:nvSpPr>
          <p:cNvPr id="17" name="TextBox 16"/>
          <p:cNvSpPr txBox="1"/>
          <p:nvPr/>
        </p:nvSpPr>
        <p:spPr>
          <a:xfrm>
            <a:off x="44256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Khách chi tiêu lớn trên toàn tập đoàn không được nhận diện, dễ mất vào tay đối thủ.</a:t>
            </a:r>
          </a:p>
        </p:txBody>
      </p:sp>
      <p:sp>
        <p:nvSpPr>
          <p:cNvPr id="18" name="Rectangle 17"/>
          <p:cNvSpPr/>
          <p:nvPr/>
        </p:nvSpPr>
        <p:spPr>
          <a:xfrm>
            <a:off x="7882127"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82127"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0832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Marketing rời rạc, chồng chéo</a:t>
            </a:r>
          </a:p>
        </p:txBody>
      </p:sp>
      <p:sp>
        <p:nvSpPr>
          <p:cNvPr id="22" name="TextBox 21"/>
          <p:cNvSpPr txBox="1"/>
          <p:nvPr/>
        </p:nvSpPr>
        <p:spPr>
          <a:xfrm>
            <a:off x="80832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Mỗi thương hiệu gửi khuyến mãi riêng, không phối hợp — vừa tốn tiền vừa làm phiền khách.</a:t>
            </a:r>
          </a:p>
        </p:txBody>
      </p:sp>
      <p:sp>
        <p:nvSpPr>
          <p:cNvPr id="23" name="Rectangle 22"/>
          <p:cNvSpPr/>
          <p:nvPr/>
        </p:nvSpPr>
        <p:spPr>
          <a:xfrm>
            <a:off x="566928"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Bỏ lỡ bán chéo F&amp;B ↔ Khách sạn</a:t>
            </a:r>
          </a:p>
        </p:txBody>
      </p:sp>
      <p:sp>
        <p:nvSpPr>
          <p:cNvPr id="27" name="TextBox 26"/>
          <p:cNvSpPr txBox="1"/>
          <p:nvPr/>
        </p:nvSpPr>
        <p:spPr>
          <a:xfrm>
            <a:off x="7680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Khách nghỉ khách sạn chưa từng được mời dùng F&amp;B và ngược lại — doanh thu bỏ ngỏ.</a:t>
            </a:r>
          </a:p>
        </p:txBody>
      </p:sp>
      <p:sp>
        <p:nvSpPr>
          <p:cNvPr id="28" name="Rectangle 27"/>
          <p:cNvSpPr/>
          <p:nvPr/>
        </p:nvSpPr>
        <p:spPr>
          <a:xfrm>
            <a:off x="4224528"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24528"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256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Ra quyết định thiếu dữ liệu</a:t>
            </a:r>
          </a:p>
        </p:txBody>
      </p:sp>
      <p:sp>
        <p:nvSpPr>
          <p:cNvPr id="32" name="TextBox 31"/>
          <p:cNvSpPr txBox="1"/>
          <p:nvPr/>
        </p:nvSpPr>
        <p:spPr>
          <a:xfrm>
            <a:off x="44256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Lãnh đạo không có một bức tranh khách hàng thống nhất, realtime để điều hành.</a:t>
            </a:r>
          </a:p>
        </p:txBody>
      </p:sp>
      <p:sp>
        <p:nvSpPr>
          <p:cNvPr id="33" name="Rectangle 32"/>
          <p:cNvSpPr/>
          <p:nvPr/>
        </p:nvSpPr>
        <p:spPr>
          <a:xfrm>
            <a:off x="7882127"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82127"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832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0832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Rủi ro tuân thủ &amp; quyền riêng tư</a:t>
            </a:r>
          </a:p>
        </p:txBody>
      </p:sp>
      <p:sp>
        <p:nvSpPr>
          <p:cNvPr id="37" name="TextBox 36"/>
          <p:cNvSpPr txBox="1"/>
          <p:nvPr/>
        </p:nvSpPr>
        <p:spPr>
          <a:xfrm>
            <a:off x="80832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Không quản trị đồng ý (consent) tập trung khi luật dữ liệu ngày càng chặt.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CUSTOMER DATA PLATFORM</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CDP là gì? — Nói một cách đời thường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a:t>
            </a:r>
          </a:p>
        </p:txBody>
      </p:sp>
      <p:sp>
        <p:nvSpPr>
          <p:cNvPr id="8" name="Rectangle 7"/>
          <p:cNvSpPr/>
          <p:nvPr/>
        </p:nvSpPr>
        <p:spPr>
          <a:xfrm>
            <a:off x="566928" y="1874519"/>
            <a:ext cx="11064240" cy="123444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82296" cy="12344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74519"/>
            <a:ext cx="10332720" cy="1234440"/>
          </a:xfrm>
          <a:prstGeom prst="rect">
            <a:avLst/>
          </a:prstGeom>
          <a:noFill/>
        </p:spPr>
        <p:txBody>
          <a:bodyPr wrap="square" anchor="ctr" lIns="25400" rIns="25400" tIns="12700" bIns="12700">
            <a:spAutoFit/>
          </a:bodyPr>
          <a:lstStyle/>
          <a:p>
            <a:pPr algn="l">
              <a:lnSpc>
                <a:spcPct val="112000"/>
              </a:lnSpc>
              <a:spcBef>
                <a:spcPts val="0"/>
              </a:spcBef>
              <a:spcAft>
                <a:spcPts val="400"/>
              </a:spcAft>
            </a:pPr>
            <a:r>
              <a:rPr sz="2000" b="1" i="0">
                <a:solidFill>
                  <a:srgbClr val="FFFFFF"/>
                </a:solidFill>
                <a:latin typeface="Georgia"/>
              </a:rPr>
              <a:t>CDP là “bộ não dữ liệu khách hàng”</a:t>
            </a:r>
          </a:p>
          <a:p>
            <a:pPr algn="l">
              <a:lnSpc>
                <a:spcPct val="112000"/>
              </a:lnSpc>
              <a:spcBef>
                <a:spcPts val="0"/>
              </a:spcBef>
              <a:spcAft>
                <a:spcPts val="400"/>
              </a:spcAft>
            </a:pPr>
            <a:r>
              <a:rPr sz="1350" b="0" i="0">
                <a:solidFill>
                  <a:srgbClr val="DDDBE6"/>
                </a:solidFill>
                <a:latin typeface="Calibri"/>
              </a:rPr>
              <a:t>Nó thu gom mọi điểm chạm của khách — mua bánh, đặt phòng, mở email, nhắn Zalo — rồi hợp nhất thành MỘT hồ sơ 360° duy nhất cho mỗi người.</a:t>
            </a:r>
          </a:p>
        </p:txBody>
      </p:sp>
      <p:sp>
        <p:nvSpPr>
          <p:cNvPr id="11" name="TextBox 10"/>
          <p:cNvSpPr txBox="1"/>
          <p:nvPr/>
        </p:nvSpPr>
        <p:spPr>
          <a:xfrm>
            <a:off x="566928" y="338328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Ba việc CDP làm liên tục:</a:t>
            </a:r>
          </a:p>
        </p:txBody>
      </p:sp>
      <p:sp>
        <p:nvSpPr>
          <p:cNvPr id="12" name="Rectangle 11"/>
          <p:cNvSpPr/>
          <p:nvPr/>
        </p:nvSpPr>
        <p:spPr>
          <a:xfrm>
            <a:off x="566928" y="384048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84048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0050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5" name="TextBox 14"/>
          <p:cNvSpPr txBox="1"/>
          <p:nvPr/>
        </p:nvSpPr>
        <p:spPr>
          <a:xfrm>
            <a:off x="768096" y="44622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2E2E40"/>
                </a:solidFill>
                <a:latin typeface="Calibri"/>
              </a:rPr>
              <a:t>1 · Thu gom</a:t>
            </a:r>
          </a:p>
        </p:txBody>
      </p:sp>
      <p:sp>
        <p:nvSpPr>
          <p:cNvPr id="16" name="TextBox 15"/>
          <p:cNvSpPr txBox="1"/>
          <p:nvPr/>
        </p:nvSpPr>
        <p:spPr>
          <a:xfrm>
            <a:off x="768096" y="4846320"/>
            <a:ext cx="3118103" cy="1170432"/>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Kết nối POS, khách sạn, web, app, CSKH — mọi dữ liệu chảy về một chỗ, realtime và theo lô.</a:t>
            </a:r>
          </a:p>
        </p:txBody>
      </p:sp>
      <p:sp>
        <p:nvSpPr>
          <p:cNvPr id="17" name="Rectangle 16"/>
          <p:cNvSpPr/>
          <p:nvPr/>
        </p:nvSpPr>
        <p:spPr>
          <a:xfrm>
            <a:off x="4270248" y="384048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0248" y="384048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40050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0" name="TextBox 19"/>
          <p:cNvSpPr txBox="1"/>
          <p:nvPr/>
        </p:nvSpPr>
        <p:spPr>
          <a:xfrm>
            <a:off x="4471416" y="44622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2E2E40"/>
                </a:solidFill>
                <a:latin typeface="Calibri"/>
              </a:rPr>
              <a:t>2 · Hợp nhất</a:t>
            </a:r>
          </a:p>
        </p:txBody>
      </p:sp>
      <p:sp>
        <p:nvSpPr>
          <p:cNvPr id="21" name="TextBox 20"/>
          <p:cNvSpPr txBox="1"/>
          <p:nvPr/>
        </p:nvSpPr>
        <p:spPr>
          <a:xfrm>
            <a:off x="4471416" y="4846320"/>
            <a:ext cx="3118103" cy="1170432"/>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Ghép các mảnh rời rạc của cùng một người thành một hồ sơ 360° thống nhất (OCH ID).</a:t>
            </a:r>
          </a:p>
        </p:txBody>
      </p:sp>
      <p:sp>
        <p:nvSpPr>
          <p:cNvPr id="22" name="Rectangle 21"/>
          <p:cNvSpPr/>
          <p:nvPr/>
        </p:nvSpPr>
        <p:spPr>
          <a:xfrm>
            <a:off x="7973567" y="384048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3567" y="384048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74736" y="40050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5" name="TextBox 24"/>
          <p:cNvSpPr txBox="1"/>
          <p:nvPr/>
        </p:nvSpPr>
        <p:spPr>
          <a:xfrm>
            <a:off x="8174736" y="44622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2E2E40"/>
                </a:solidFill>
                <a:latin typeface="Calibri"/>
              </a:rPr>
              <a:t>3 · Kích hoạt</a:t>
            </a:r>
          </a:p>
        </p:txBody>
      </p:sp>
      <p:sp>
        <p:nvSpPr>
          <p:cNvPr id="26" name="TextBox 25"/>
          <p:cNvSpPr txBox="1"/>
          <p:nvPr/>
        </p:nvSpPr>
        <p:spPr>
          <a:xfrm>
            <a:off x="8174736" y="4846320"/>
            <a:ext cx="3118103" cy="1170432"/>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Đưa hiểu biết đó ra hành động: phân khúc, cá nhân hoá, gửi đúng người – đúng lúc – đúng kênh.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KẾT QUẢ KINH DOANH, KHÔNG PHẢI CÔNG NGHỆ</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Giá trị OCH nhận được</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a:t>
            </a:r>
          </a:p>
        </p:txBody>
      </p:sp>
      <p:sp>
        <p:nvSpPr>
          <p:cNvPr id="8" name="Rectangle 7"/>
          <p:cNvSpPr/>
          <p:nvPr/>
        </p:nvSpPr>
        <p:spPr>
          <a:xfrm>
            <a:off x="566928"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Một OCH ID duy nhất</a:t>
            </a:r>
          </a:p>
        </p:txBody>
      </p:sp>
      <p:sp>
        <p:nvSpPr>
          <p:cNvPr id="12" name="TextBox 11"/>
          <p:cNvSpPr txBox="1"/>
          <p:nvPr/>
        </p:nvSpPr>
        <p:spPr>
          <a:xfrm>
            <a:off x="7680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Mỗi khách chỉ còn một mã định danh hợp nhất xuyên mọi thương hiệu.</a:t>
            </a:r>
          </a:p>
        </p:txBody>
      </p:sp>
      <p:sp>
        <p:nvSpPr>
          <p:cNvPr id="13" name="Rectangle 12"/>
          <p:cNvSpPr/>
          <p:nvPr/>
        </p:nvSpPr>
        <p:spPr>
          <a:xfrm>
            <a:off x="4224528"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56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256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Loyalty hợp nhất</a:t>
            </a:r>
          </a:p>
        </p:txBody>
      </p:sp>
      <p:sp>
        <p:nvSpPr>
          <p:cNvPr id="17" name="TextBox 16"/>
          <p:cNvSpPr txBox="1"/>
          <p:nvPr/>
        </p:nvSpPr>
        <p:spPr>
          <a:xfrm>
            <a:off x="44256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Tích &amp; đổi điểm dùng chung — khách gắn bó với cả hệ sinh thái OCH.</a:t>
            </a:r>
          </a:p>
        </p:txBody>
      </p:sp>
      <p:sp>
        <p:nvSpPr>
          <p:cNvPr id="18" name="Rectangle 17"/>
          <p:cNvSpPr/>
          <p:nvPr/>
        </p:nvSpPr>
        <p:spPr>
          <a:xfrm>
            <a:off x="7882127" y="182880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82127" y="182880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19933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083296" y="245059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Marketing tự động cá nhân hoá</a:t>
            </a:r>
          </a:p>
        </p:txBody>
      </p:sp>
      <p:sp>
        <p:nvSpPr>
          <p:cNvPr id="22" name="TextBox 21"/>
          <p:cNvSpPr txBox="1"/>
          <p:nvPr/>
        </p:nvSpPr>
        <p:spPr>
          <a:xfrm>
            <a:off x="8083296" y="2761488"/>
            <a:ext cx="3118103" cy="10149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Kịch bản chăm sóc chạy tự động, đúng người đúng lúc, giảm chi phí.</a:t>
            </a:r>
          </a:p>
        </p:txBody>
      </p:sp>
      <p:sp>
        <p:nvSpPr>
          <p:cNvPr id="23" name="Rectangle 22"/>
          <p:cNvSpPr/>
          <p:nvPr/>
        </p:nvSpPr>
        <p:spPr>
          <a:xfrm>
            <a:off x="566928"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AI bán chéo</a:t>
            </a:r>
          </a:p>
        </p:txBody>
      </p:sp>
      <p:sp>
        <p:nvSpPr>
          <p:cNvPr id="27" name="TextBox 26"/>
          <p:cNvSpPr txBox="1"/>
          <p:nvPr/>
        </p:nvSpPr>
        <p:spPr>
          <a:xfrm>
            <a:off x="7680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Gợi ý F&amp;B cho khách khách sạn và ngược lại — tăng doanh thu/khách.</a:t>
            </a:r>
          </a:p>
        </p:txBody>
      </p:sp>
      <p:sp>
        <p:nvSpPr>
          <p:cNvPr id="28" name="Rectangle 27"/>
          <p:cNvSpPr/>
          <p:nvPr/>
        </p:nvSpPr>
        <p:spPr>
          <a:xfrm>
            <a:off x="4224528"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24528"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256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Dữ liệu tại Việt Nam</a:t>
            </a:r>
          </a:p>
        </p:txBody>
      </p:sp>
      <p:sp>
        <p:nvSpPr>
          <p:cNvPr id="32" name="TextBox 31"/>
          <p:cNvSpPr txBox="1"/>
          <p:nvPr/>
        </p:nvSpPr>
        <p:spPr>
          <a:xfrm>
            <a:off x="44256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Tự chủ hạ tầng (self-host), chủ quyền dữ liệu, tuân thủ pháp lý.</a:t>
            </a:r>
          </a:p>
        </p:txBody>
      </p:sp>
      <p:sp>
        <p:nvSpPr>
          <p:cNvPr id="33" name="Rectangle 32"/>
          <p:cNvSpPr/>
          <p:nvPr/>
        </p:nvSpPr>
        <p:spPr>
          <a:xfrm>
            <a:off x="7882127" y="4069080"/>
            <a:ext cx="3474720" cy="20574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82127" y="4069080"/>
            <a:ext cx="64008" cy="20574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832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0832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Điều hành bằng dữ liệu</a:t>
            </a:r>
          </a:p>
        </p:txBody>
      </p:sp>
      <p:sp>
        <p:nvSpPr>
          <p:cNvPr id="37" name="TextBox 36"/>
          <p:cNvSpPr txBox="1"/>
          <p:nvPr/>
        </p:nvSpPr>
        <p:spPr>
          <a:xfrm>
            <a:off x="8083296" y="5001768"/>
            <a:ext cx="3118103" cy="10149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Bảng điều khiển realtime toàn tập đoàn cho lãnh đạo.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TỪ DỮ LIỆU RỜI RẠC ĐẾN HÀNH ĐỘNG KINH DOANH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Bức tranh tổng thể</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6</a:t>
            </a:r>
          </a:p>
        </p:txBody>
      </p:sp>
      <p:sp>
        <p:nvSpPr>
          <p:cNvPr id="8" name="TextBox 7"/>
          <p:cNvSpPr txBox="1"/>
          <p:nvPr/>
        </p:nvSpPr>
        <p:spPr>
          <a:xfrm>
            <a:off x="566928" y="1783080"/>
            <a:ext cx="274320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NGUỒN DỮ LIỆU</a:t>
            </a:r>
          </a:p>
        </p:txBody>
      </p:sp>
      <p:sp>
        <p:nvSpPr>
          <p:cNvPr id="9" name="Rectangle 8"/>
          <p:cNvSpPr/>
          <p:nvPr/>
        </p:nvSpPr>
        <p:spPr>
          <a:xfrm>
            <a:off x="566928" y="2148840"/>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48840"/>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POS F&amp;B (Givral, KTT, Fuji)</a:t>
            </a:r>
          </a:p>
        </p:txBody>
      </p:sp>
      <p:sp>
        <p:nvSpPr>
          <p:cNvPr id="11" name="Rectangle 10"/>
          <p:cNvSpPr/>
          <p:nvPr/>
        </p:nvSpPr>
        <p:spPr>
          <a:xfrm>
            <a:off x="566928" y="2807208"/>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807208"/>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PMS Khách sạn (Sunrise, StarCity, Dusit)</a:t>
            </a:r>
          </a:p>
        </p:txBody>
      </p:sp>
      <p:sp>
        <p:nvSpPr>
          <p:cNvPr id="13" name="Rectangle 12"/>
          <p:cNvSpPr/>
          <p:nvPr/>
        </p:nvSpPr>
        <p:spPr>
          <a:xfrm>
            <a:off x="566928" y="3465576"/>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65576"/>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Website / Ứng dụng / E-commerce</a:t>
            </a:r>
          </a:p>
        </p:txBody>
      </p:sp>
      <p:sp>
        <p:nvSpPr>
          <p:cNvPr id="15" name="Rectangle 14"/>
          <p:cNvSpPr/>
          <p:nvPr/>
        </p:nvSpPr>
        <p:spPr>
          <a:xfrm>
            <a:off x="566928" y="4123944"/>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123944"/>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Chăm sóc khách hàng (CSKH)</a:t>
            </a:r>
          </a:p>
        </p:txBody>
      </p:sp>
      <p:sp>
        <p:nvSpPr>
          <p:cNvPr id="17" name="Right Arrow 16"/>
          <p:cNvSpPr/>
          <p:nvPr/>
        </p:nvSpPr>
        <p:spPr>
          <a:xfrm>
            <a:off x="3456432" y="3154680"/>
            <a:ext cx="50292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69080" y="1965960"/>
            <a:ext cx="4069080" cy="333756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69080" y="1965960"/>
            <a:ext cx="4069080" cy="502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69080" y="1965960"/>
            <a:ext cx="406908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2E2E40"/>
                </a:solidFill>
                <a:latin typeface="Calibri"/>
              </a:rPr>
              <a:t>BỘ NÃO CDP</a:t>
            </a:r>
          </a:p>
        </p:txBody>
      </p:sp>
      <p:sp>
        <p:nvSpPr>
          <p:cNvPr id="21" name="Rounded Rectangle 20"/>
          <p:cNvSpPr/>
          <p:nvPr/>
        </p:nvSpPr>
        <p:spPr>
          <a:xfrm>
            <a:off x="4315968" y="2651760"/>
            <a:ext cx="3566160" cy="502920"/>
          </a:xfrm>
          <a:prstGeom prst="roundRect">
            <a:avLst/>
          </a:prstGeom>
          <a:solidFill>
            <a:srgbClr val="3D3D54"/>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651760"/>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① Hợp nhất định danh</a:t>
            </a:r>
          </a:p>
        </p:txBody>
      </p:sp>
      <p:sp>
        <p:nvSpPr>
          <p:cNvPr id="23" name="Rounded Rectangle 22"/>
          <p:cNvSpPr/>
          <p:nvPr/>
        </p:nvSpPr>
        <p:spPr>
          <a:xfrm>
            <a:off x="4315968" y="3273552"/>
            <a:ext cx="3566160" cy="502920"/>
          </a:xfrm>
          <a:prstGeom prst="roundRect">
            <a:avLst/>
          </a:prstGeom>
          <a:solidFill>
            <a:srgbClr val="3D3D54"/>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15968" y="3273552"/>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② Hồ sơ 360°</a:t>
            </a:r>
          </a:p>
        </p:txBody>
      </p:sp>
      <p:sp>
        <p:nvSpPr>
          <p:cNvPr id="25" name="Rounded Rectangle 24"/>
          <p:cNvSpPr/>
          <p:nvPr/>
        </p:nvSpPr>
        <p:spPr>
          <a:xfrm>
            <a:off x="4315968" y="3895344"/>
            <a:ext cx="3566160" cy="502920"/>
          </a:xfrm>
          <a:prstGeom prst="roundRect">
            <a:avLst/>
          </a:prstGeom>
          <a:solidFill>
            <a:srgbClr val="3D3D54"/>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3895344"/>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③ Phân khúc (Segment)</a:t>
            </a:r>
          </a:p>
        </p:txBody>
      </p:sp>
      <p:sp>
        <p:nvSpPr>
          <p:cNvPr id="27" name="Rounded Rectangle 26"/>
          <p:cNvSpPr/>
          <p:nvPr/>
        </p:nvSpPr>
        <p:spPr>
          <a:xfrm>
            <a:off x="4315968" y="4517136"/>
            <a:ext cx="3566160" cy="502920"/>
          </a:xfrm>
          <a:prstGeom prst="roundRect">
            <a:avLst/>
          </a:prstGeom>
          <a:solidFill>
            <a:srgbClr val="3D3D54"/>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15968" y="4517136"/>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④ Kích hoạt (Activation)</a:t>
            </a:r>
          </a:p>
        </p:txBody>
      </p:sp>
      <p:sp>
        <p:nvSpPr>
          <p:cNvPr id="29" name="Right Arrow 28"/>
          <p:cNvSpPr/>
          <p:nvPr/>
        </p:nvSpPr>
        <p:spPr>
          <a:xfrm>
            <a:off x="8211312" y="3154680"/>
            <a:ext cx="50292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3960" y="1783080"/>
            <a:ext cx="292608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KÊNH KÍCH HOẠT</a:t>
            </a:r>
          </a:p>
        </p:txBody>
      </p:sp>
      <p:sp>
        <p:nvSpPr>
          <p:cNvPr id="31" name="Rectangle 30"/>
          <p:cNvSpPr/>
          <p:nvPr/>
        </p:nvSpPr>
        <p:spPr>
          <a:xfrm>
            <a:off x="8823960" y="2148840"/>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2148840"/>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Email / SMS</a:t>
            </a:r>
          </a:p>
        </p:txBody>
      </p:sp>
      <p:sp>
        <p:nvSpPr>
          <p:cNvPr id="33" name="Rectangle 32"/>
          <p:cNvSpPr/>
          <p:nvPr/>
        </p:nvSpPr>
        <p:spPr>
          <a:xfrm>
            <a:off x="8823960" y="2807208"/>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2807208"/>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Zalo ZNS</a:t>
            </a:r>
          </a:p>
        </p:txBody>
      </p:sp>
      <p:sp>
        <p:nvSpPr>
          <p:cNvPr id="35" name="Rectangle 34"/>
          <p:cNvSpPr/>
          <p:nvPr/>
        </p:nvSpPr>
        <p:spPr>
          <a:xfrm>
            <a:off x="8823960" y="3465576"/>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42832" y="3465576"/>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Quảng cáo Google / Meta</a:t>
            </a:r>
          </a:p>
        </p:txBody>
      </p:sp>
      <p:sp>
        <p:nvSpPr>
          <p:cNvPr id="37" name="Rectangle 36"/>
          <p:cNvSpPr/>
          <p:nvPr/>
        </p:nvSpPr>
        <p:spPr>
          <a:xfrm>
            <a:off x="8823960" y="4123944"/>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42832" y="4123944"/>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BI / Kho dữ liệu</a:t>
            </a:r>
          </a:p>
        </p:txBody>
      </p:sp>
      <p:sp>
        <p:nvSpPr>
          <p:cNvPr id="39" name="Rounded Rectangle 38"/>
          <p:cNvSpPr/>
          <p:nvPr/>
        </p:nvSpPr>
        <p:spPr>
          <a:xfrm>
            <a:off x="566928" y="5532120"/>
            <a:ext cx="1106424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532120"/>
            <a:ext cx="106070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250" b="1" i="0">
                <a:solidFill>
                  <a:srgbClr val="2E2E40"/>
                </a:solidFill>
                <a:latin typeface="Calibri"/>
              </a:rPr>
              <a:t>Đọc như câu chuyện: </a:t>
            </a:r>
            <a:r>
              <a:rPr sz="1250" b="0" i="0">
                <a:solidFill>
                  <a:srgbClr val="1B1B2E"/>
                </a:solidFill>
                <a:latin typeface="Calibri"/>
              </a:rPr>
              <a:t>dữ liệu rời rạc từ mọi thương hiệu → được hợp nhất thành hồ sơ khách 360° → chia thành nhóm khách → gửi đúng thông điệp ra đúng kênh.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CDP LÀ TRUNG TÂM — KẾT NỐI VÀO VÀ RA</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Mô hình kết nối &amp; tích hợp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7</a:t>
            </a:r>
          </a:p>
        </p:txBody>
      </p:sp>
      <p:sp>
        <p:nvSpPr>
          <p:cNvPr id="8" name="TextBox 7"/>
          <p:cNvSpPr txBox="1"/>
          <p:nvPr/>
        </p:nvSpPr>
        <p:spPr>
          <a:xfrm>
            <a:off x="566928" y="1737360"/>
            <a:ext cx="3291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INBOUND · Đưa dữ liệu VÀO</a:t>
            </a:r>
          </a:p>
        </p:txBody>
      </p:sp>
      <p:sp>
        <p:nvSpPr>
          <p:cNvPr id="9" name="Rectangle 8"/>
          <p:cNvSpPr/>
          <p:nvPr/>
        </p:nvSpPr>
        <p:spPr>
          <a:xfrm>
            <a:off x="566928" y="2103120"/>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POS F&amp;B — Givral · KTT · Fuji</a:t>
            </a:r>
          </a:p>
        </p:txBody>
      </p:sp>
      <p:sp>
        <p:nvSpPr>
          <p:cNvPr id="11" name="Rectangle 10"/>
          <p:cNvSpPr/>
          <p:nvPr/>
        </p:nvSpPr>
        <p:spPr>
          <a:xfrm>
            <a:off x="566928" y="2816352"/>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816352"/>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PMS Khách sạn — Sunrise · StarCity · Dusit</a:t>
            </a:r>
          </a:p>
        </p:txBody>
      </p:sp>
      <p:sp>
        <p:nvSpPr>
          <p:cNvPr id="13" name="Rectangle 12"/>
          <p:cNvSpPr/>
          <p:nvPr/>
        </p:nvSpPr>
        <p:spPr>
          <a:xfrm>
            <a:off x="566928" y="3529584"/>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529584"/>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Web · App · E-commerce</a:t>
            </a:r>
          </a:p>
        </p:txBody>
      </p:sp>
      <p:sp>
        <p:nvSpPr>
          <p:cNvPr id="15" name="Rectangle 14"/>
          <p:cNvSpPr/>
          <p:nvPr/>
        </p:nvSpPr>
        <p:spPr>
          <a:xfrm>
            <a:off x="566928" y="4242816"/>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42816"/>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Form đăng ký · CSKH · Call center</a:t>
            </a:r>
          </a:p>
        </p:txBody>
      </p:sp>
      <p:sp>
        <p:nvSpPr>
          <p:cNvPr id="17" name="Right Arrow 16"/>
          <p:cNvSpPr/>
          <p:nvPr/>
        </p:nvSpPr>
        <p:spPr>
          <a:xfrm>
            <a:off x="3931920" y="3063240"/>
            <a:ext cx="45720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331720"/>
            <a:ext cx="3154680" cy="246888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2514600"/>
            <a:ext cx="3154680" cy="91440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3000" b="1" i="0">
                <a:solidFill>
                  <a:srgbClr val="FFFFFF"/>
                </a:solidFill>
                <a:latin typeface="Georgia"/>
              </a:rPr>
              <a:t>OCH</a:t>
            </a:r>
          </a:p>
          <a:p>
            <a:pPr algn="ctr">
              <a:lnSpc>
                <a:spcPct val="90000"/>
              </a:lnSpc>
              <a:spcBef>
                <a:spcPts val="0"/>
              </a:spcBef>
              <a:spcAft>
                <a:spcPts val="400"/>
              </a:spcAft>
            </a:pPr>
            <a:r>
              <a:rPr sz="2000" b="1" i="0">
                <a:solidFill>
                  <a:srgbClr val="C39851"/>
                </a:solidFill>
                <a:latin typeface="Georgia"/>
              </a:rPr>
              <a:t>CDP</a:t>
            </a:r>
          </a:p>
        </p:txBody>
      </p:sp>
      <p:sp>
        <p:nvSpPr>
          <p:cNvPr id="20" name="TextBox 19"/>
          <p:cNvSpPr txBox="1"/>
          <p:nvPr/>
        </p:nvSpPr>
        <p:spPr>
          <a:xfrm>
            <a:off x="4663440" y="3977639"/>
            <a:ext cx="288036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0" i="0">
                <a:solidFill>
                  <a:srgbClr val="D8D6E0"/>
                </a:solidFill>
                <a:latin typeface="Calibri"/>
              </a:rPr>
              <a:t>Hợp nhất · Hồ sơ 360° · Phân khúc · Kích hoạt</a:t>
            </a:r>
          </a:p>
        </p:txBody>
      </p:sp>
      <p:sp>
        <p:nvSpPr>
          <p:cNvPr id="21" name="Right Arrow 20"/>
          <p:cNvSpPr/>
          <p:nvPr/>
        </p:nvSpPr>
        <p:spPr>
          <a:xfrm>
            <a:off x="7772400" y="3063240"/>
            <a:ext cx="45720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737360"/>
            <a:ext cx="3291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OUTBOUND · Đưa dữ liệu RA</a:t>
            </a:r>
          </a:p>
        </p:txBody>
      </p:sp>
      <p:sp>
        <p:nvSpPr>
          <p:cNvPr id="23" name="Rectangle 22"/>
          <p:cNvSpPr/>
          <p:nvPr/>
        </p:nvSpPr>
        <p:spPr>
          <a:xfrm>
            <a:off x="8366760" y="2103120"/>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2103120"/>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Email · SMS</a:t>
            </a:r>
          </a:p>
        </p:txBody>
      </p:sp>
      <p:sp>
        <p:nvSpPr>
          <p:cNvPr id="25" name="Rectangle 24"/>
          <p:cNvSpPr/>
          <p:nvPr/>
        </p:nvSpPr>
        <p:spPr>
          <a:xfrm>
            <a:off x="8366760" y="2816352"/>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85632" y="2816352"/>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Zalo ZNS (kênh Việt Nam)</a:t>
            </a:r>
          </a:p>
        </p:txBody>
      </p:sp>
      <p:sp>
        <p:nvSpPr>
          <p:cNvPr id="27" name="Rectangle 26"/>
          <p:cNvSpPr/>
          <p:nvPr/>
        </p:nvSpPr>
        <p:spPr>
          <a:xfrm>
            <a:off x="8366760" y="3529584"/>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5632" y="3529584"/>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Quảng cáo Google · Meta</a:t>
            </a:r>
          </a:p>
        </p:txBody>
      </p:sp>
      <p:sp>
        <p:nvSpPr>
          <p:cNvPr id="29" name="Rectangle 28"/>
          <p:cNvSpPr/>
          <p:nvPr/>
        </p:nvSpPr>
        <p:spPr>
          <a:xfrm>
            <a:off x="8366760" y="4242816"/>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85632" y="4242816"/>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Kho dữ liệu · BI · Loyalty/CRM</a:t>
            </a:r>
          </a:p>
        </p:txBody>
      </p:sp>
      <p:sp>
        <p:nvSpPr>
          <p:cNvPr id="31" name="Rectangle 30"/>
          <p:cNvSpPr/>
          <p:nvPr/>
        </p:nvSpPr>
        <p:spPr>
          <a:xfrm>
            <a:off x="566928" y="5440680"/>
            <a:ext cx="11064240" cy="8686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440680"/>
            <a:ext cx="82296"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440680"/>
            <a:ext cx="10607040" cy="86868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200" b="1" i="0">
                <a:solidFill>
                  <a:srgbClr val="2E2E40"/>
                </a:solidFill>
                <a:latin typeface="Calibri"/>
              </a:rPr>
              <a:t>Hai chế độ kết nối: </a:t>
            </a:r>
            <a:r>
              <a:rPr sz="1200" b="0" i="0">
                <a:solidFill>
                  <a:srgbClr val="1B1B2E"/>
                </a:solidFill>
                <a:latin typeface="Calibri"/>
              </a:rPr>
              <a:t>realtime (tức thời khi có giao dịch) và theo lô (đồng bộ định kỳ). </a:t>
            </a:r>
            <a:r>
              <a:rPr sz="1200" b="1" i="0">
                <a:solidFill>
                  <a:srgbClr val="2F7D5B"/>
                </a:solidFill>
                <a:latin typeface="Calibri"/>
              </a:rPr>
              <a:t>Cổng đồng ý (consent) </a:t>
            </a:r>
            <a:r>
              <a:rPr sz="1200" b="0" i="0">
                <a:solidFill>
                  <a:srgbClr val="1B1B2E"/>
                </a:solidFill>
                <a:latin typeface="Calibri"/>
              </a:rPr>
              <a:t>đặt ở khâu KÍCH HOẠT: dữ liệu luôn được thu nhận đầy đủ, nhưng chỉ khách đã đồng ý mới được nhắm tới khi gửi đi.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TỔNG QUAN NỀN TẢNG OCH CDP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11 không gian làm việc (workspace)</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8</a:t>
            </a:r>
          </a:p>
        </p:txBody>
      </p:sp>
      <p:sp>
        <p:nvSpPr>
          <p:cNvPr id="8" name="Rectangle 7"/>
          <p:cNvSpPr/>
          <p:nvPr/>
        </p:nvSpPr>
        <p:spPr>
          <a:xfrm>
            <a:off x="566928"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Control Tower</a:t>
            </a:r>
          </a:p>
        </p:txBody>
      </p:sp>
      <p:sp>
        <p:nvSpPr>
          <p:cNvPr id="11" name="TextBox 10"/>
          <p:cNvSpPr txBox="1"/>
          <p:nvPr/>
        </p:nvSpPr>
        <p:spPr>
          <a:xfrm>
            <a:off x="713232"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Bảng điều khiển realtime toàn tập đoàn</a:t>
            </a:r>
          </a:p>
        </p:txBody>
      </p:sp>
      <p:sp>
        <p:nvSpPr>
          <p:cNvPr id="12" name="Rectangle 11"/>
          <p:cNvSpPr/>
          <p:nvPr/>
        </p:nvSpPr>
        <p:spPr>
          <a:xfrm>
            <a:off x="3410712"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10712"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728"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Customer 360</a:t>
            </a:r>
          </a:p>
        </p:txBody>
      </p:sp>
      <p:sp>
        <p:nvSpPr>
          <p:cNvPr id="15" name="TextBox 14"/>
          <p:cNvSpPr txBox="1"/>
          <p:nvPr/>
        </p:nvSpPr>
        <p:spPr>
          <a:xfrm>
            <a:off x="3557016"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Hồ sơ khách hàng 360° hợp nhất</a:t>
            </a:r>
          </a:p>
        </p:txBody>
      </p:sp>
      <p:sp>
        <p:nvSpPr>
          <p:cNvPr id="16" name="Rectangle 15"/>
          <p:cNvSpPr/>
          <p:nvPr/>
        </p:nvSpPr>
        <p:spPr>
          <a:xfrm>
            <a:off x="6254496"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4496"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Loyalty</a:t>
            </a:r>
          </a:p>
        </p:txBody>
      </p:sp>
      <p:sp>
        <p:nvSpPr>
          <p:cNvPr id="19" name="TextBox 18"/>
          <p:cNvSpPr txBox="1"/>
          <p:nvPr/>
        </p:nvSpPr>
        <p:spPr>
          <a:xfrm>
            <a:off x="6400800"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Tích/đổi điểm xuyên thương hiệu</a:t>
            </a:r>
          </a:p>
        </p:txBody>
      </p:sp>
      <p:sp>
        <p:nvSpPr>
          <p:cNvPr id="20" name="Rectangle 19"/>
          <p:cNvSpPr/>
          <p:nvPr/>
        </p:nvSpPr>
        <p:spPr>
          <a:xfrm>
            <a:off x="9098280"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Data Ops</a:t>
            </a:r>
          </a:p>
        </p:txBody>
      </p:sp>
      <p:sp>
        <p:nvSpPr>
          <p:cNvPr id="23" name="TextBox 22"/>
          <p:cNvSpPr txBox="1"/>
          <p:nvPr/>
        </p:nvSpPr>
        <p:spPr>
          <a:xfrm>
            <a:off x="9244584"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Quản trị dữ liệu chủ (thương hiệu/cửa hàng/SP)</a:t>
            </a:r>
          </a:p>
        </p:txBody>
      </p:sp>
      <p:sp>
        <p:nvSpPr>
          <p:cNvPr id="24" name="Rectangle 23"/>
          <p:cNvSpPr/>
          <p:nvPr/>
        </p:nvSpPr>
        <p:spPr>
          <a:xfrm>
            <a:off x="566928"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4944"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Phân tích chuyên sâu</a:t>
            </a:r>
          </a:p>
        </p:txBody>
      </p:sp>
      <p:sp>
        <p:nvSpPr>
          <p:cNvPr id="27" name="TextBox 26"/>
          <p:cNvSpPr txBox="1"/>
          <p:nvPr/>
        </p:nvSpPr>
        <p:spPr>
          <a:xfrm>
            <a:off x="713232"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Doanh thu, vòng đời, synergy</a:t>
            </a:r>
          </a:p>
        </p:txBody>
      </p:sp>
      <p:sp>
        <p:nvSpPr>
          <p:cNvPr id="28" name="Rectangle 27"/>
          <p:cNvSpPr/>
          <p:nvPr/>
        </p:nvSpPr>
        <p:spPr>
          <a:xfrm>
            <a:off x="3410712"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10712"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Audiences</a:t>
            </a:r>
          </a:p>
        </p:txBody>
      </p:sp>
      <p:sp>
        <p:nvSpPr>
          <p:cNvPr id="31" name="TextBox 30"/>
          <p:cNvSpPr txBox="1"/>
          <p:nvPr/>
        </p:nvSpPr>
        <p:spPr>
          <a:xfrm>
            <a:off x="3557016"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Tạo tệp khách theo tiêu chí</a:t>
            </a:r>
          </a:p>
        </p:txBody>
      </p:sp>
      <p:sp>
        <p:nvSpPr>
          <p:cNvPr id="32" name="Rectangle 31"/>
          <p:cNvSpPr/>
          <p:nvPr/>
        </p:nvSpPr>
        <p:spPr>
          <a:xfrm>
            <a:off x="6254496"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54496"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82512"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Journeys</a:t>
            </a:r>
          </a:p>
        </p:txBody>
      </p:sp>
      <p:sp>
        <p:nvSpPr>
          <p:cNvPr id="35" name="TextBox 34"/>
          <p:cNvSpPr txBox="1"/>
          <p:nvPr/>
        </p:nvSpPr>
        <p:spPr>
          <a:xfrm>
            <a:off x="6400800"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Hành trình chăm sóc tự động</a:t>
            </a:r>
          </a:p>
        </p:txBody>
      </p:sp>
      <p:sp>
        <p:nvSpPr>
          <p:cNvPr id="36" name="Rectangle 35"/>
          <p:cNvSpPr/>
          <p:nvPr/>
        </p:nvSpPr>
        <p:spPr>
          <a:xfrm>
            <a:off x="9098280"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98280"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26296"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Trợ lý AI</a:t>
            </a:r>
          </a:p>
        </p:txBody>
      </p:sp>
      <p:sp>
        <p:nvSpPr>
          <p:cNvPr id="39" name="TextBox 38"/>
          <p:cNvSpPr txBox="1"/>
          <p:nvPr/>
        </p:nvSpPr>
        <p:spPr>
          <a:xfrm>
            <a:off x="9244584"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Hỏi đáp dữ liệu bằng ngôn ngữ tự nhiên</a:t>
            </a:r>
          </a:p>
        </p:txBody>
      </p:sp>
      <p:sp>
        <p:nvSpPr>
          <p:cNvPr id="40" name="Rectangle 39"/>
          <p:cNvSpPr/>
          <p:nvPr/>
        </p:nvSpPr>
        <p:spPr>
          <a:xfrm>
            <a:off x="566928"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944"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AI &amp; Governance</a:t>
            </a:r>
          </a:p>
        </p:txBody>
      </p:sp>
      <p:sp>
        <p:nvSpPr>
          <p:cNvPr id="43" name="TextBox 42"/>
          <p:cNvSpPr txBox="1"/>
          <p:nvPr/>
        </p:nvSpPr>
        <p:spPr>
          <a:xfrm>
            <a:off x="713232"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Quản trị &amp; audit tham số AI</a:t>
            </a:r>
          </a:p>
        </p:txBody>
      </p:sp>
      <p:sp>
        <p:nvSpPr>
          <p:cNvPr id="44" name="Rectangle 43"/>
          <p:cNvSpPr/>
          <p:nvPr/>
        </p:nvSpPr>
        <p:spPr>
          <a:xfrm>
            <a:off x="3410712"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10712"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38728"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Governance (Consent)</a:t>
            </a:r>
          </a:p>
        </p:txBody>
      </p:sp>
      <p:sp>
        <p:nvSpPr>
          <p:cNvPr id="47" name="TextBox 46"/>
          <p:cNvSpPr txBox="1"/>
          <p:nvPr/>
        </p:nvSpPr>
        <p:spPr>
          <a:xfrm>
            <a:off x="3557016"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Đồng ý &amp; quyền riêng tư</a:t>
            </a:r>
          </a:p>
        </p:txBody>
      </p:sp>
      <p:sp>
        <p:nvSpPr>
          <p:cNvPr id="48" name="Rectangle 47"/>
          <p:cNvSpPr/>
          <p:nvPr/>
        </p:nvSpPr>
        <p:spPr>
          <a:xfrm>
            <a:off x="6254496"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54496"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82512"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Platform</a:t>
            </a:r>
          </a:p>
        </p:txBody>
      </p:sp>
      <p:sp>
        <p:nvSpPr>
          <p:cNvPr id="51" name="TextBox 50"/>
          <p:cNvSpPr txBox="1"/>
          <p:nvPr/>
        </p:nvSpPr>
        <p:spPr>
          <a:xfrm>
            <a:off x="6400800"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Người dùng, phân quyền, API key</a:t>
            </a:r>
          </a:p>
        </p:txBody>
      </p:sp>
      <p:sp>
        <p:nvSpPr>
          <p:cNvPr id="52" name="Rectangle 51"/>
          <p:cNvSpPr/>
          <p:nvPr/>
        </p:nvSpPr>
        <p:spPr>
          <a:xfrm>
            <a:off x="9098280" y="4764023"/>
            <a:ext cx="2697480" cy="129844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226296" y="4764023"/>
            <a:ext cx="2441448" cy="12984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0" i="0">
                <a:solidFill>
                  <a:srgbClr val="FFFFFF"/>
                </a:solidFill>
                <a:latin typeface="Calibri"/>
              </a:rPr>
              <a:t>Một nền tảng —</a:t>
            </a:r>
          </a:p>
          <a:p>
            <a:pPr algn="ctr">
              <a:lnSpc>
                <a:spcPct val="100000"/>
              </a:lnSpc>
              <a:spcBef>
                <a:spcPts val="0"/>
              </a:spcBef>
              <a:spcAft>
                <a:spcPts val="400"/>
              </a:spcAft>
            </a:pPr>
            <a:r>
              <a:rPr sz="1700" b="1" i="0">
                <a:solidFill>
                  <a:srgbClr val="C39851"/>
                </a:solidFill>
                <a:latin typeface="Georgia"/>
              </a:rPr>
              <a:t>11 workspace</a:t>
            </a:r>
          </a:p>
          <a:p>
            <a:pPr algn="ctr">
              <a:lnSpc>
                <a:spcPct val="100000"/>
              </a:lnSpc>
              <a:spcBef>
                <a:spcPts val="0"/>
              </a:spcBef>
              <a:spcAft>
                <a:spcPts val="400"/>
              </a:spcAft>
            </a:pPr>
            <a:r>
              <a:rPr sz="1200" b="0" i="0">
                <a:solidFill>
                  <a:srgbClr val="FFFFFF"/>
                </a:solidFill>
                <a:latin typeface="Calibri"/>
              </a:rPr>
              <a:t>cho mọi vai trò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I</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Đi sâu vào từng năng lực</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Từ Control Tower đến Customer 360, Loyalty, Journeys và Trợ lý AI — cùng ảnh màn hình thật của hệ thống đang vận hành.</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CONTROL TOWER</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Control Tower — Trung tâm điều hành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10</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Mục đích</a:t>
            </a:r>
            <a:r>
              <a:rPr sz="1350">
                <a:solidFill>
                  <a:srgbClr val="1B1B2E"/>
                </a:solidFill>
                <a:latin typeface="Calibri"/>
              </a:rPr>
              <a:t> — bảng điều khiển realtime toàn tập đoàn — sức khoẻ dữ liệu, doanh thu, khách hàng trong một màn hình.</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Cách dùng</a:t>
            </a:r>
            <a:r>
              <a:rPr sz="1350">
                <a:solidFill>
                  <a:srgbClr val="1B1B2E"/>
                </a:solidFill>
                <a:latin typeface="Calibri"/>
              </a:rPr>
              <a:t> — lãnh đạo mở đầu ngày để nắm tình hình; theo dõi chỉ số then chốt theo thời gian thực.</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Giá trị</a:t>
            </a:r>
            <a:r>
              <a:rPr sz="1350">
                <a:solidFill>
                  <a:srgbClr val="1B1B2E"/>
                </a:solidFill>
                <a:latin typeface="Calibri"/>
              </a:rPr>
              <a:t> — ra quyết định nhanh, dựa trên bức tranh thống nhất thay vì báo cáo rời rạc.</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ntrol-tower.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Control Tower — tổng quan realtime toàn hệ thống OCH.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1/6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Danh bạ khách hàng hợp nhất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11</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Một danh bạ duy nhất</a:t>
            </a:r>
            <a:r>
              <a:rPr sz="1350">
                <a:solidFill>
                  <a:srgbClr val="1B1B2E"/>
                </a:solidFill>
                <a:latin typeface="Calibri"/>
              </a:rPr>
              <a:t> — mọi khách của mọi thương hiệu trong một nơi, tra cứu tức thì.</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Hợp nhất định danh (OCH ID)</a:t>
            </a:r>
            <a:r>
              <a:rPr sz="1350">
                <a:solidFill>
                  <a:srgbClr val="1B1B2E"/>
                </a:solidFill>
                <a:latin typeface="Calibri"/>
              </a:rPr>
              <a:t> — một mã khách hàng duy nhất gộp mọi thương hiệu — hết cảnh một người bị xem là nhiều người.</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Tìm &amp; lọc mạnh</a:t>
            </a:r>
            <a:r>
              <a:rPr sz="1350">
                <a:solidFill>
                  <a:srgbClr val="1B1B2E"/>
                </a:solidFill>
                <a:latin typeface="Calibri"/>
              </a:rPr>
              <a:t> — theo hạng, vòng đời, giá trị, thương hiệu — chọn đúng nhóm để hành động.</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Mở hồ sơ 360°</a:t>
            </a:r>
            <a:r>
              <a:rPr sz="1350">
                <a:solidFill>
                  <a:srgbClr val="1B1B2E"/>
                </a:solidFill>
                <a:latin typeface="Calibri"/>
              </a:rPr>
              <a:t> — một cú nhấp để thấy toàn bộ hành trình của khách.</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ustomers-directory.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Danh bạ khách hàng hợp nhất — cửa ngõ vào hồ sơ 360°.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2/6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Hồ sơ 360° + Hạng khách hàng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12</a:t>
            </a:r>
          </a:p>
        </p:txBody>
      </p:sp>
      <p:sp>
        <p:nvSpPr>
          <p:cNvPr id="8" name="TextBox 7"/>
          <p:cNvSpPr txBox="1"/>
          <p:nvPr/>
        </p:nvSpPr>
        <p:spPr>
          <a:xfrm>
            <a:off x="566928" y="1737360"/>
            <a:ext cx="5577840" cy="4572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350" b="0" i="0">
                <a:solidFill>
                  <a:srgbClr val="1B1B2E"/>
                </a:solidFill>
                <a:latin typeface="Calibri"/>
              </a:rPr>
              <a:t>Mỗi khách có một hồ sơ 360° hợp nhất: mọi giao dịch, định danh, tương tác — và được tự động XẾP HẠNG.</a:t>
            </a:r>
          </a:p>
        </p:txBody>
      </p:sp>
      <p:sp>
        <p:nvSpPr>
          <p:cNvPr id="9" name="Rectangle 8"/>
          <p:cNvSpPr/>
          <p:nvPr/>
        </p:nvSpPr>
        <p:spPr>
          <a:xfrm>
            <a:off x="566928" y="2331720"/>
            <a:ext cx="5486400" cy="62179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331720"/>
            <a:ext cx="109728" cy="621792"/>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331720"/>
            <a:ext cx="201168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50" b="1" i="0">
                <a:solidFill>
                  <a:srgbClr val="2E2E40"/>
                </a:solidFill>
                <a:latin typeface="Calibri"/>
              </a:rPr>
              <a:t>💎 Kim cương</a:t>
            </a:r>
          </a:p>
        </p:txBody>
      </p:sp>
      <p:sp>
        <p:nvSpPr>
          <p:cNvPr id="12" name="TextBox 11"/>
          <p:cNvSpPr txBox="1"/>
          <p:nvPr/>
        </p:nvSpPr>
        <p:spPr>
          <a:xfrm>
            <a:off x="2743200" y="2331720"/>
            <a:ext cx="320040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565564"/>
                </a:solidFill>
                <a:latin typeface="Calibri"/>
              </a:rPr>
              <a:t>Chi tiêu cao nhất — đặc quyền VIP</a:t>
            </a:r>
          </a:p>
        </p:txBody>
      </p:sp>
      <p:sp>
        <p:nvSpPr>
          <p:cNvPr id="13" name="Rectangle 12"/>
          <p:cNvSpPr/>
          <p:nvPr/>
        </p:nvSpPr>
        <p:spPr>
          <a:xfrm>
            <a:off x="566928" y="3081527"/>
            <a:ext cx="5486400" cy="62179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081527"/>
            <a:ext cx="109728" cy="6217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7"/>
            <a:ext cx="201168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50" b="1" i="0">
                <a:solidFill>
                  <a:srgbClr val="2E2E40"/>
                </a:solidFill>
                <a:latin typeface="Calibri"/>
              </a:rPr>
              <a:t>🥇 Vàng</a:t>
            </a:r>
          </a:p>
        </p:txBody>
      </p:sp>
      <p:sp>
        <p:nvSpPr>
          <p:cNvPr id="16" name="TextBox 15"/>
          <p:cNvSpPr txBox="1"/>
          <p:nvPr/>
        </p:nvSpPr>
        <p:spPr>
          <a:xfrm>
            <a:off x="2743200" y="3081527"/>
            <a:ext cx="320040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565564"/>
                </a:solidFill>
                <a:latin typeface="Calibri"/>
              </a:rPr>
              <a:t>Khách thân thiết, giá trị lớn</a:t>
            </a:r>
          </a:p>
        </p:txBody>
      </p:sp>
      <p:sp>
        <p:nvSpPr>
          <p:cNvPr id="17" name="Rectangle 16"/>
          <p:cNvSpPr/>
          <p:nvPr/>
        </p:nvSpPr>
        <p:spPr>
          <a:xfrm>
            <a:off x="566928" y="3831335"/>
            <a:ext cx="5486400" cy="62179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31335"/>
            <a:ext cx="109728" cy="621792"/>
          </a:xfrm>
          <a:prstGeom prst="rect">
            <a:avLst/>
          </a:prstGeom>
          <a:solidFill>
            <a:srgbClr val="8A8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31335"/>
            <a:ext cx="201168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50" b="1" i="0">
                <a:solidFill>
                  <a:srgbClr val="2E2E40"/>
                </a:solidFill>
                <a:latin typeface="Calibri"/>
              </a:rPr>
              <a:t>🥈 Bạc</a:t>
            </a:r>
          </a:p>
        </p:txBody>
      </p:sp>
      <p:sp>
        <p:nvSpPr>
          <p:cNvPr id="20" name="TextBox 19"/>
          <p:cNvSpPr txBox="1"/>
          <p:nvPr/>
        </p:nvSpPr>
        <p:spPr>
          <a:xfrm>
            <a:off x="2743200" y="3831335"/>
            <a:ext cx="320040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565564"/>
                </a:solidFill>
                <a:latin typeface="Calibri"/>
              </a:rPr>
              <a:t>Khách thường xuyên</a:t>
            </a:r>
          </a:p>
        </p:txBody>
      </p:sp>
      <p:sp>
        <p:nvSpPr>
          <p:cNvPr id="21" name="Rectangle 20"/>
          <p:cNvSpPr/>
          <p:nvPr/>
        </p:nvSpPr>
        <p:spPr>
          <a:xfrm>
            <a:off x="566928" y="4581144"/>
            <a:ext cx="5486400" cy="62179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581144"/>
            <a:ext cx="109728" cy="621792"/>
          </a:xfrm>
          <a:prstGeom prst="rect">
            <a:avLst/>
          </a:prstGeom>
          <a:solidFill>
            <a:srgbClr val="A9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581144"/>
            <a:ext cx="201168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50" b="1" i="0">
                <a:solidFill>
                  <a:srgbClr val="2E2E40"/>
                </a:solidFill>
                <a:latin typeface="Calibri"/>
              </a:rPr>
              <a:t>🥉 Đồng</a:t>
            </a:r>
          </a:p>
        </p:txBody>
      </p:sp>
      <p:sp>
        <p:nvSpPr>
          <p:cNvPr id="24" name="TextBox 23"/>
          <p:cNvSpPr txBox="1"/>
          <p:nvPr/>
        </p:nvSpPr>
        <p:spPr>
          <a:xfrm>
            <a:off x="2743200" y="4581144"/>
            <a:ext cx="3200400" cy="62179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565564"/>
                </a:solidFill>
                <a:latin typeface="Calibri"/>
              </a:rPr>
              <a:t>Khách mới / thỉnh thoảng</a:t>
            </a:r>
          </a:p>
        </p:txBody>
      </p:sp>
      <p:sp>
        <p:nvSpPr>
          <p:cNvPr id="25" name="TextBox 24"/>
          <p:cNvSpPr txBox="1"/>
          <p:nvPr/>
        </p:nvSpPr>
        <p:spPr>
          <a:xfrm>
            <a:off x="566928" y="5486400"/>
            <a:ext cx="5486400" cy="45720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00" b="0" i="1">
                <a:solidFill>
                  <a:srgbClr val="565564"/>
                </a:solidFill>
                <a:latin typeface="Calibri"/>
              </a:rPr>
              <a:t>Hạng tính tự động theo tổng chi tiêu toàn tập đoàn — công bằng, xuyên thương hiệu.</a:t>
            </a:r>
          </a:p>
        </p:txBody>
      </p:sp>
      <p:sp>
        <p:nvSpPr>
          <p:cNvPr id="26" name="TextBox 25"/>
          <p:cNvSpPr txBox="1"/>
          <p:nvPr/>
        </p:nvSpPr>
        <p:spPr>
          <a:xfrm>
            <a:off x="6400800" y="2148840"/>
            <a:ext cx="51206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VÒNG ĐỜI KHÁCH HÀNG</a:t>
            </a:r>
          </a:p>
        </p:txBody>
      </p:sp>
      <p:sp>
        <p:nvSpPr>
          <p:cNvPr id="27" name="Rectangle 26"/>
          <p:cNvSpPr/>
          <p:nvPr/>
        </p:nvSpPr>
        <p:spPr>
          <a:xfrm>
            <a:off x="6400800" y="2560320"/>
            <a:ext cx="521208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37960" y="2670048"/>
            <a:ext cx="1234440" cy="329184"/>
          </a:xfrm>
          <a:prstGeom prst="round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2670048"/>
            <a:ext cx="123444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1" i="0">
                <a:solidFill>
                  <a:srgbClr val="FFFFFF"/>
                </a:solidFill>
                <a:latin typeface="Calibri"/>
              </a:rPr>
              <a:t>VIP</a:t>
            </a:r>
          </a:p>
        </p:txBody>
      </p:sp>
      <p:sp>
        <p:nvSpPr>
          <p:cNvPr id="30" name="TextBox 29"/>
          <p:cNvSpPr txBox="1"/>
          <p:nvPr/>
        </p:nvSpPr>
        <p:spPr>
          <a:xfrm>
            <a:off x="7909560" y="2560320"/>
            <a:ext cx="36118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Giá trị cao, cần giữ đặc quyền</a:t>
            </a:r>
          </a:p>
        </p:txBody>
      </p:sp>
      <p:sp>
        <p:nvSpPr>
          <p:cNvPr id="31" name="Rectangle 30"/>
          <p:cNvSpPr/>
          <p:nvPr/>
        </p:nvSpPr>
        <p:spPr>
          <a:xfrm>
            <a:off x="6400800" y="3218687"/>
            <a:ext cx="521208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37960" y="3328415"/>
            <a:ext cx="1234440" cy="329184"/>
          </a:xfrm>
          <a:prstGeom prst="round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3328415"/>
            <a:ext cx="123444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1" i="0">
                <a:solidFill>
                  <a:srgbClr val="FFFFFF"/>
                </a:solidFill>
                <a:latin typeface="Calibri"/>
              </a:rPr>
              <a:t>Active</a:t>
            </a:r>
          </a:p>
        </p:txBody>
      </p:sp>
      <p:sp>
        <p:nvSpPr>
          <p:cNvPr id="34" name="TextBox 33"/>
          <p:cNvSpPr txBox="1"/>
          <p:nvPr/>
        </p:nvSpPr>
        <p:spPr>
          <a:xfrm>
            <a:off x="7909560" y="3218687"/>
            <a:ext cx="36118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Đang mua đều đặn</a:t>
            </a:r>
          </a:p>
        </p:txBody>
      </p:sp>
      <p:sp>
        <p:nvSpPr>
          <p:cNvPr id="35" name="Rectangle 34"/>
          <p:cNvSpPr/>
          <p:nvPr/>
        </p:nvSpPr>
        <p:spPr>
          <a:xfrm>
            <a:off x="6400800" y="3877056"/>
            <a:ext cx="521208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37960" y="3986784"/>
            <a:ext cx="1234440" cy="329184"/>
          </a:xfrm>
          <a:prstGeom prst="roundRect">
            <a:avLst/>
          </a:prstGeom>
          <a:solidFill>
            <a:srgbClr val="B4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3986784"/>
            <a:ext cx="123444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1" i="0">
                <a:solidFill>
                  <a:srgbClr val="FFFFFF"/>
                </a:solidFill>
                <a:latin typeface="Calibri"/>
              </a:rPr>
              <a:t>At-risk</a:t>
            </a:r>
          </a:p>
        </p:txBody>
      </p:sp>
      <p:sp>
        <p:nvSpPr>
          <p:cNvPr id="38" name="TextBox 37"/>
          <p:cNvSpPr txBox="1"/>
          <p:nvPr/>
        </p:nvSpPr>
        <p:spPr>
          <a:xfrm>
            <a:off x="7909560" y="3877056"/>
            <a:ext cx="36118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Có dấu hiệu giảm tương tác</a:t>
            </a:r>
          </a:p>
        </p:txBody>
      </p:sp>
      <p:sp>
        <p:nvSpPr>
          <p:cNvPr id="39" name="Rectangle 38"/>
          <p:cNvSpPr/>
          <p:nvPr/>
        </p:nvSpPr>
        <p:spPr>
          <a:xfrm>
            <a:off x="6400800" y="4535424"/>
            <a:ext cx="521208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537960" y="4645152"/>
            <a:ext cx="1234440" cy="329184"/>
          </a:xfrm>
          <a:prstGeom prst="roundRect">
            <a:avLst/>
          </a:prstGeom>
          <a:solidFill>
            <a:srgbClr val="B4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645152"/>
            <a:ext cx="123444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1" i="0">
                <a:solidFill>
                  <a:srgbClr val="FFFFFF"/>
                </a:solidFill>
                <a:latin typeface="Calibri"/>
              </a:rPr>
              <a:t>Dormant</a:t>
            </a:r>
          </a:p>
        </p:txBody>
      </p:sp>
      <p:sp>
        <p:nvSpPr>
          <p:cNvPr id="42" name="TextBox 41"/>
          <p:cNvSpPr txBox="1"/>
          <p:nvPr/>
        </p:nvSpPr>
        <p:spPr>
          <a:xfrm>
            <a:off x="7909560" y="4535424"/>
            <a:ext cx="36118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Ngủ đông, lâu không mua</a:t>
            </a:r>
          </a:p>
        </p:txBody>
      </p:sp>
      <p:sp>
        <p:nvSpPr>
          <p:cNvPr id="43" name="Rectangle 42"/>
          <p:cNvSpPr/>
          <p:nvPr/>
        </p:nvSpPr>
        <p:spPr>
          <a:xfrm>
            <a:off x="6400800" y="5193792"/>
            <a:ext cx="521208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537960" y="5303520"/>
            <a:ext cx="1234440" cy="329184"/>
          </a:xfrm>
          <a:prstGeom prst="roundRect">
            <a:avLst/>
          </a:prstGeom>
          <a:solidFill>
            <a:srgbClr val="B33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5303520"/>
            <a:ext cx="123444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1" i="0">
                <a:solidFill>
                  <a:srgbClr val="FFFFFF"/>
                </a:solidFill>
                <a:latin typeface="Calibri"/>
              </a:rPr>
              <a:t>Churned</a:t>
            </a:r>
          </a:p>
        </p:txBody>
      </p:sp>
      <p:sp>
        <p:nvSpPr>
          <p:cNvPr id="46" name="TextBox 45"/>
          <p:cNvSpPr txBox="1"/>
          <p:nvPr/>
        </p:nvSpPr>
        <p:spPr>
          <a:xfrm>
            <a:off x="7909560" y="5193792"/>
            <a:ext cx="36118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Đã rời bỏ — cần kéo lại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3/6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Giá trị khách hàng (CLV)</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13</a:t>
            </a:r>
          </a:p>
        </p:txBody>
      </p:sp>
      <p:sp>
        <p:nvSpPr>
          <p:cNvPr id="8" name="TextBox 7"/>
          <p:cNvSpPr txBox="1"/>
          <p:nvPr/>
        </p:nvSpPr>
        <p:spPr>
          <a:xfrm>
            <a:off x="566928" y="1737360"/>
            <a:ext cx="10972800" cy="4572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350" b="0" i="0">
                <a:solidFill>
                  <a:srgbClr val="1B1B2E"/>
                </a:solidFill>
                <a:latin typeface="Calibri"/>
              </a:rPr>
              <a:t>Hệ thống tính giá trị của mỗi khách — cả quá khứ lẫn DỰ ĐOÁN tương lai — để ưu tiên nguồn lực đúng chỗ.</a:t>
            </a:r>
          </a:p>
        </p:txBody>
      </p:sp>
      <p:sp>
        <p:nvSpPr>
          <p:cNvPr id="9" name="Rectangle 8"/>
          <p:cNvSpPr/>
          <p:nvPr/>
        </p:nvSpPr>
        <p:spPr>
          <a:xfrm>
            <a:off x="566928" y="23774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3774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5420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2" name="TextBox 11"/>
          <p:cNvSpPr txBox="1"/>
          <p:nvPr/>
        </p:nvSpPr>
        <p:spPr>
          <a:xfrm>
            <a:off x="768096" y="29992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Tổng chi tiêu (LTV)</a:t>
            </a:r>
          </a:p>
        </p:txBody>
      </p:sp>
      <p:sp>
        <p:nvSpPr>
          <p:cNvPr id="13" name="TextBox 12"/>
          <p:cNvSpPr txBox="1"/>
          <p:nvPr/>
        </p:nvSpPr>
        <p:spPr>
          <a:xfrm>
            <a:off x="768096" y="3310128"/>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Toàn bộ giá trị khách đã mang lại, cộng dồn mọi thương hiệu.</a:t>
            </a:r>
          </a:p>
        </p:txBody>
      </p:sp>
      <p:sp>
        <p:nvSpPr>
          <p:cNvPr id="14" name="Rectangle 13"/>
          <p:cNvSpPr/>
          <p:nvPr/>
        </p:nvSpPr>
        <p:spPr>
          <a:xfrm>
            <a:off x="4270248" y="23774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23774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1416" y="25420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7" name="TextBox 16"/>
          <p:cNvSpPr txBox="1"/>
          <p:nvPr/>
        </p:nvSpPr>
        <p:spPr>
          <a:xfrm>
            <a:off x="4471416" y="29992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CLV dự đoán 2 năm</a:t>
            </a:r>
          </a:p>
        </p:txBody>
      </p:sp>
      <p:sp>
        <p:nvSpPr>
          <p:cNvPr id="18" name="TextBox 17"/>
          <p:cNvSpPr txBox="1"/>
          <p:nvPr/>
        </p:nvSpPr>
        <p:spPr>
          <a:xfrm>
            <a:off x="4471416" y="3310128"/>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AI ước tính giá trị khách sẽ tạo ra trong 24 tháng tới.</a:t>
            </a:r>
          </a:p>
        </p:txBody>
      </p:sp>
      <p:sp>
        <p:nvSpPr>
          <p:cNvPr id="19" name="Rectangle 18"/>
          <p:cNvSpPr/>
          <p:nvPr/>
        </p:nvSpPr>
        <p:spPr>
          <a:xfrm>
            <a:off x="7973567" y="23774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7" y="23774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25420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2" name="TextBox 21"/>
          <p:cNvSpPr txBox="1"/>
          <p:nvPr/>
        </p:nvSpPr>
        <p:spPr>
          <a:xfrm>
            <a:off x="8174736" y="29992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AOV — giá trị đơn TB</a:t>
            </a:r>
          </a:p>
        </p:txBody>
      </p:sp>
      <p:sp>
        <p:nvSpPr>
          <p:cNvPr id="23" name="TextBox 22"/>
          <p:cNvSpPr txBox="1"/>
          <p:nvPr/>
        </p:nvSpPr>
        <p:spPr>
          <a:xfrm>
            <a:off x="8174736" y="3310128"/>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Trung bình mỗi lần khách chi bao nhiêu.</a:t>
            </a:r>
          </a:p>
        </p:txBody>
      </p:sp>
      <p:sp>
        <p:nvSpPr>
          <p:cNvPr id="24" name="Rectangle 23"/>
          <p:cNvSpPr/>
          <p:nvPr/>
        </p:nvSpPr>
        <p:spPr>
          <a:xfrm>
            <a:off x="566928" y="42062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2062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7" name="TextBox 26"/>
          <p:cNvSpPr txBox="1"/>
          <p:nvPr/>
        </p:nvSpPr>
        <p:spPr>
          <a:xfrm>
            <a:off x="76809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Số đơn hàng</a:t>
            </a:r>
          </a:p>
        </p:txBody>
      </p:sp>
      <p:sp>
        <p:nvSpPr>
          <p:cNvPr id="28" name="TextBox 27"/>
          <p:cNvSpPr txBox="1"/>
          <p:nvPr/>
        </p:nvSpPr>
        <p:spPr>
          <a:xfrm>
            <a:off x="768096" y="5138927"/>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Tần suất giao dịch — mức độ gắn bó.</a:t>
            </a:r>
          </a:p>
        </p:txBody>
      </p:sp>
      <p:sp>
        <p:nvSpPr>
          <p:cNvPr id="29" name="Rectangle 28"/>
          <p:cNvSpPr/>
          <p:nvPr/>
        </p:nvSpPr>
        <p:spPr>
          <a:xfrm>
            <a:off x="4270248" y="42062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0248" y="42062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141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2" name="TextBox 31"/>
          <p:cNvSpPr txBox="1"/>
          <p:nvPr/>
        </p:nvSpPr>
        <p:spPr>
          <a:xfrm>
            <a:off x="447141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Thời gian gắn bó</a:t>
            </a:r>
          </a:p>
        </p:txBody>
      </p:sp>
      <p:sp>
        <p:nvSpPr>
          <p:cNvPr id="33" name="TextBox 32"/>
          <p:cNvSpPr txBox="1"/>
          <p:nvPr/>
        </p:nvSpPr>
        <p:spPr>
          <a:xfrm>
            <a:off x="4471416" y="5138927"/>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Khách đã đồng hành cùng OCH bao lâu.</a:t>
            </a:r>
          </a:p>
        </p:txBody>
      </p:sp>
      <p:sp>
        <p:nvSpPr>
          <p:cNvPr id="34" name="Rectangle 33"/>
          <p:cNvSpPr/>
          <p:nvPr/>
        </p:nvSpPr>
        <p:spPr>
          <a:xfrm>
            <a:off x="7973567" y="4206240"/>
            <a:ext cx="3474720" cy="16459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73567" y="4206240"/>
            <a:ext cx="64008" cy="1645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7473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7" name="TextBox 36"/>
          <p:cNvSpPr txBox="1"/>
          <p:nvPr/>
        </p:nvSpPr>
        <p:spPr>
          <a:xfrm>
            <a:off x="817473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Xu hướng giá trị</a:t>
            </a:r>
          </a:p>
        </p:txBody>
      </p:sp>
      <p:sp>
        <p:nvSpPr>
          <p:cNvPr id="38" name="TextBox 37"/>
          <p:cNvSpPr txBox="1"/>
          <p:nvPr/>
        </p:nvSpPr>
        <p:spPr>
          <a:xfrm>
            <a:off x="8174736" y="5138927"/>
            <a:ext cx="3118103" cy="6035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Đang tăng hay giảm — cảnh báo sớm.</a:t>
            </a:r>
          </a:p>
        </p:txBody>
      </p:sp>
      <p:sp>
        <p:nvSpPr>
          <p:cNvPr id="39" name="Rectangle 38"/>
          <p:cNvSpPr/>
          <p:nvPr/>
        </p:nvSpPr>
        <p:spPr>
          <a:xfrm>
            <a:off x="566928" y="5989320"/>
            <a:ext cx="110642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5943600"/>
            <a:ext cx="10972800" cy="41148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50" b="1" i="0">
                <a:solidFill>
                  <a:srgbClr val="2E2E40"/>
                </a:solidFill>
                <a:latin typeface="Calibri"/>
              </a:rPr>
              <a:t>Vì sao quan trọng: </a:t>
            </a:r>
            <a:r>
              <a:rPr sz="1150" b="0" i="0">
                <a:solidFill>
                  <a:srgbClr val="565564"/>
                </a:solidFill>
                <a:latin typeface="Calibri"/>
              </a:rPr>
              <a:t>biết ai đáng đầu tư giữ chân, ai sắp rời, ai có thể nâng hạng — ngân sách marketing đi đúng nơi sinh lời.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4/6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Nhịp mua &amp; dự đoán đơn kế tiếp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14</a:t>
            </a:r>
          </a:p>
        </p:txBody>
      </p:sp>
      <p:sp>
        <p:nvSpPr>
          <p:cNvPr id="8" name="TextBox 7"/>
          <p:cNvSpPr txBox="1"/>
          <p:nvPr/>
        </p:nvSpPr>
        <p:spPr>
          <a:xfrm>
            <a:off x="566928" y="1783080"/>
            <a:ext cx="557784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350" b="0" i="0">
                <a:solidFill>
                  <a:srgbClr val="1B1B2E"/>
                </a:solidFill>
                <a:latin typeface="Calibri"/>
              </a:rPr>
              <a:t>Hệ thống học KHOẢNG CÁCH mua trung bình của từng khách để dự đoán ngày mua tiếp theo — và cảnh báo khi khách sắp/đã quá hạn.</a:t>
            </a:r>
          </a:p>
        </p:txBody>
      </p:sp>
      <p:sp>
        <p:nvSpPr>
          <p:cNvPr id="9" name="TextBox 8"/>
          <p:cNvSpPr txBox="1"/>
          <p:nvPr/>
        </p:nvSpPr>
        <p:spPr>
          <a:xfrm>
            <a:off x="566928" y="2743200"/>
            <a:ext cx="548640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50" b="1" i="0">
                <a:solidFill>
                  <a:srgbClr val="2E2E40"/>
                </a:solidFill>
                <a:latin typeface="Calibri"/>
              </a:rPr>
              <a:t>Ví dụ nhịp mua đều ~30 ngày:</a:t>
            </a:r>
          </a:p>
        </p:txBody>
      </p:sp>
      <p:sp>
        <p:nvSpPr>
          <p:cNvPr id="10" name="Oval 9"/>
          <p:cNvSpPr/>
          <p:nvPr/>
        </p:nvSpPr>
        <p:spPr>
          <a:xfrm>
            <a:off x="640080" y="3108960"/>
            <a:ext cx="256032" cy="256032"/>
          </a:xfrm>
          <a:prstGeom prst="ellipse">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79" y="3401568"/>
            <a:ext cx="731520"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0" i="0">
                <a:solidFill>
                  <a:srgbClr val="565564"/>
                </a:solidFill>
                <a:latin typeface="Calibri"/>
              </a:rPr>
              <a:t>Đơn 1</a:t>
            </a:r>
          </a:p>
        </p:txBody>
      </p:sp>
      <p:sp>
        <p:nvSpPr>
          <p:cNvPr id="12" name="Rectangle 11"/>
          <p:cNvSpPr/>
          <p:nvPr/>
        </p:nvSpPr>
        <p:spPr>
          <a:xfrm>
            <a:off x="896112" y="3209544"/>
            <a:ext cx="978408" cy="45720"/>
          </a:xfrm>
          <a:prstGeom prst="rect">
            <a:avLst/>
          </a:prstGeom>
          <a:solidFill>
            <a:srgbClr val="DE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74519" y="3108960"/>
            <a:ext cx="256032" cy="256032"/>
          </a:xfrm>
          <a:prstGeom prst="ellipse">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19" y="3401568"/>
            <a:ext cx="731520"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0" i="0">
                <a:solidFill>
                  <a:srgbClr val="565564"/>
                </a:solidFill>
                <a:latin typeface="Calibri"/>
              </a:rPr>
              <a:t>Đơn 2</a:t>
            </a:r>
          </a:p>
        </p:txBody>
      </p:sp>
      <p:sp>
        <p:nvSpPr>
          <p:cNvPr id="15" name="Rectangle 14"/>
          <p:cNvSpPr/>
          <p:nvPr/>
        </p:nvSpPr>
        <p:spPr>
          <a:xfrm>
            <a:off x="2130552" y="3209544"/>
            <a:ext cx="978408" cy="45720"/>
          </a:xfrm>
          <a:prstGeom prst="rect">
            <a:avLst/>
          </a:prstGeom>
          <a:solidFill>
            <a:srgbClr val="DE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108960" y="3108960"/>
            <a:ext cx="256032" cy="256032"/>
          </a:xfrm>
          <a:prstGeom prst="ellipse">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80360" y="3401568"/>
            <a:ext cx="731520"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0" i="0">
                <a:solidFill>
                  <a:srgbClr val="565564"/>
                </a:solidFill>
                <a:latin typeface="Calibri"/>
              </a:rPr>
              <a:t>Đơn 3</a:t>
            </a:r>
          </a:p>
        </p:txBody>
      </p:sp>
      <p:sp>
        <p:nvSpPr>
          <p:cNvPr id="18" name="Rectangle 17"/>
          <p:cNvSpPr/>
          <p:nvPr/>
        </p:nvSpPr>
        <p:spPr>
          <a:xfrm>
            <a:off x="3364992" y="3209544"/>
            <a:ext cx="978408" cy="45720"/>
          </a:xfrm>
          <a:prstGeom prst="rect">
            <a:avLst/>
          </a:prstGeom>
          <a:solidFill>
            <a:srgbClr val="DE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343400" y="3108960"/>
            <a:ext cx="256032" cy="256032"/>
          </a:xfrm>
          <a:prstGeom prst="ellipse">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3401568"/>
            <a:ext cx="731520"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0" i="0">
                <a:solidFill>
                  <a:srgbClr val="565564"/>
                </a:solidFill>
                <a:latin typeface="Calibri"/>
              </a:rPr>
              <a:t>Đơn 4</a:t>
            </a:r>
          </a:p>
        </p:txBody>
      </p:sp>
      <p:sp>
        <p:nvSpPr>
          <p:cNvPr id="21" name="Oval 20"/>
          <p:cNvSpPr/>
          <p:nvPr/>
        </p:nvSpPr>
        <p:spPr>
          <a:xfrm>
            <a:off x="5577840" y="3108960"/>
            <a:ext cx="256032" cy="256032"/>
          </a:xfrm>
          <a:prstGeom prst="ellipse">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57800" y="3401568"/>
            <a:ext cx="914400"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1" i="0">
                <a:solidFill>
                  <a:srgbClr val="2F7D5B"/>
                </a:solidFill>
                <a:latin typeface="Calibri"/>
              </a:rPr>
              <a:t>Dự đoán</a:t>
            </a:r>
          </a:p>
        </p:txBody>
      </p:sp>
      <p:sp>
        <p:nvSpPr>
          <p:cNvPr id="23" name="TextBox 22"/>
          <p:cNvSpPr txBox="1"/>
          <p:nvPr/>
        </p:nvSpPr>
        <p:spPr>
          <a:xfrm>
            <a:off x="566928" y="3931920"/>
            <a:ext cx="5486400" cy="9144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200" b="0" i="0">
                <a:solidFill>
                  <a:srgbClr val="1B1B2E"/>
                </a:solidFill>
                <a:latin typeface="Calibri"/>
              </a:rPr>
              <a:t>→ Đơn tiếp theo dự kiến quanh ngày thứ 30. Nếu vượt mốc mà chưa mua → gắn cờ </a:t>
            </a:r>
            <a:r>
              <a:rPr sz="1200" b="1" i="0">
                <a:solidFill>
                  <a:srgbClr val="B3372F"/>
                </a:solidFill>
                <a:latin typeface="Calibri"/>
              </a:rPr>
              <a:t>“quá hạn”</a:t>
            </a:r>
            <a:r>
              <a:rPr sz="1200" b="0" i="0">
                <a:solidFill>
                  <a:srgbClr val="1B1B2E"/>
                </a:solidFill>
                <a:latin typeface="Calibri"/>
              </a:rPr>
              <a:t> để chủ động nhắc.</a:t>
            </a:r>
          </a:p>
        </p:txBody>
      </p:sp>
      <p:sp>
        <p:nvSpPr>
          <p:cNvPr id="24" name="Rectangle 23"/>
          <p:cNvSpPr/>
          <p:nvPr/>
        </p:nvSpPr>
        <p:spPr>
          <a:xfrm>
            <a:off x="6400800" y="1920240"/>
            <a:ext cx="5212080" cy="1234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0" y="1920240"/>
            <a:ext cx="64008" cy="123444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01968" y="2084832"/>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 Sắp tới hạn</a:t>
            </a:r>
          </a:p>
        </p:txBody>
      </p:sp>
      <p:sp>
        <p:nvSpPr>
          <p:cNvPr id="27" name="TextBox 26"/>
          <p:cNvSpPr txBox="1"/>
          <p:nvPr/>
        </p:nvSpPr>
        <p:spPr>
          <a:xfrm>
            <a:off x="6601968" y="2395728"/>
            <a:ext cx="4855464"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Khách sắp đến chu kỳ mua — thời điểm vàng để gửi ưu đãi đúng lúc.</a:t>
            </a:r>
          </a:p>
        </p:txBody>
      </p:sp>
      <p:sp>
        <p:nvSpPr>
          <p:cNvPr id="28" name="Rectangle 27"/>
          <p:cNvSpPr/>
          <p:nvPr/>
        </p:nvSpPr>
        <p:spPr>
          <a:xfrm>
            <a:off x="6400800" y="3291840"/>
            <a:ext cx="5212080" cy="1234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0" y="3291840"/>
            <a:ext cx="64008" cy="1234440"/>
          </a:xfrm>
          <a:prstGeom prst="rect">
            <a:avLst/>
          </a:prstGeom>
          <a:solidFill>
            <a:srgbClr val="B4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3456432"/>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 Quá hạn nhẹ</a:t>
            </a:r>
          </a:p>
        </p:txBody>
      </p:sp>
      <p:sp>
        <p:nvSpPr>
          <p:cNvPr id="31" name="TextBox 30"/>
          <p:cNvSpPr txBox="1"/>
          <p:nvPr/>
        </p:nvSpPr>
        <p:spPr>
          <a:xfrm>
            <a:off x="6601968" y="3767328"/>
            <a:ext cx="4855464"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Đã lỡ nhịp — nhắc khéo kèm khuyến khích quay lại.</a:t>
            </a:r>
          </a:p>
        </p:txBody>
      </p:sp>
      <p:sp>
        <p:nvSpPr>
          <p:cNvPr id="32" name="Rectangle 31"/>
          <p:cNvSpPr/>
          <p:nvPr/>
        </p:nvSpPr>
        <p:spPr>
          <a:xfrm>
            <a:off x="6400800" y="4663440"/>
            <a:ext cx="5212080" cy="14173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0" y="4663440"/>
            <a:ext cx="64008" cy="1417320"/>
          </a:xfrm>
          <a:prstGeom prst="rect">
            <a:avLst/>
          </a:prstGeom>
          <a:solidFill>
            <a:srgbClr val="B33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1968" y="4828031"/>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 Quá hạn sâu → nguy cơ rời</a:t>
            </a:r>
          </a:p>
        </p:txBody>
      </p:sp>
      <p:sp>
        <p:nvSpPr>
          <p:cNvPr id="35" name="TextBox 34"/>
          <p:cNvSpPr txBox="1"/>
          <p:nvPr/>
        </p:nvSpPr>
        <p:spPr>
          <a:xfrm>
            <a:off x="6601968" y="5138927"/>
            <a:ext cx="4855464" cy="8321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Bỏ nhịp nhiều kỳ — kích hoạt kịch bản giữ chân trước khi mất hẳn khách.</a:t>
            </a:r>
          </a:p>
        </p:txBody>
      </p:sp>
      <p:sp>
        <p:nvSpPr>
          <p:cNvPr id="36" name="TextBox 35"/>
          <p:cNvSpPr txBox="1"/>
          <p:nvPr/>
        </p:nvSpPr>
        <p:spPr>
          <a:xfrm>
            <a:off x="566928" y="5806440"/>
            <a:ext cx="5486400" cy="45720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00" b="0" i="1">
                <a:solidFill>
                  <a:srgbClr val="565564"/>
                </a:solidFill>
                <a:latin typeface="Calibri"/>
              </a:rPr>
              <a:t>Giá trị: giữ nhịp doanh thu đều đặn, không để khách “nguội” lúc nào không hay.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5/6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Phân tích hành vi mua sắm</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15</a:t>
            </a:r>
          </a:p>
        </p:txBody>
      </p:sp>
      <p:sp>
        <p:nvSpPr>
          <p:cNvPr id="8" name="TextBox 7"/>
          <p:cNvSpPr txBox="1"/>
          <p:nvPr/>
        </p:nvSpPr>
        <p:spPr>
          <a:xfrm>
            <a:off x="566928" y="1737360"/>
            <a:ext cx="10972800"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0" i="0">
                <a:solidFill>
                  <a:srgbClr val="1B1B2E"/>
                </a:solidFill>
                <a:latin typeface="Calibri"/>
              </a:rPr>
              <a:t>Hiểu SÂU thói quen từng khách để cá nhân hoá chính xác:</a:t>
            </a:r>
          </a:p>
        </p:txBody>
      </p:sp>
      <p:sp>
        <p:nvSpPr>
          <p:cNvPr id="9" name="Rectangle 8"/>
          <p:cNvSpPr/>
          <p:nvPr/>
        </p:nvSpPr>
        <p:spPr>
          <a:xfrm>
            <a:off x="566928" y="233172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33172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4963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2" name="TextBox 11"/>
          <p:cNvSpPr txBox="1"/>
          <p:nvPr/>
        </p:nvSpPr>
        <p:spPr>
          <a:xfrm>
            <a:off x="768096" y="29535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Xu hướng chi tiêu theo tháng</a:t>
            </a:r>
          </a:p>
        </p:txBody>
      </p:sp>
      <p:sp>
        <p:nvSpPr>
          <p:cNvPr id="13" name="TextBox 12"/>
          <p:cNvSpPr txBox="1"/>
          <p:nvPr/>
        </p:nvSpPr>
        <p:spPr>
          <a:xfrm>
            <a:off x="768096" y="3264408"/>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Đang tăng, giảm hay theo mùa — nắm nhịp để chăm đúng thời điểm.</a:t>
            </a:r>
          </a:p>
        </p:txBody>
      </p:sp>
      <p:sp>
        <p:nvSpPr>
          <p:cNvPr id="14" name="Rectangle 13"/>
          <p:cNvSpPr/>
          <p:nvPr/>
        </p:nvSpPr>
        <p:spPr>
          <a:xfrm>
            <a:off x="4270248" y="233172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233172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1416" y="24963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7" name="TextBox 16"/>
          <p:cNvSpPr txBox="1"/>
          <p:nvPr/>
        </p:nvSpPr>
        <p:spPr>
          <a:xfrm>
            <a:off x="4471416" y="29535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Ưa thích thương hiệu</a:t>
            </a:r>
          </a:p>
        </p:txBody>
      </p:sp>
      <p:sp>
        <p:nvSpPr>
          <p:cNvPr id="18" name="TextBox 17"/>
          <p:cNvSpPr txBox="1"/>
          <p:nvPr/>
        </p:nvSpPr>
        <p:spPr>
          <a:xfrm>
            <a:off x="4471416" y="3264408"/>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Khách nghiêng về Givral, Kem Tràng Tiền hay khách sạn nào.</a:t>
            </a:r>
          </a:p>
        </p:txBody>
      </p:sp>
      <p:sp>
        <p:nvSpPr>
          <p:cNvPr id="19" name="Rectangle 18"/>
          <p:cNvSpPr/>
          <p:nvPr/>
        </p:nvSpPr>
        <p:spPr>
          <a:xfrm>
            <a:off x="7973567" y="233172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7" y="233172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24963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2" name="TextBox 21"/>
          <p:cNvSpPr txBox="1"/>
          <p:nvPr/>
        </p:nvSpPr>
        <p:spPr>
          <a:xfrm>
            <a:off x="8174736" y="29535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Nhóm hàng ưa chuộng</a:t>
            </a:r>
          </a:p>
        </p:txBody>
      </p:sp>
      <p:sp>
        <p:nvSpPr>
          <p:cNvPr id="23" name="TextBox 22"/>
          <p:cNvSpPr txBox="1"/>
          <p:nvPr/>
        </p:nvSpPr>
        <p:spPr>
          <a:xfrm>
            <a:off x="8174736" y="3264408"/>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Loại sản phẩm/dịch vụ khách hay chọn — cơ sở để gợi ý.</a:t>
            </a:r>
          </a:p>
        </p:txBody>
      </p:sp>
      <p:sp>
        <p:nvSpPr>
          <p:cNvPr id="24" name="Rectangle 23"/>
          <p:cNvSpPr/>
          <p:nvPr/>
        </p:nvSpPr>
        <p:spPr>
          <a:xfrm>
            <a:off x="566928" y="420624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20624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7" name="TextBox 26"/>
          <p:cNvSpPr txBox="1"/>
          <p:nvPr/>
        </p:nvSpPr>
        <p:spPr>
          <a:xfrm>
            <a:off x="76809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Cửa hàng &amp; khu vực</a:t>
            </a:r>
          </a:p>
        </p:txBody>
      </p:sp>
      <p:sp>
        <p:nvSpPr>
          <p:cNvPr id="28" name="TextBox 27"/>
          <p:cNvSpPr txBox="1"/>
          <p:nvPr/>
        </p:nvSpPr>
        <p:spPr>
          <a:xfrm>
            <a:off x="768096" y="5138927"/>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Nơi khách hay giao dịch — phục vụ hoạt động địa phương.</a:t>
            </a:r>
          </a:p>
        </p:txBody>
      </p:sp>
      <p:sp>
        <p:nvSpPr>
          <p:cNvPr id="29" name="Rectangle 28"/>
          <p:cNvSpPr/>
          <p:nvPr/>
        </p:nvSpPr>
        <p:spPr>
          <a:xfrm>
            <a:off x="4270248" y="420624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0248" y="420624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141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2" name="TextBox 31"/>
          <p:cNvSpPr txBox="1"/>
          <p:nvPr/>
        </p:nvSpPr>
        <p:spPr>
          <a:xfrm>
            <a:off x="447141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Thời điểm mua</a:t>
            </a:r>
          </a:p>
        </p:txBody>
      </p:sp>
      <p:sp>
        <p:nvSpPr>
          <p:cNvPr id="33" name="TextBox 32"/>
          <p:cNvSpPr txBox="1"/>
          <p:nvPr/>
        </p:nvSpPr>
        <p:spPr>
          <a:xfrm>
            <a:off x="4471416" y="5138927"/>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Giờ/ngày trong tuần khách hoạt động — tối ưu thời điểm gửi tin.</a:t>
            </a:r>
          </a:p>
        </p:txBody>
      </p:sp>
      <p:sp>
        <p:nvSpPr>
          <p:cNvPr id="34" name="Rectangle 33"/>
          <p:cNvSpPr/>
          <p:nvPr/>
        </p:nvSpPr>
        <p:spPr>
          <a:xfrm>
            <a:off x="7973567" y="4206240"/>
            <a:ext cx="3474720" cy="1691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73567" y="4206240"/>
            <a:ext cx="64008" cy="16916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74736" y="4370831"/>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7" name="TextBox 36"/>
          <p:cNvSpPr txBox="1"/>
          <p:nvPr/>
        </p:nvSpPr>
        <p:spPr>
          <a:xfrm>
            <a:off x="8174736" y="482803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Đa thương hiệu (synergy)</a:t>
            </a:r>
          </a:p>
        </p:txBody>
      </p:sp>
      <p:sp>
        <p:nvSpPr>
          <p:cNvPr id="38" name="TextBox 37"/>
          <p:cNvSpPr txBox="1"/>
          <p:nvPr/>
        </p:nvSpPr>
        <p:spPr>
          <a:xfrm>
            <a:off x="8174736" y="5138927"/>
            <a:ext cx="3118103" cy="6492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Khách dùng bao nhiêu thương hiệu — tiềm năng bán chéo.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6/6 · ĐIỂM KHÁC BIỆT</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Giỏ bỏ quên &amp; Hành động đề xuất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16</a:t>
            </a:r>
          </a:p>
        </p:txBody>
      </p:sp>
      <p:sp>
        <p:nvSpPr>
          <p:cNvPr id="8" name="Rectangle 7"/>
          <p:cNvSpPr/>
          <p:nvPr/>
        </p:nvSpPr>
        <p:spPr>
          <a:xfrm>
            <a:off x="566928" y="1737360"/>
            <a:ext cx="5257800" cy="10515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82296" cy="1051560"/>
          </a:xfrm>
          <a:prstGeom prst="rect">
            <a:avLst/>
          </a:prstGeom>
          <a:solidFill>
            <a:srgbClr val="B4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37360"/>
            <a:ext cx="4937760" cy="105156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400" b="1" i="0">
                <a:solidFill>
                  <a:srgbClr val="2E2E40"/>
                </a:solidFill>
                <a:latin typeface="Calibri"/>
              </a:rPr>
              <a:t>🛒  Giỏ hàng bỏ quên</a:t>
            </a:r>
          </a:p>
          <a:p>
            <a:pPr algn="l">
              <a:lnSpc>
                <a:spcPct val="105000"/>
              </a:lnSpc>
              <a:spcBef>
                <a:spcPts val="0"/>
              </a:spcBef>
              <a:spcAft>
                <a:spcPts val="400"/>
              </a:spcAft>
            </a:pPr>
            <a:r>
              <a:rPr sz="1100" b="0" i="0">
                <a:solidFill>
                  <a:srgbClr val="565564"/>
                </a:solidFill>
                <a:latin typeface="Calibri"/>
              </a:rPr>
              <a:t>Khách thêm sản phẩm/đặt phòng nhưng chưa hoàn tất → hệ thống ghi nhận và nhắc lại kèm ưu đãi đúng lúc.</a:t>
            </a:r>
          </a:p>
        </p:txBody>
      </p:sp>
      <p:sp>
        <p:nvSpPr>
          <p:cNvPr id="11" name="TextBox 10"/>
          <p:cNvSpPr txBox="1"/>
          <p:nvPr/>
        </p:nvSpPr>
        <p:spPr>
          <a:xfrm>
            <a:off x="566928" y="297180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50" b="1" i="0">
                <a:solidFill>
                  <a:srgbClr val="C39851"/>
                </a:solidFill>
                <a:latin typeface="Calibri"/>
              </a:rPr>
              <a:t>HÀNH ĐỘNG KINH DOANH ĐỀ XUẤT (Next-Best-Action)</a:t>
            </a:r>
          </a:p>
        </p:txBody>
      </p:sp>
      <p:sp>
        <p:nvSpPr>
          <p:cNvPr id="12" name="Rectangle 11"/>
          <p:cNvSpPr/>
          <p:nvPr/>
        </p:nvSpPr>
        <p:spPr>
          <a:xfrm>
            <a:off x="566928" y="3383280"/>
            <a:ext cx="2606040" cy="1828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383280"/>
            <a:ext cx="64008" cy="1828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3547872"/>
            <a:ext cx="240487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5" name="TextBox 14"/>
          <p:cNvSpPr txBox="1"/>
          <p:nvPr/>
        </p:nvSpPr>
        <p:spPr>
          <a:xfrm>
            <a:off x="768096" y="4005072"/>
            <a:ext cx="229514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2E2E40"/>
                </a:solidFill>
                <a:latin typeface="Calibri"/>
              </a:rPr>
              <a:t>Giữ chân nguy cơ rời</a:t>
            </a:r>
          </a:p>
        </p:txBody>
      </p:sp>
      <p:sp>
        <p:nvSpPr>
          <p:cNvPr id="16" name="TextBox 15"/>
          <p:cNvSpPr txBox="1"/>
          <p:nvPr/>
        </p:nvSpPr>
        <p:spPr>
          <a:xfrm>
            <a:off x="768096" y="4315968"/>
            <a:ext cx="2249424" cy="7863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050" b="0" i="0">
                <a:solidFill>
                  <a:srgbClr val="565564"/>
                </a:solidFill>
                <a:latin typeface="Calibri"/>
              </a:rPr>
              <a:t>Khách at-risk → ưu đãi/chăm sóc trước khi mất.</a:t>
            </a:r>
          </a:p>
        </p:txBody>
      </p:sp>
      <p:sp>
        <p:nvSpPr>
          <p:cNvPr id="17" name="Rectangle 16"/>
          <p:cNvSpPr/>
          <p:nvPr/>
        </p:nvSpPr>
        <p:spPr>
          <a:xfrm>
            <a:off x="3355848" y="3383280"/>
            <a:ext cx="2606040" cy="1828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55848" y="3383280"/>
            <a:ext cx="64008" cy="1828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7016" y="3547872"/>
            <a:ext cx="240487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0" name="TextBox 19"/>
          <p:cNvSpPr txBox="1"/>
          <p:nvPr/>
        </p:nvSpPr>
        <p:spPr>
          <a:xfrm>
            <a:off x="3557016" y="4005072"/>
            <a:ext cx="229514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2E2E40"/>
                </a:solidFill>
                <a:latin typeface="Calibri"/>
              </a:rPr>
              <a:t>Nhắc giỏ bỏ quên</a:t>
            </a:r>
          </a:p>
        </p:txBody>
      </p:sp>
      <p:sp>
        <p:nvSpPr>
          <p:cNvPr id="21" name="TextBox 20"/>
          <p:cNvSpPr txBox="1"/>
          <p:nvPr/>
        </p:nvSpPr>
        <p:spPr>
          <a:xfrm>
            <a:off x="3557016" y="4315968"/>
            <a:ext cx="2249424" cy="7863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050" b="0" i="0">
                <a:solidFill>
                  <a:srgbClr val="565564"/>
                </a:solidFill>
                <a:latin typeface="Calibri"/>
              </a:rPr>
              <a:t>Nhắc hoàn tất + khuyến khích nhỏ.</a:t>
            </a:r>
          </a:p>
        </p:txBody>
      </p:sp>
      <p:sp>
        <p:nvSpPr>
          <p:cNvPr id="22" name="Rectangle 21"/>
          <p:cNvSpPr/>
          <p:nvPr/>
        </p:nvSpPr>
        <p:spPr>
          <a:xfrm>
            <a:off x="6144768" y="3383280"/>
            <a:ext cx="2606040" cy="1828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44768" y="3383280"/>
            <a:ext cx="64008" cy="1828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5936" y="3547872"/>
            <a:ext cx="240487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5" name="TextBox 24"/>
          <p:cNvSpPr txBox="1"/>
          <p:nvPr/>
        </p:nvSpPr>
        <p:spPr>
          <a:xfrm>
            <a:off x="6345936" y="4005072"/>
            <a:ext cx="229514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2E2E40"/>
                </a:solidFill>
                <a:latin typeface="Calibri"/>
              </a:rPr>
              <a:t>Bán chéo F&amp;B ↔ Khách sạn</a:t>
            </a:r>
          </a:p>
        </p:txBody>
      </p:sp>
      <p:sp>
        <p:nvSpPr>
          <p:cNvPr id="26" name="TextBox 25"/>
          <p:cNvSpPr txBox="1"/>
          <p:nvPr/>
        </p:nvSpPr>
        <p:spPr>
          <a:xfrm>
            <a:off x="6345936" y="4315968"/>
            <a:ext cx="2249424" cy="7863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050" b="0" i="0">
                <a:solidFill>
                  <a:srgbClr val="565564"/>
                </a:solidFill>
                <a:latin typeface="Calibri"/>
              </a:rPr>
              <a:t>Khách khách sạn → mời F&amp;B và ngược lại.</a:t>
            </a:r>
          </a:p>
        </p:txBody>
      </p:sp>
      <p:sp>
        <p:nvSpPr>
          <p:cNvPr id="27" name="Rectangle 26"/>
          <p:cNvSpPr/>
          <p:nvPr/>
        </p:nvSpPr>
        <p:spPr>
          <a:xfrm>
            <a:off x="8933687" y="3383280"/>
            <a:ext cx="2606040" cy="1828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33687" y="3383280"/>
            <a:ext cx="64008" cy="1828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34855" y="3547872"/>
            <a:ext cx="240487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0" name="TextBox 29"/>
          <p:cNvSpPr txBox="1"/>
          <p:nvPr/>
        </p:nvSpPr>
        <p:spPr>
          <a:xfrm>
            <a:off x="9134855" y="4005072"/>
            <a:ext cx="229514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2E2E40"/>
                </a:solidFill>
                <a:latin typeface="Calibri"/>
              </a:rPr>
              <a:t>Đặc quyền VIP</a:t>
            </a:r>
          </a:p>
        </p:txBody>
      </p:sp>
      <p:sp>
        <p:nvSpPr>
          <p:cNvPr id="31" name="TextBox 30"/>
          <p:cNvSpPr txBox="1"/>
          <p:nvPr/>
        </p:nvSpPr>
        <p:spPr>
          <a:xfrm>
            <a:off x="9134855" y="4315968"/>
            <a:ext cx="2249424" cy="7863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050" b="0" i="0">
                <a:solidFill>
                  <a:srgbClr val="565564"/>
                </a:solidFill>
                <a:latin typeface="Calibri"/>
              </a:rPr>
              <a:t>Khách hạng cao → ưu đãi &amp; trải nghiệm riêng.</a:t>
            </a:r>
          </a:p>
        </p:txBody>
      </p:sp>
      <p:sp>
        <p:nvSpPr>
          <p:cNvPr id="32" name="Rectangle 31"/>
          <p:cNvSpPr/>
          <p:nvPr/>
        </p:nvSpPr>
        <p:spPr>
          <a:xfrm>
            <a:off x="566928" y="5440680"/>
            <a:ext cx="11064240" cy="86868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5440680"/>
            <a:ext cx="82296"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440680"/>
            <a:ext cx="10607040" cy="86868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300" b="1" i="0">
                <a:solidFill>
                  <a:srgbClr val="C39851"/>
                </a:solidFill>
                <a:latin typeface="Calibri"/>
              </a:rPr>
              <a:t>Đây là điểm khác biệt lớn nhất: </a:t>
            </a:r>
            <a:r>
              <a:rPr sz="1300" b="0" i="0">
                <a:solidFill>
                  <a:srgbClr val="FFFFFF"/>
                </a:solidFill>
                <a:latin typeface="Calibri"/>
              </a:rPr>
              <a:t>hệ thống không dừng ở BÁO CÁO — nó biến dữ liệu thành HÀNH ĐỘNG bán hàng cụ thể, để OCH không bỏ lỡ cơ hội doanh thu nào.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ĐÀO SÂU CUSTOMER 360 · MINH HOẠ</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Hồ sơ 360° — một màn hình, cả câu chuyện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17</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Toàn cảnh một khách</a:t>
            </a:r>
            <a:r>
              <a:rPr sz="1350">
                <a:solidFill>
                  <a:srgbClr val="1B1B2E"/>
                </a:solidFill>
                <a:latin typeface="Calibri"/>
              </a:rPr>
              <a:t> — định danh, hạng, giá trị, lịch sử giao dịch, hành vi và đề xuất — hợp nhất.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Xuyên thương hiệu</a:t>
            </a:r>
            <a:r>
              <a:rPr sz="1350">
                <a:solidFill>
                  <a:srgbClr val="1B1B2E"/>
                </a:solidFill>
                <a:latin typeface="Calibri"/>
              </a:rPr>
              <a:t> — gộp F&amp;B và khách sạn về một dòng thời gian duy nhất.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Sẵn sàng hành động</a:t>
            </a:r>
            <a:r>
              <a:rPr sz="1350">
                <a:solidFill>
                  <a:srgbClr val="1B1B2E"/>
                </a:solidFill>
                <a:latin typeface="Calibri"/>
              </a:rPr>
              <a:t> — từ hồ sơ, CSKH/marketer thấy ngay nên làm gì tiếp theo.</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ustomer360.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Hồ sơ khách hàng 360° (ảnh thu gọn phần đầu).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INSIGHTS</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Phân tích chuyên sâu (Insights)</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18</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Doanh thu &amp; dự báo (forecast)</a:t>
            </a:r>
            <a:r>
              <a:rPr sz="1350">
                <a:solidFill>
                  <a:srgbClr val="1B1B2E"/>
                </a:solidFill>
                <a:latin typeface="Calibri"/>
              </a:rPr>
              <a:t> — xu hướng doanh thu theo tháng và dự báo giai đoạn tới.</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Vòng đời khách hàng</a:t>
            </a:r>
            <a:r>
              <a:rPr sz="1350">
                <a:solidFill>
                  <a:srgbClr val="1B1B2E"/>
                </a:solidFill>
                <a:latin typeface="Calibri"/>
              </a:rPr>
              <a:t> — phân bố VIP/active/at-risk/dormant — sức khoẻ tệp khách.</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Synergy đa thương hiệu</a:t>
            </a:r>
            <a:r>
              <a:rPr sz="1350">
                <a:solidFill>
                  <a:srgbClr val="1B1B2E"/>
                </a:solidFill>
                <a:latin typeface="Calibri"/>
              </a:rPr>
              <a:t> — đo mức khách dùng nhiều thương hiệu — tiềm năng bán chéo.</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Ra quyết định</a:t>
            </a:r>
            <a:r>
              <a:rPr sz="1350">
                <a:solidFill>
                  <a:srgbClr val="1B1B2E"/>
                </a:solidFill>
                <a:latin typeface="Calibri"/>
              </a:rPr>
              <a:t> — biết nên đầu tư vào đâu để tăng trưởng.</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sights.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Insights — doanh thu, dự báo và vòng đời khách hàng.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AUDIENCES</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Audiences — Phân khúc khách hàng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19</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Tạo tệp khách theo tiêu chí</a:t>
            </a:r>
            <a:r>
              <a:rPr sz="1350">
                <a:solidFill>
                  <a:srgbClr val="1B1B2E"/>
                </a:solidFill>
                <a:latin typeface="Calibri"/>
              </a:rPr>
              <a:t> — kết hợp hạng, hành vi, giá trị, thương hiệu để chọn đúng nhóm.</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Kích hoạt đa kênh</a:t>
            </a:r>
            <a:r>
              <a:rPr sz="1350">
                <a:solidFill>
                  <a:srgbClr val="1B1B2E"/>
                </a:solidFill>
                <a:latin typeface="Calibri"/>
              </a:rPr>
              <a:t> — đẩy tệp ra Email/SMS/Zalo/Ads để chăm sóc.</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Cổng consent</a:t>
            </a:r>
            <a:r>
              <a:rPr sz="1350">
                <a:solidFill>
                  <a:srgbClr val="1B1B2E"/>
                </a:solidFill>
                <a:latin typeface="Calibri"/>
              </a:rPr>
              <a:t> — chỉ khách đã đồng ý mới được nhắm tới — an toàn pháp lý.</a:t>
            </a:r>
          </a:p>
        </p:txBody>
      </p:sp>
      <p:sp>
        <p:nvSpPr>
          <p:cNvPr id="9" name="Rounded Rectangle 8"/>
          <p:cNvSpPr/>
          <p:nvPr/>
        </p:nvSpPr>
        <p:spPr>
          <a:xfrm>
            <a:off x="566928" y="5532120"/>
            <a:ext cx="548640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5532120"/>
            <a:ext cx="51206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150" b="0" i="1">
                <a:solidFill>
                  <a:srgbClr val="2E2E40"/>
                </a:solidFill>
                <a:latin typeface="Calibri"/>
              </a:rPr>
              <a:t>Consent gate đảm bảo mọi kích hoạt đều tôn trọng quyền riêng tư của khách.</a:t>
            </a:r>
          </a:p>
        </p:txBody>
      </p:sp>
      <p:sp>
        <p:nvSpPr>
          <p:cNvPr id="11" name="Rectangle 10"/>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udiences.png"/>
          <p:cNvPicPr>
            <a:picLocks noChangeAspect="1"/>
          </p:cNvPicPr>
          <p:nvPr/>
        </p:nvPicPr>
        <p:blipFill>
          <a:blip r:embed="rId2"/>
          <a:stretch>
            <a:fillRect/>
          </a:stretch>
        </p:blipFill>
        <p:spPr>
          <a:xfrm>
            <a:off x="6392941" y="1783080"/>
            <a:ext cx="5182076" cy="3685031"/>
          </a:xfrm>
          <a:prstGeom prst="rect">
            <a:avLst/>
          </a:prstGeom>
        </p:spPr>
      </p:pic>
      <p:sp>
        <p:nvSpPr>
          <p:cNvPr id="13" name="TextBox 12"/>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Audiences — dựng tệp khách và kích hoạt.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JOURNEYS · 1/2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Journeys — Kéo–thả dựng hành trình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20</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Lưu đồ trực quan trái→phải</a:t>
            </a:r>
            <a:r>
              <a:rPr sz="1350">
                <a:solidFill>
                  <a:srgbClr val="1B1B2E"/>
                </a:solidFill>
                <a:latin typeface="Calibri"/>
              </a:rPr>
              <a:t> — Vào → Điều kiện → Hành động → Chờ → Kết thúc, có nhánh yes/no — dựng bằng kéo–thả, không cần lập trình.</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Các kịch bản tiêu biểu</a:t>
            </a:r>
            <a:r>
              <a:rPr sz="1350">
                <a:solidFill>
                  <a:srgbClr val="1B1B2E"/>
                </a:solidFill>
                <a:latin typeface="Calibri"/>
              </a:rPr>
              <a:t> — chào mừng khách mới, thưởng VIP, kéo lại khách ngủ đông, ưu đãi lưu trú.</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Tự động chạy</a:t>
            </a:r>
            <a:r>
              <a:rPr sz="1350">
                <a:solidFill>
                  <a:srgbClr val="1B1B2E"/>
                </a:solidFill>
                <a:latin typeface="Calibri"/>
              </a:rPr>
              <a:t> — hệ thống tự thực thi theo hành vi khách — 24/7, không cần thao tác thủ công.</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journey-canvas.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Journeys — lưu đồ hành trình chăm sóc dựng bằng kéo–thả.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JOURNEYS · 2/2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Journeys — Theo dõi hiệu quả</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21</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Báo cáo phễu (funnel)</a:t>
            </a:r>
            <a:r>
              <a:rPr sz="1350">
                <a:solidFill>
                  <a:srgbClr val="1B1B2E"/>
                </a:solidFill>
                <a:latin typeface="Calibri"/>
              </a:rPr>
              <a:t> — thấy khách rơi rụng ở bước nào, tỉ lệ chuyển đổi qua từng chặng.</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Theo dõi participant</a:t>
            </a:r>
            <a:r>
              <a:rPr sz="1350">
                <a:solidFill>
                  <a:srgbClr val="1B1B2E"/>
                </a:solidFill>
                <a:latin typeface="Calibri"/>
              </a:rPr>
              <a:t> — bao nhiêu khách đang ở mỗi bước, ai hoàn thành.</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Tối ưu liên tục</a:t>
            </a:r>
            <a:r>
              <a:rPr sz="1350">
                <a:solidFill>
                  <a:srgbClr val="1B1B2E"/>
                </a:solidFill>
                <a:latin typeface="Calibri"/>
              </a:rPr>
              <a:t> — đo tỷ lệ mở, chuyển đổi để cải thiện kịch bản.</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journey-detail.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Journeys — báo cáo phễu &amp; tỉ lệ chuyển đổi của hành trình.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LOYALTY</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Loyalty hợp nhất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22</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Tích &amp; đổi điểm xuyên thương hiệu</a:t>
            </a:r>
            <a:r>
              <a:rPr sz="1350">
                <a:solidFill>
                  <a:srgbClr val="1B1B2E"/>
                </a:solidFill>
                <a:latin typeface="Calibri"/>
              </a:rPr>
              <a:t> — khách tích điểm ở Givral, đổi ở khách sạn — dùng chung.</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Sổ kép minh bạch</a:t>
            </a:r>
            <a:r>
              <a:rPr sz="1350">
                <a:solidFill>
                  <a:srgbClr val="1B1B2E"/>
                </a:solidFill>
                <a:latin typeface="Calibri"/>
              </a:rPr>
              <a:t> — mỗi điểm đều truy vết được nguồn gốc; quỹ điểm không bao giờ âm.</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Gắn kết cả hệ sinh thái</a:t>
            </a:r>
            <a:r>
              <a:rPr sz="1350">
                <a:solidFill>
                  <a:srgbClr val="1B1B2E"/>
                </a:solidFill>
                <a:latin typeface="Calibri"/>
              </a:rPr>
              <a:t> — điểm thưởng là lý do khách quay lại nhiều thương hiệu OCH.</a:t>
            </a:r>
          </a:p>
        </p:txBody>
      </p:sp>
      <p:sp>
        <p:nvSpPr>
          <p:cNvPr id="9" name="Rounded Rectangle 8"/>
          <p:cNvSpPr/>
          <p:nvPr/>
        </p:nvSpPr>
        <p:spPr>
          <a:xfrm>
            <a:off x="566928" y="5532120"/>
            <a:ext cx="548640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5532120"/>
            <a:ext cx="51206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150" b="0" i="1">
                <a:solidFill>
                  <a:srgbClr val="2E2E40"/>
                </a:solidFill>
                <a:latin typeface="Calibri"/>
              </a:rPr>
              <a:t>Ví dụ đời thường: mỗi điểm giống một dòng ghi sổ có “vào” và “ra” khớp nhau — không thất thoát.</a:t>
            </a:r>
          </a:p>
        </p:txBody>
      </p:sp>
      <p:sp>
        <p:nvSpPr>
          <p:cNvPr id="11" name="Rectangle 10"/>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yalty.png"/>
          <p:cNvPicPr>
            <a:picLocks noChangeAspect="1"/>
          </p:cNvPicPr>
          <p:nvPr/>
        </p:nvPicPr>
        <p:blipFill>
          <a:blip r:embed="rId2"/>
          <a:stretch>
            <a:fillRect/>
          </a:stretch>
        </p:blipFill>
        <p:spPr>
          <a:xfrm>
            <a:off x="6392941" y="1783080"/>
            <a:ext cx="5182076" cy="3685031"/>
          </a:xfrm>
          <a:prstGeom prst="rect">
            <a:avLst/>
          </a:prstGeom>
        </p:spPr>
      </p:pic>
      <p:sp>
        <p:nvSpPr>
          <p:cNvPr id="13" name="TextBox 12"/>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Loyalty — tích/đổi điểm hợp nhất, minh bạch.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GOVERNANCE</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Governance — Đồng ý &amp; quyền riêng tư</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23</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Consent theo mục đích</a:t>
            </a:r>
            <a:r>
              <a:rPr sz="1350">
                <a:solidFill>
                  <a:srgbClr val="1B1B2E"/>
                </a:solidFill>
                <a:latin typeface="Calibri"/>
              </a:rPr>
              <a:t> — khách đồng ý cho từng mục đích (email, SMS, quảng cáo...) riêng biệt.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Deny-by-default</a:t>
            </a:r>
            <a:r>
              <a:rPr sz="1350">
                <a:solidFill>
                  <a:srgbClr val="1B1B2E"/>
                </a:solidFill>
                <a:latin typeface="Calibri"/>
              </a:rPr>
              <a:t> — mặc định KHÔNG gửi nếu chưa có đồng ý — an toàn tối đa.</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Tuân thủ &amp; lưu vết</a:t>
            </a:r>
            <a:r>
              <a:rPr sz="1350">
                <a:solidFill>
                  <a:srgbClr val="1B1B2E"/>
                </a:solidFill>
                <a:latin typeface="Calibri"/>
              </a:rPr>
              <a:t> — mọi thay đổi consent đều được ghi lại, sẵn sàng cho kiểm toán.</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overnance.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Governance — quản trị consent theo mục đích.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DATA OPS</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Data Ops — Dữ liệu chủ (Master Data)</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24</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Quản trị thương hiệu / cửa hàng / sản phẩm</a:t>
            </a:r>
            <a:r>
              <a:rPr sz="1350">
                <a:solidFill>
                  <a:srgbClr val="1B1B2E"/>
                </a:solidFill>
                <a:latin typeface="Calibri"/>
              </a:rPr>
              <a:t> — nguồn dữ liệu chuẩn để mọi phân tích chính xác.</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Đầy đủ Thêm / Sửa / Xoá</a:t>
            </a:r>
            <a:r>
              <a:rPr sz="1350">
                <a:solidFill>
                  <a:srgbClr val="1B1B2E"/>
                </a:solidFill>
                <a:latin typeface="Calibri"/>
              </a:rPr>
              <a:t> — đội vận hành tự chủ cập nhật, không phụ thuộc kỹ thuật.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Nền tảng cho phân tích</a:t>
            </a:r>
            <a:r>
              <a:rPr sz="1350">
                <a:solidFill>
                  <a:srgbClr val="1B1B2E"/>
                </a:solidFill>
                <a:latin typeface="Calibri"/>
              </a:rPr>
              <a:t> — dữ liệu chủ sạch → báo cáo &amp; AI đáng tin.</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ops.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Data Ops — quản trị dữ liệu chủ toàn tập đoàn.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TRỢ LÝ AI</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Trợ lý AI — Hỏi đáp dữ liệu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25</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Hỏi bằng ngôn ngữ tự nhiên</a:t>
            </a:r>
            <a:r>
              <a:rPr sz="1350">
                <a:solidFill>
                  <a:srgbClr val="1B1B2E"/>
                </a:solidFill>
                <a:latin typeface="Calibri"/>
              </a:rPr>
              <a:t> — “Khách VIP Nha Trang tháng này?” — trả lời ngay, không cần kỹ thuật.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Gợi ý hành động</a:t>
            </a:r>
            <a:r>
              <a:rPr sz="1350">
                <a:solidFill>
                  <a:srgbClr val="1B1B2E"/>
                </a:solidFill>
                <a:latin typeface="Calibri"/>
              </a:rPr>
              <a:t> — đề xuất nhóm khách nên chăm, nội dung nên gửi.</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Tăng tốc nghiệp vụ</a:t>
            </a:r>
            <a:r>
              <a:rPr sz="1350">
                <a:solidFill>
                  <a:srgbClr val="1B1B2E"/>
                </a:solidFill>
                <a:latin typeface="Calibri"/>
              </a:rPr>
              <a:t> — ai cũng khai thác được dữ liệu, không cần chuyên gia.</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ssistant.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Trợ lý AI — hỏi đáp và gợi ý bằng ngôn ngữ tự nhiên.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AI &amp; GOVERNANCE</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AI &amp; Governance — Quản trị AI</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26</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Quản trị tham số AI</a:t>
            </a:r>
            <a:r>
              <a:rPr sz="1350">
                <a:solidFill>
                  <a:srgbClr val="1B1B2E"/>
                </a:solidFill>
                <a:latin typeface="Calibri"/>
              </a:rPr>
              <a:t> — điều chỉnh ngưỡng chấm điểm churn/CLV/hạng theo chiến lược.</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Minh bạch &amp; audit</a:t>
            </a:r>
            <a:r>
              <a:rPr sz="1350">
                <a:solidFill>
                  <a:srgbClr val="1B1B2E"/>
                </a:solidFill>
                <a:latin typeface="Calibri"/>
              </a:rPr>
              <a:t> — mọi quyết định AI đều lưu vết, giải thích được.</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Kiểm soát trách nhiệm</a:t>
            </a:r>
            <a:r>
              <a:rPr sz="1350">
                <a:solidFill>
                  <a:srgbClr val="1B1B2E"/>
                </a:solidFill>
                <a:latin typeface="Calibri"/>
              </a:rPr>
              <a:t> — AI phục vụ nghiệp vụ trong khuôn khổ OCH đặt ra.</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governance.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AI &amp; Governance — quản trị và audit tham số AI.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PLATFORM</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Platform — Người dùng &amp; phân quyền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27</a:t>
            </a:r>
          </a:p>
        </p:txBody>
      </p:sp>
      <p:sp>
        <p:nvSpPr>
          <p:cNvPr id="8" name="TextBox 7"/>
          <p:cNvSpPr txBox="1"/>
          <p:nvPr/>
        </p:nvSpPr>
        <p:spPr>
          <a:xfrm>
            <a:off x="566928" y="1783080"/>
            <a:ext cx="5486400" cy="4114800"/>
          </a:xfrm>
          <a:prstGeom prst="rect">
            <a:avLst/>
          </a:prstGeom>
          <a:noFill/>
        </p:spPr>
        <p:txBody>
          <a:bodyPr wrap="square" lIns="25400" rIns="25400" tIns="25400">
            <a:spAutoFit/>
          </a:bodyPr>
          <a:lstStyle/>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Quản trị người dùng</a:t>
            </a:r>
            <a:r>
              <a:rPr sz="1350">
                <a:solidFill>
                  <a:srgbClr val="1B1B2E"/>
                </a:solidFill>
                <a:latin typeface="Calibri"/>
              </a:rPr>
              <a:t> — 7 vai trò với quyền hạn phù hợp từng chức năng.</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Phân quyền chặt chẽ</a:t>
            </a:r>
            <a:r>
              <a:rPr sz="1350">
                <a:solidFill>
                  <a:srgbClr val="1B1B2E"/>
                </a:solidFill>
                <a:latin typeface="Calibri"/>
              </a:rPr>
              <a:t> — ai thấy gì, làm gì đều được kiểm soát.</a:t>
            </a:r>
          </a:p>
          <a:p>
            <a:pPr>
              <a:lnSpc>
                <a:spcPct val="105000"/>
              </a:lnSpc>
              <a:spcBef>
                <a:spcPts val="0"/>
              </a:spcBef>
              <a:spcAft>
                <a:spcPts val="900"/>
              </a:spcAft>
            </a:pPr>
            <a:r>
              <a:rPr sz="1150" b="1">
                <a:solidFill>
                  <a:srgbClr val="C39851"/>
                </a:solidFill>
                <a:latin typeface="Calibri"/>
              </a:rPr>
              <a:t>●  </a:t>
            </a:r>
            <a:r>
              <a:rPr sz="1350" b="1">
                <a:solidFill>
                  <a:srgbClr val="2E2E40"/>
                </a:solidFill>
                <a:latin typeface="Calibri"/>
              </a:rPr>
              <a:t>API key</a:t>
            </a:r>
            <a:r>
              <a:rPr sz="1350">
                <a:solidFill>
                  <a:srgbClr val="1B1B2E"/>
                </a:solidFill>
                <a:latin typeface="Calibri"/>
              </a:rPr>
              <a:t> — kết nối an toàn với hệ thống khác của OCH.</a:t>
            </a:r>
          </a:p>
        </p:txBody>
      </p:sp>
      <p:sp>
        <p:nvSpPr>
          <p:cNvPr id="9" name="Rectangle 8"/>
          <p:cNvSpPr/>
          <p:nvPr/>
        </p:nvSpPr>
        <p:spPr>
          <a:xfrm>
            <a:off x="6309360" y="1737360"/>
            <a:ext cx="5349240"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tform.png"/>
          <p:cNvPicPr>
            <a:picLocks noChangeAspect="1"/>
          </p:cNvPicPr>
          <p:nvPr/>
        </p:nvPicPr>
        <p:blipFill>
          <a:blip r:embed="rId2"/>
          <a:stretch>
            <a:fillRect/>
          </a:stretch>
        </p:blipFill>
        <p:spPr>
          <a:xfrm>
            <a:off x="6392941" y="1783080"/>
            <a:ext cx="5182076" cy="3685031"/>
          </a:xfrm>
          <a:prstGeom prst="rect">
            <a:avLst/>
          </a:prstGeom>
        </p:spPr>
      </p:pic>
      <p:sp>
        <p:nvSpPr>
          <p:cNvPr id="11" name="TextBox 10"/>
          <p:cNvSpPr txBox="1"/>
          <p:nvPr/>
        </p:nvSpPr>
        <p:spPr>
          <a:xfrm>
            <a:off x="6309360" y="5550407"/>
            <a:ext cx="53492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Platform — quản trị người dùng, vai trò và API key.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II</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Luồng nghiệp vụ đầu–cuối</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Khách làm gì → hệ thống làm gì → kết quả kinh doanh. Sáu luồng cốt lõi vận hành mỗi ngày.</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1</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Hợp nhất định danh (OCH ID)</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29</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Khách mua ở Givral</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để lại số điện thoại tại quầy bánh.</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Khách nghỉ ở Dusit</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đặt phòng bằng email cá nhân.</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Hệ thống nhận ra</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cùng một người qua các điểm chung.</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Gộp thành 1 OCH ID</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một hồ sơ khách duy nhất.</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OCH thấy đúng MỘT khách hàng thay vì hai người xa lạ — nền tảng cho mọi hoạt động chăm sóc.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Customer 360 — Dựng hồ sơ toàn cảnh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30</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Mọi giao dịch đổ về</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F&amp;B, khách sạn, web, app, CSKH.</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Gắn vào OCH ID</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đúng người, đúng dòng thời gian.</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Tính hạng &amp; giá trị</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Kim cương→Đồng, CLV, nhịp mua.</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Hồ sơ 360° sẵn sàng</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phân tích &amp; đề xuất hành động.</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Mỗi khách có một hồ sơ sống, cập nhật liên tục — CSKH và marketing luôn hiểu khách.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3</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Loyalty — Tích &amp; đổi điểm xuyên thương hiệu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31</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Khách chi tiêu</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tại bất kỳ thương hiệu OCH nào.</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Tích điểm hợp nhất</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vào một ví điểm duy nhất.</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Ghi sổ kép</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mỗi điểm truy vết được, không âm quỹ.</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Đổi điểm bất kỳ đâu</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dùng ở thương hiệu khác.</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Điểm thưởng trở thành sợi dây giữ khách gắn bó với cả hệ sinh thái OCH — tăng tần suất quay lại.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Consent → Kích hoạt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32</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Khách nêu lựa chọn</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đồng ý/từ chối theo mục đích.</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Hệ thống ghi nhận</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deny-by-default, lưu vết đầy đủ.</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Khi chạy chiến dịch</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kiểm tra đồng ý trước khi gửi.</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Chỉ gửi khách đã đồng ý</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tôn trọng quyền riêng tư.</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OCH marketing hiệu quả mà vẫn tuân thủ pháp lý — giảm rủi ro, tăng niềm tin của khách.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5</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Segment → Audience → Kích hoạt đa kênh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33</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Chọn tiêu chí</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vd: khách Vàng Nha Trang ngủ đông.</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Tạo tệp Audience</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danh sách khách mục tiêu.</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Qua cổng consent</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lọc còn khách được phép gửi.</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Kích hoạt đa kênh</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Email/SMS/Zalo/Ads đồng loạt.</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Đúng thông điệp đến đúng nhóm khách qua đúng kênh — chiến dịch hiệu quả, ít lãng phí.</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LUỒNG NGHIỆP VỤ · 6</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AI — Từ dữ liệu đến hành động bán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34</a:t>
            </a:r>
          </a:p>
        </p:txBody>
      </p:sp>
      <p:sp>
        <p:nvSpPr>
          <p:cNvPr id="8" name="Rectangle 7"/>
          <p:cNvSpPr/>
          <p:nvPr/>
        </p:nvSpPr>
        <p:spPr>
          <a:xfrm>
            <a:off x="56692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Thu thập dữ liệu</a:t>
            </a:r>
          </a:p>
        </p:txBody>
      </p:sp>
      <p:sp>
        <p:nvSpPr>
          <p:cNvPr id="11" name="TextBox 10"/>
          <p:cNvSpPr txBox="1"/>
          <p:nvPr/>
        </p:nvSpPr>
        <p:spPr>
          <a:xfrm>
            <a:off x="67665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hành vi, giao dịch, tương tác.</a:t>
            </a:r>
          </a:p>
        </p:txBody>
      </p:sp>
      <p:sp>
        <p:nvSpPr>
          <p:cNvPr id="12" name="Right Arrow 11"/>
          <p:cNvSpPr/>
          <p:nvPr/>
        </p:nvSpPr>
        <p:spPr>
          <a:xfrm>
            <a:off x="301752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5701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AI chấm điểm</a:t>
            </a:r>
          </a:p>
        </p:txBody>
      </p:sp>
      <p:sp>
        <p:nvSpPr>
          <p:cNvPr id="16" name="TextBox 15"/>
          <p:cNvSpPr txBox="1"/>
          <p:nvPr/>
        </p:nvSpPr>
        <p:spPr>
          <a:xfrm>
            <a:off x="355701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nguy cơ rời (churn), CLV, hạng.</a:t>
            </a:r>
          </a:p>
        </p:txBody>
      </p:sp>
      <p:sp>
        <p:nvSpPr>
          <p:cNvPr id="17" name="Right Arrow 16"/>
          <p:cNvSpPr/>
          <p:nvPr/>
        </p:nvSpPr>
        <p:spPr>
          <a:xfrm>
            <a:off x="589788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Đề xuất Next-Best-Action</a:t>
            </a:r>
          </a:p>
        </p:txBody>
      </p:sp>
      <p:sp>
        <p:nvSpPr>
          <p:cNvPr id="21" name="TextBox 20"/>
          <p:cNvSpPr txBox="1"/>
          <p:nvPr/>
        </p:nvSpPr>
        <p:spPr>
          <a:xfrm>
            <a:off x="6437376"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việc nên làm với từng khách.</a:t>
            </a:r>
          </a:p>
        </p:txBody>
      </p:sp>
      <p:sp>
        <p:nvSpPr>
          <p:cNvPr id="22" name="Right Arrow 21"/>
          <p:cNvSpPr/>
          <p:nvPr/>
        </p:nvSpPr>
        <p:spPr>
          <a:xfrm>
            <a:off x="8778240" y="3200399"/>
            <a:ext cx="402336" cy="36576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17735" y="245973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Đội ngũ hành động</a:t>
            </a:r>
          </a:p>
        </p:txBody>
      </p:sp>
      <p:sp>
        <p:nvSpPr>
          <p:cNvPr id="26" name="TextBox 25"/>
          <p:cNvSpPr txBox="1"/>
          <p:nvPr/>
        </p:nvSpPr>
        <p:spPr>
          <a:xfrm>
            <a:off x="9317735" y="2898648"/>
            <a:ext cx="2203704" cy="1463039"/>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chăm sóc, bán chéo, giữ chân.</a:t>
            </a:r>
          </a:p>
        </p:txBody>
      </p:sp>
      <p:sp>
        <p:nvSpPr>
          <p:cNvPr id="27" name="Rectangle 26"/>
          <p:cNvSpPr/>
          <p:nvPr/>
        </p:nvSpPr>
        <p:spPr>
          <a:xfrm>
            <a:off x="566928" y="4892040"/>
            <a:ext cx="11064240" cy="105156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92040"/>
            <a:ext cx="10515600" cy="10515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FFFFFF"/>
                </a:solidFill>
                <a:latin typeface="Calibri"/>
              </a:rPr>
              <a:t>✔  Kết quả kinh doanh: </a:t>
            </a:r>
            <a:r>
              <a:rPr sz="1400" b="0" i="0">
                <a:solidFill>
                  <a:srgbClr val="FFFFFF"/>
                </a:solidFill>
                <a:latin typeface="Calibri"/>
              </a:rPr>
              <a:t>Dữ liệu không nằm im — nó trở thành hành động bán hàng cụ thể, tăng doanh thu trên mỗi khách.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VÌ SAO AICDP CHO OCH KHÁC BIỆT</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Tính ưu việt của nền tảng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35</a:t>
            </a:r>
          </a:p>
        </p:txBody>
      </p:sp>
      <p:sp>
        <p:nvSpPr>
          <p:cNvPr id="8" name="Rectangle 7"/>
          <p:cNvSpPr/>
          <p:nvPr/>
        </p:nvSpPr>
        <p:spPr>
          <a:xfrm>
            <a:off x="56692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Hợp nhất định danh chuẩn xác</a:t>
            </a:r>
          </a:p>
        </p:txBody>
      </p:sp>
      <p:sp>
        <p:nvSpPr>
          <p:cNvPr id="12" name="TextBox 11"/>
          <p:cNvSpPr txBox="1"/>
          <p:nvPr/>
        </p:nvSpPr>
        <p:spPr>
          <a:xfrm>
            <a:off x="76809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Ghép đúng người xuyên thương hiệu, không nhầm lẫn, không trùng lặp.</a:t>
            </a:r>
          </a:p>
        </p:txBody>
      </p:sp>
      <p:sp>
        <p:nvSpPr>
          <p:cNvPr id="13" name="Rectangle 12"/>
          <p:cNvSpPr/>
          <p:nvPr/>
        </p:nvSpPr>
        <p:spPr>
          <a:xfrm>
            <a:off x="427024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7141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Loyalty minh bạch (sổ kép)</a:t>
            </a:r>
          </a:p>
        </p:txBody>
      </p:sp>
      <p:sp>
        <p:nvSpPr>
          <p:cNvPr id="17" name="TextBox 16"/>
          <p:cNvSpPr txBox="1"/>
          <p:nvPr/>
        </p:nvSpPr>
        <p:spPr>
          <a:xfrm>
            <a:off x="447141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Mỗi điểm đều truy vết được, không âm quỹ — kế toán tin cậy.</a:t>
            </a:r>
          </a:p>
        </p:txBody>
      </p:sp>
      <p:sp>
        <p:nvSpPr>
          <p:cNvPr id="18" name="Rectangle 17"/>
          <p:cNvSpPr/>
          <p:nvPr/>
        </p:nvSpPr>
        <p:spPr>
          <a:xfrm>
            <a:off x="7973567"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7"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17473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Consent bất biến</a:t>
            </a:r>
          </a:p>
        </p:txBody>
      </p:sp>
      <p:sp>
        <p:nvSpPr>
          <p:cNvPr id="22" name="TextBox 21"/>
          <p:cNvSpPr txBox="1"/>
          <p:nvPr/>
        </p:nvSpPr>
        <p:spPr>
          <a:xfrm>
            <a:off x="817473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Đồng ý theo mục đích, lưu vết đầy đủ — an tâm tuân thủ.</a:t>
            </a:r>
          </a:p>
        </p:txBody>
      </p:sp>
      <p:sp>
        <p:nvSpPr>
          <p:cNvPr id="23" name="Rectangle 22"/>
          <p:cNvSpPr/>
          <p:nvPr/>
        </p:nvSpPr>
        <p:spPr>
          <a:xfrm>
            <a:off x="56692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Journey đúng người – đúng lúc</a:t>
            </a:r>
          </a:p>
        </p:txBody>
      </p:sp>
      <p:sp>
        <p:nvSpPr>
          <p:cNvPr id="27" name="TextBox 26"/>
          <p:cNvSpPr txBox="1"/>
          <p:nvPr/>
        </p:nvSpPr>
        <p:spPr>
          <a:xfrm>
            <a:off x="76809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Kịch bản tự động phản ứng theo hành vi thực.</a:t>
            </a:r>
          </a:p>
        </p:txBody>
      </p:sp>
      <p:sp>
        <p:nvSpPr>
          <p:cNvPr id="28" name="Rectangle 27"/>
          <p:cNvSpPr/>
          <p:nvPr/>
        </p:nvSpPr>
        <p:spPr>
          <a:xfrm>
            <a:off x="427024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7024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7141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AI GIẢI THÍCH ĐƯỢC</a:t>
            </a:r>
          </a:p>
        </p:txBody>
      </p:sp>
      <p:sp>
        <p:nvSpPr>
          <p:cNvPr id="32" name="TextBox 31"/>
          <p:cNvSpPr txBox="1"/>
          <p:nvPr/>
        </p:nvSpPr>
        <p:spPr>
          <a:xfrm>
            <a:off x="447141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Không phải hộp đen — mỗi đề xuất đều có lý do rõ ràng.</a:t>
            </a:r>
          </a:p>
        </p:txBody>
      </p:sp>
      <p:sp>
        <p:nvSpPr>
          <p:cNvPr id="33" name="Rectangle 32"/>
          <p:cNvSpPr/>
          <p:nvPr/>
        </p:nvSpPr>
        <p:spPr>
          <a:xfrm>
            <a:off x="7973567"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73567"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7473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17473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Self-host — dữ liệu tại VN</a:t>
            </a:r>
          </a:p>
        </p:txBody>
      </p:sp>
      <p:sp>
        <p:nvSpPr>
          <p:cNvPr id="37" name="TextBox 36"/>
          <p:cNvSpPr txBox="1"/>
          <p:nvPr/>
        </p:nvSpPr>
        <p:spPr>
          <a:xfrm>
            <a:off x="817473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Chủ quyền dữ liệu, không phụ thuộc nền tảng nước ngoài.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III</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So sánh &amp; thị trường</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AICDP đặt cạnh các CDP hàng đầu thế giới, và bức tranh thị trường CDP toàn cầu.</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GÓC NHÌN NGHIỆP VỤ · 1/2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So sánh AICDP (cho OCH) vs CDP thị trường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37</a:t>
            </a:r>
          </a:p>
        </p:txBody>
      </p:sp>
      <p:sp>
        <p:nvSpPr>
          <p:cNvPr id="8" name="Rectangle 7"/>
          <p:cNvSpPr/>
          <p:nvPr/>
        </p:nvSpPr>
        <p:spPr>
          <a:xfrm>
            <a:off x="566928" y="1965960"/>
            <a:ext cx="27889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965960"/>
            <a:ext cx="26974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Tiêu chí</a:t>
            </a:r>
          </a:p>
        </p:txBody>
      </p:sp>
      <p:sp>
        <p:nvSpPr>
          <p:cNvPr id="10" name="Rectangle 9"/>
          <p:cNvSpPr/>
          <p:nvPr/>
        </p:nvSpPr>
        <p:spPr>
          <a:xfrm>
            <a:off x="3355848" y="1965960"/>
            <a:ext cx="1874519" cy="566928"/>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1965960"/>
            <a:ext cx="17830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2E2E40"/>
                </a:solidFill>
                <a:latin typeface="Calibri"/>
              </a:rPr>
              <a:t>AICDP / OCH</a:t>
            </a:r>
          </a:p>
        </p:txBody>
      </p:sp>
      <p:sp>
        <p:nvSpPr>
          <p:cNvPr id="12" name="Rectangle 11"/>
          <p:cNvSpPr/>
          <p:nvPr/>
        </p:nvSpPr>
        <p:spPr>
          <a:xfrm>
            <a:off x="523036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7608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Segment</a:t>
            </a:r>
          </a:p>
        </p:txBody>
      </p:sp>
      <p:sp>
        <p:nvSpPr>
          <p:cNvPr id="14" name="Rectangle 13"/>
          <p:cNvSpPr/>
          <p:nvPr/>
        </p:nvSpPr>
        <p:spPr>
          <a:xfrm>
            <a:off x="6464808" y="1965960"/>
            <a:ext cx="14173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965960"/>
            <a:ext cx="132588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Adobe RTCDP</a:t>
            </a:r>
          </a:p>
        </p:txBody>
      </p:sp>
      <p:sp>
        <p:nvSpPr>
          <p:cNvPr id="16" name="Rectangle 15"/>
          <p:cNvSpPr/>
          <p:nvPr/>
        </p:nvSpPr>
        <p:spPr>
          <a:xfrm>
            <a:off x="7882128" y="1965960"/>
            <a:ext cx="11430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7848" y="1965960"/>
            <a:ext cx="10515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Tealium</a:t>
            </a:r>
          </a:p>
        </p:txBody>
      </p:sp>
      <p:sp>
        <p:nvSpPr>
          <p:cNvPr id="18" name="Rectangle 17"/>
          <p:cNvSpPr/>
          <p:nvPr/>
        </p:nvSpPr>
        <p:spPr>
          <a:xfrm>
            <a:off x="902512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Hightouch</a:t>
            </a:r>
          </a:p>
        </p:txBody>
      </p:sp>
      <p:sp>
        <p:nvSpPr>
          <p:cNvPr id="20" name="Rectangle 19"/>
          <p:cNvSpPr/>
          <p:nvPr/>
        </p:nvSpPr>
        <p:spPr>
          <a:xfrm>
            <a:off x="10259568" y="1965960"/>
            <a:ext cx="13716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05288" y="1965960"/>
            <a:ext cx="12801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Treasure Data</a:t>
            </a:r>
          </a:p>
        </p:txBody>
      </p:sp>
      <p:sp>
        <p:nvSpPr>
          <p:cNvPr id="22" name="Rectangle 21"/>
          <p:cNvSpPr/>
          <p:nvPr/>
        </p:nvSpPr>
        <p:spPr>
          <a:xfrm>
            <a:off x="566928" y="2532888"/>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532888"/>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Mô hình triển khai</a:t>
            </a:r>
          </a:p>
        </p:txBody>
      </p:sp>
      <p:sp>
        <p:nvSpPr>
          <p:cNvPr id="24" name="Rectangle 23"/>
          <p:cNvSpPr/>
          <p:nvPr/>
        </p:nvSpPr>
        <p:spPr>
          <a:xfrm>
            <a:off x="3355848" y="2532888"/>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0712" y="2532888"/>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Self-host tại OCH</a:t>
            </a:r>
          </a:p>
        </p:txBody>
      </p:sp>
      <p:sp>
        <p:nvSpPr>
          <p:cNvPr id="26" name="Rectangle 25"/>
          <p:cNvSpPr/>
          <p:nvPr/>
        </p:nvSpPr>
        <p:spPr>
          <a:xfrm>
            <a:off x="523036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85231"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28" name="Rectangle 27"/>
          <p:cNvSpPr/>
          <p:nvPr/>
        </p:nvSpPr>
        <p:spPr>
          <a:xfrm>
            <a:off x="6464808" y="2532888"/>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9672" y="2532888"/>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0" name="Rectangle 29"/>
          <p:cNvSpPr/>
          <p:nvPr/>
        </p:nvSpPr>
        <p:spPr>
          <a:xfrm>
            <a:off x="7882128" y="2532888"/>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2532888"/>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2" name="Rectangle 31"/>
          <p:cNvSpPr/>
          <p:nvPr/>
        </p:nvSpPr>
        <p:spPr>
          <a:xfrm>
            <a:off x="902512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9992"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(ELT)</a:t>
            </a:r>
          </a:p>
        </p:txBody>
      </p:sp>
      <p:sp>
        <p:nvSpPr>
          <p:cNvPr id="34" name="Rectangle 33"/>
          <p:cNvSpPr/>
          <p:nvPr/>
        </p:nvSpPr>
        <p:spPr>
          <a:xfrm>
            <a:off x="10259568" y="2532888"/>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2532888"/>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6" name="Rectangle 35"/>
          <p:cNvSpPr/>
          <p:nvPr/>
        </p:nvSpPr>
        <p:spPr>
          <a:xfrm>
            <a:off x="566928" y="3374136"/>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 y="3374136"/>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Dữ liệu đặt tại Việt Nam</a:t>
            </a:r>
          </a:p>
        </p:txBody>
      </p:sp>
      <p:sp>
        <p:nvSpPr>
          <p:cNvPr id="38" name="Rectangle 37"/>
          <p:cNvSpPr/>
          <p:nvPr/>
        </p:nvSpPr>
        <p:spPr>
          <a:xfrm>
            <a:off x="3355848" y="3374136"/>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10712" y="3374136"/>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chủ quyền</a:t>
            </a:r>
          </a:p>
        </p:txBody>
      </p:sp>
      <p:sp>
        <p:nvSpPr>
          <p:cNvPr id="40" name="Rectangle 39"/>
          <p:cNvSpPr/>
          <p:nvPr/>
        </p:nvSpPr>
        <p:spPr>
          <a:xfrm>
            <a:off x="523036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85231"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 tầng nước ngoài</a:t>
            </a:r>
          </a:p>
        </p:txBody>
      </p:sp>
      <p:sp>
        <p:nvSpPr>
          <p:cNvPr id="42" name="Rectangle 41"/>
          <p:cNvSpPr/>
          <p:nvPr/>
        </p:nvSpPr>
        <p:spPr>
          <a:xfrm>
            <a:off x="6464808" y="3374136"/>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3374136"/>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4" name="Rectangle 43"/>
          <p:cNvSpPr/>
          <p:nvPr/>
        </p:nvSpPr>
        <p:spPr>
          <a:xfrm>
            <a:off x="7882128" y="3374136"/>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3374136"/>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6" name="Rectangle 45"/>
          <p:cNvSpPr/>
          <p:nvPr/>
        </p:nvSpPr>
        <p:spPr>
          <a:xfrm>
            <a:off x="902512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79992"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8" name="Rectangle 47"/>
          <p:cNvSpPr/>
          <p:nvPr/>
        </p:nvSpPr>
        <p:spPr>
          <a:xfrm>
            <a:off x="10259568" y="3374136"/>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14432" y="3374136"/>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50" name="Rectangle 49"/>
          <p:cNvSpPr/>
          <p:nvPr/>
        </p:nvSpPr>
        <p:spPr>
          <a:xfrm>
            <a:off x="566928" y="4215384"/>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4215384"/>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May đo F&amp;B + Khách sạn</a:t>
            </a:r>
          </a:p>
        </p:txBody>
      </p:sp>
      <p:sp>
        <p:nvSpPr>
          <p:cNvPr id="52" name="Rectangle 51"/>
          <p:cNvSpPr/>
          <p:nvPr/>
        </p:nvSpPr>
        <p:spPr>
          <a:xfrm>
            <a:off x="3355848" y="4215384"/>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10712" y="4215384"/>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Thiết kế riêng</a:t>
            </a:r>
          </a:p>
        </p:txBody>
      </p:sp>
      <p:sp>
        <p:nvSpPr>
          <p:cNvPr id="54" name="Rectangle 53"/>
          <p:cNvSpPr/>
          <p:nvPr/>
        </p:nvSpPr>
        <p:spPr>
          <a:xfrm>
            <a:off x="523036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285231"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56" name="Rectangle 55"/>
          <p:cNvSpPr/>
          <p:nvPr/>
        </p:nvSpPr>
        <p:spPr>
          <a:xfrm>
            <a:off x="6464808" y="4215384"/>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19672" y="4215384"/>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58" name="Rectangle 57"/>
          <p:cNvSpPr/>
          <p:nvPr/>
        </p:nvSpPr>
        <p:spPr>
          <a:xfrm>
            <a:off x="7882128" y="4215384"/>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36992" y="4215384"/>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0" name="Rectangle 59"/>
          <p:cNvSpPr/>
          <p:nvPr/>
        </p:nvSpPr>
        <p:spPr>
          <a:xfrm>
            <a:off x="902512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079992"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2" name="Rectangle 61"/>
          <p:cNvSpPr/>
          <p:nvPr/>
        </p:nvSpPr>
        <p:spPr>
          <a:xfrm>
            <a:off x="10259568" y="4215384"/>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14432" y="4215384"/>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4" name="Rectangle 63"/>
          <p:cNvSpPr/>
          <p:nvPr/>
        </p:nvSpPr>
        <p:spPr>
          <a:xfrm>
            <a:off x="566928" y="5056632"/>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5056632"/>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Hợp nhất định danh (OCH ID)</a:t>
            </a:r>
          </a:p>
        </p:txBody>
      </p:sp>
      <p:sp>
        <p:nvSpPr>
          <p:cNvPr id="66" name="Rectangle 65"/>
          <p:cNvSpPr/>
          <p:nvPr/>
        </p:nvSpPr>
        <p:spPr>
          <a:xfrm>
            <a:off x="3355848" y="5056632"/>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10712" y="5056632"/>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Lõi hệ thống</a:t>
            </a:r>
          </a:p>
        </p:txBody>
      </p:sp>
      <p:sp>
        <p:nvSpPr>
          <p:cNvPr id="68" name="Rectangle 67"/>
          <p:cNvSpPr/>
          <p:nvPr/>
        </p:nvSpPr>
        <p:spPr>
          <a:xfrm>
            <a:off x="523036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285231"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0" name="Rectangle 69"/>
          <p:cNvSpPr/>
          <p:nvPr/>
        </p:nvSpPr>
        <p:spPr>
          <a:xfrm>
            <a:off x="6464808" y="5056632"/>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19672" y="5056632"/>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2" name="Rectangle 71"/>
          <p:cNvSpPr/>
          <p:nvPr/>
        </p:nvSpPr>
        <p:spPr>
          <a:xfrm>
            <a:off x="7882128" y="5056632"/>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36992" y="5056632"/>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4" name="Rectangle 73"/>
          <p:cNvSpPr/>
          <p:nvPr/>
        </p:nvSpPr>
        <p:spPr>
          <a:xfrm>
            <a:off x="902512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79992"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Reverse-ETL</a:t>
            </a:r>
          </a:p>
        </p:txBody>
      </p:sp>
      <p:sp>
        <p:nvSpPr>
          <p:cNvPr id="76" name="Rectangle 75"/>
          <p:cNvSpPr/>
          <p:nvPr/>
        </p:nvSpPr>
        <p:spPr>
          <a:xfrm>
            <a:off x="10259568" y="5056632"/>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314432" y="5056632"/>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GÓC NHÌN NGHIỆP VỤ · 2/2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So sánh AICDP (cho OCH) vs CDP thị trường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38</a:t>
            </a:r>
          </a:p>
        </p:txBody>
      </p:sp>
      <p:sp>
        <p:nvSpPr>
          <p:cNvPr id="8" name="Rectangle 7"/>
          <p:cNvSpPr/>
          <p:nvPr/>
        </p:nvSpPr>
        <p:spPr>
          <a:xfrm>
            <a:off x="566928" y="1965960"/>
            <a:ext cx="27889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965960"/>
            <a:ext cx="26974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Tiêu chí</a:t>
            </a:r>
          </a:p>
        </p:txBody>
      </p:sp>
      <p:sp>
        <p:nvSpPr>
          <p:cNvPr id="10" name="Rectangle 9"/>
          <p:cNvSpPr/>
          <p:nvPr/>
        </p:nvSpPr>
        <p:spPr>
          <a:xfrm>
            <a:off x="3355848" y="1965960"/>
            <a:ext cx="1874519" cy="566928"/>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1965960"/>
            <a:ext cx="17830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2E2E40"/>
                </a:solidFill>
                <a:latin typeface="Calibri"/>
              </a:rPr>
              <a:t>AICDP / OCH</a:t>
            </a:r>
          </a:p>
        </p:txBody>
      </p:sp>
      <p:sp>
        <p:nvSpPr>
          <p:cNvPr id="12" name="Rectangle 11"/>
          <p:cNvSpPr/>
          <p:nvPr/>
        </p:nvSpPr>
        <p:spPr>
          <a:xfrm>
            <a:off x="523036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7608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Segment</a:t>
            </a:r>
          </a:p>
        </p:txBody>
      </p:sp>
      <p:sp>
        <p:nvSpPr>
          <p:cNvPr id="14" name="Rectangle 13"/>
          <p:cNvSpPr/>
          <p:nvPr/>
        </p:nvSpPr>
        <p:spPr>
          <a:xfrm>
            <a:off x="6464808" y="1965960"/>
            <a:ext cx="14173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965960"/>
            <a:ext cx="132588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Adobe RTCDP</a:t>
            </a:r>
          </a:p>
        </p:txBody>
      </p:sp>
      <p:sp>
        <p:nvSpPr>
          <p:cNvPr id="16" name="Rectangle 15"/>
          <p:cNvSpPr/>
          <p:nvPr/>
        </p:nvSpPr>
        <p:spPr>
          <a:xfrm>
            <a:off x="7882128" y="1965960"/>
            <a:ext cx="11430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7848" y="1965960"/>
            <a:ext cx="10515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Tealium</a:t>
            </a:r>
          </a:p>
        </p:txBody>
      </p:sp>
      <p:sp>
        <p:nvSpPr>
          <p:cNvPr id="18" name="Rectangle 17"/>
          <p:cNvSpPr/>
          <p:nvPr/>
        </p:nvSpPr>
        <p:spPr>
          <a:xfrm>
            <a:off x="902512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Hightouch</a:t>
            </a:r>
          </a:p>
        </p:txBody>
      </p:sp>
      <p:sp>
        <p:nvSpPr>
          <p:cNvPr id="20" name="Rectangle 19"/>
          <p:cNvSpPr/>
          <p:nvPr/>
        </p:nvSpPr>
        <p:spPr>
          <a:xfrm>
            <a:off x="10259568" y="1965960"/>
            <a:ext cx="13716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05288" y="1965960"/>
            <a:ext cx="12801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Treasure Data</a:t>
            </a:r>
          </a:p>
        </p:txBody>
      </p:sp>
      <p:sp>
        <p:nvSpPr>
          <p:cNvPr id="22" name="Rectangle 21"/>
          <p:cNvSpPr/>
          <p:nvPr/>
        </p:nvSpPr>
        <p:spPr>
          <a:xfrm>
            <a:off x="566928" y="2532888"/>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532888"/>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Loyalty tích hợp sẵn</a:t>
            </a:r>
          </a:p>
        </p:txBody>
      </p:sp>
      <p:sp>
        <p:nvSpPr>
          <p:cNvPr id="24" name="Rectangle 23"/>
          <p:cNvSpPr/>
          <p:nvPr/>
        </p:nvSpPr>
        <p:spPr>
          <a:xfrm>
            <a:off x="3355848" y="2532888"/>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0712" y="2532888"/>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sổ kép</a:t>
            </a:r>
          </a:p>
        </p:txBody>
      </p:sp>
      <p:sp>
        <p:nvSpPr>
          <p:cNvPr id="26" name="Rectangle 25"/>
          <p:cNvSpPr/>
          <p:nvPr/>
        </p:nvSpPr>
        <p:spPr>
          <a:xfrm>
            <a:off x="523036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85231"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28" name="Rectangle 27"/>
          <p:cNvSpPr/>
          <p:nvPr/>
        </p:nvSpPr>
        <p:spPr>
          <a:xfrm>
            <a:off x="6464808" y="2532888"/>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9672" y="2532888"/>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0" name="Rectangle 29"/>
          <p:cNvSpPr/>
          <p:nvPr/>
        </p:nvSpPr>
        <p:spPr>
          <a:xfrm>
            <a:off x="7882128" y="2532888"/>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2532888"/>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2" name="Rectangle 31"/>
          <p:cNvSpPr/>
          <p:nvPr/>
        </p:nvSpPr>
        <p:spPr>
          <a:xfrm>
            <a:off x="902512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9992"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Không</a:t>
            </a:r>
          </a:p>
        </p:txBody>
      </p:sp>
      <p:sp>
        <p:nvSpPr>
          <p:cNvPr id="34" name="Rectangle 33"/>
          <p:cNvSpPr/>
          <p:nvPr/>
        </p:nvSpPr>
        <p:spPr>
          <a:xfrm>
            <a:off x="10259568" y="2532888"/>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2532888"/>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6" name="Rectangle 35"/>
          <p:cNvSpPr/>
          <p:nvPr/>
        </p:nvSpPr>
        <p:spPr>
          <a:xfrm>
            <a:off x="566928" y="3374136"/>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 y="3374136"/>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AI giải thích được</a:t>
            </a:r>
          </a:p>
        </p:txBody>
      </p:sp>
      <p:sp>
        <p:nvSpPr>
          <p:cNvPr id="38" name="Rectangle 37"/>
          <p:cNvSpPr/>
          <p:nvPr/>
        </p:nvSpPr>
        <p:spPr>
          <a:xfrm>
            <a:off x="3355848" y="3374136"/>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10712" y="3374136"/>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minh bạch</a:t>
            </a:r>
          </a:p>
        </p:txBody>
      </p:sp>
      <p:sp>
        <p:nvSpPr>
          <p:cNvPr id="40" name="Rectangle 39"/>
          <p:cNvSpPr/>
          <p:nvPr/>
        </p:nvSpPr>
        <p:spPr>
          <a:xfrm>
            <a:off x="523036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85231"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Hạn chế</a:t>
            </a:r>
          </a:p>
        </p:txBody>
      </p:sp>
      <p:sp>
        <p:nvSpPr>
          <p:cNvPr id="42" name="Rectangle 41"/>
          <p:cNvSpPr/>
          <p:nvPr/>
        </p:nvSpPr>
        <p:spPr>
          <a:xfrm>
            <a:off x="6464808" y="3374136"/>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3374136"/>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 (hộp đen)</a:t>
            </a:r>
          </a:p>
        </p:txBody>
      </p:sp>
      <p:sp>
        <p:nvSpPr>
          <p:cNvPr id="44" name="Rectangle 43"/>
          <p:cNvSpPr/>
          <p:nvPr/>
        </p:nvSpPr>
        <p:spPr>
          <a:xfrm>
            <a:off x="7882128" y="3374136"/>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3374136"/>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Hạn chế</a:t>
            </a:r>
          </a:p>
        </p:txBody>
      </p:sp>
      <p:sp>
        <p:nvSpPr>
          <p:cNvPr id="46" name="Rectangle 45"/>
          <p:cNvSpPr/>
          <p:nvPr/>
        </p:nvSpPr>
        <p:spPr>
          <a:xfrm>
            <a:off x="902512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79992"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Không</a:t>
            </a:r>
          </a:p>
        </p:txBody>
      </p:sp>
      <p:sp>
        <p:nvSpPr>
          <p:cNvPr id="48" name="Rectangle 47"/>
          <p:cNvSpPr/>
          <p:nvPr/>
        </p:nvSpPr>
        <p:spPr>
          <a:xfrm>
            <a:off x="10259568" y="3374136"/>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14432" y="3374136"/>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50" name="Rectangle 49"/>
          <p:cNvSpPr/>
          <p:nvPr/>
        </p:nvSpPr>
        <p:spPr>
          <a:xfrm>
            <a:off x="566928" y="4215384"/>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4215384"/>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Kênh Việt Nam (Zalo ZNS)</a:t>
            </a:r>
          </a:p>
        </p:txBody>
      </p:sp>
      <p:sp>
        <p:nvSpPr>
          <p:cNvPr id="52" name="Rectangle 51"/>
          <p:cNvSpPr/>
          <p:nvPr/>
        </p:nvSpPr>
        <p:spPr>
          <a:xfrm>
            <a:off x="3355848" y="4215384"/>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10712" y="4215384"/>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Hỗ trợ sẵn</a:t>
            </a:r>
          </a:p>
        </p:txBody>
      </p:sp>
      <p:sp>
        <p:nvSpPr>
          <p:cNvPr id="54" name="Rectangle 53"/>
          <p:cNvSpPr/>
          <p:nvPr/>
        </p:nvSpPr>
        <p:spPr>
          <a:xfrm>
            <a:off x="523036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285231"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56" name="Rectangle 55"/>
          <p:cNvSpPr/>
          <p:nvPr/>
        </p:nvSpPr>
        <p:spPr>
          <a:xfrm>
            <a:off x="6464808" y="4215384"/>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19672" y="4215384"/>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58" name="Rectangle 57"/>
          <p:cNvSpPr/>
          <p:nvPr/>
        </p:nvSpPr>
        <p:spPr>
          <a:xfrm>
            <a:off x="7882128" y="4215384"/>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36992" y="4215384"/>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0" name="Rectangle 59"/>
          <p:cNvSpPr/>
          <p:nvPr/>
        </p:nvSpPr>
        <p:spPr>
          <a:xfrm>
            <a:off x="902512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079992"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2" name="Rectangle 61"/>
          <p:cNvSpPr/>
          <p:nvPr/>
        </p:nvSpPr>
        <p:spPr>
          <a:xfrm>
            <a:off x="10259568" y="4215384"/>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14432" y="4215384"/>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4" name="Rectangle 63"/>
          <p:cNvSpPr/>
          <p:nvPr/>
        </p:nvSpPr>
        <p:spPr>
          <a:xfrm>
            <a:off x="566928" y="5056632"/>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5056632"/>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Chi phí license (định tính)</a:t>
            </a:r>
          </a:p>
        </p:txBody>
      </p:sp>
      <p:sp>
        <p:nvSpPr>
          <p:cNvPr id="66" name="Rectangle 65"/>
          <p:cNvSpPr/>
          <p:nvPr/>
        </p:nvSpPr>
        <p:spPr>
          <a:xfrm>
            <a:off x="3355848" y="5056632"/>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10712" y="5056632"/>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Không phí/khách</a:t>
            </a:r>
          </a:p>
        </p:txBody>
      </p:sp>
      <p:sp>
        <p:nvSpPr>
          <p:cNvPr id="68" name="Rectangle 67"/>
          <p:cNvSpPr/>
          <p:nvPr/>
        </p:nvSpPr>
        <p:spPr>
          <a:xfrm>
            <a:off x="523036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285231"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 theo MTU</a:t>
            </a:r>
          </a:p>
        </p:txBody>
      </p:sp>
      <p:sp>
        <p:nvSpPr>
          <p:cNvPr id="70" name="Rectangle 69"/>
          <p:cNvSpPr/>
          <p:nvPr/>
        </p:nvSpPr>
        <p:spPr>
          <a:xfrm>
            <a:off x="6464808" y="5056632"/>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19672" y="5056632"/>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Rất cao</a:t>
            </a:r>
          </a:p>
        </p:txBody>
      </p:sp>
      <p:sp>
        <p:nvSpPr>
          <p:cNvPr id="72" name="Rectangle 71"/>
          <p:cNvSpPr/>
          <p:nvPr/>
        </p:nvSpPr>
        <p:spPr>
          <a:xfrm>
            <a:off x="7882128" y="5056632"/>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36992" y="5056632"/>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a:t>
            </a:r>
          </a:p>
        </p:txBody>
      </p:sp>
      <p:sp>
        <p:nvSpPr>
          <p:cNvPr id="74" name="Rectangle 73"/>
          <p:cNvSpPr/>
          <p:nvPr/>
        </p:nvSpPr>
        <p:spPr>
          <a:xfrm>
            <a:off x="902512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79992"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Theo dòng ĐB</a:t>
            </a:r>
          </a:p>
        </p:txBody>
      </p:sp>
      <p:sp>
        <p:nvSpPr>
          <p:cNvPr id="76" name="Rectangle 75"/>
          <p:cNvSpPr/>
          <p:nvPr/>
        </p:nvSpPr>
        <p:spPr>
          <a:xfrm>
            <a:off x="10259568" y="5056632"/>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314432" y="5056632"/>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a:t>
            </a:r>
          </a:p>
        </p:txBody>
      </p:sp>
      <p:sp>
        <p:nvSpPr>
          <p:cNvPr id="78" name="Rounded Rectangle 77"/>
          <p:cNvSpPr/>
          <p:nvPr/>
        </p:nvSpPr>
        <p:spPr>
          <a:xfrm>
            <a:off x="566928" y="5669280"/>
            <a:ext cx="1106424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2960" y="5669280"/>
            <a:ext cx="106070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250" b="1" i="0">
                <a:solidFill>
                  <a:srgbClr val="2E2E40"/>
                </a:solidFill>
                <a:latin typeface="Calibri"/>
              </a:rPr>
              <a:t>Kết luận: </a:t>
            </a:r>
            <a:r>
              <a:rPr sz="1200" b="0" i="0">
                <a:solidFill>
                  <a:srgbClr val="1B1B2E"/>
                </a:solidFill>
                <a:latin typeface="Calibri"/>
              </a:rPr>
              <a:t>AICDP phù hợp OCH hơn nhờ chủ quyền dữ liệu tại VN, may đo đúng ngành F&amp;B + khách sạn, chi phí sở hữu thấp, và kênh Việt Nam (Zalo). Số liệu đối thủ chỉ định tính — không phóng đại.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IV</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Triển khai &amp; vận hành</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Lộ trình đưa hệ thống vào vận hành thực tế tại OCH — vai trò, run-book và mở rộng.</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TỪ KHẢO SÁT ĐẾN GO-LIVE</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Quy trình triển khai</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40</a:t>
            </a:r>
          </a:p>
        </p:txBody>
      </p:sp>
      <p:sp>
        <p:nvSpPr>
          <p:cNvPr id="8" name="Rectangle 7"/>
          <p:cNvSpPr/>
          <p:nvPr/>
        </p:nvSpPr>
        <p:spPr>
          <a:xfrm>
            <a:off x="566928" y="2331720"/>
            <a:ext cx="1481328" cy="182880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1 · Khảo sát</a:t>
            </a:r>
          </a:p>
        </p:txBody>
      </p:sp>
      <p:sp>
        <p:nvSpPr>
          <p:cNvPr id="11" name="TextBox 10"/>
          <p:cNvSpPr txBox="1"/>
          <p:nvPr/>
        </p:nvSpPr>
        <p:spPr>
          <a:xfrm>
            <a:off x="6400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Hiểu nghiệp vụ, nguồn dữ liệu, mục tiêu.</a:t>
            </a:r>
          </a:p>
        </p:txBody>
      </p:sp>
      <p:sp>
        <p:nvSpPr>
          <p:cNvPr id="12" name="TextBox 11"/>
          <p:cNvSpPr txBox="1"/>
          <p:nvPr/>
        </p:nvSpPr>
        <p:spPr>
          <a:xfrm>
            <a:off x="2029968"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13" name="Rectangle 12"/>
          <p:cNvSpPr/>
          <p:nvPr/>
        </p:nvSpPr>
        <p:spPr>
          <a:xfrm>
            <a:off x="2167128" y="2331720"/>
            <a:ext cx="1481328" cy="182880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671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402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2 · Hạ tầng</a:t>
            </a:r>
          </a:p>
        </p:txBody>
      </p:sp>
      <p:sp>
        <p:nvSpPr>
          <p:cNvPr id="16" name="TextBox 15"/>
          <p:cNvSpPr txBox="1"/>
          <p:nvPr/>
        </p:nvSpPr>
        <p:spPr>
          <a:xfrm>
            <a:off x="22402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Dựng nền tảng self-host tại OCH.</a:t>
            </a:r>
          </a:p>
        </p:txBody>
      </p:sp>
      <p:sp>
        <p:nvSpPr>
          <p:cNvPr id="17" name="TextBox 16"/>
          <p:cNvSpPr txBox="1"/>
          <p:nvPr/>
        </p:nvSpPr>
        <p:spPr>
          <a:xfrm>
            <a:off x="3630168"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18" name="Rectangle 17"/>
          <p:cNvSpPr/>
          <p:nvPr/>
        </p:nvSpPr>
        <p:spPr>
          <a:xfrm>
            <a:off x="3767328" y="2331720"/>
            <a:ext cx="1481328" cy="182880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7673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3 · Tích hợp POS/PMS</a:t>
            </a:r>
          </a:p>
        </p:txBody>
      </p:sp>
      <p:sp>
        <p:nvSpPr>
          <p:cNvPr id="21" name="TextBox 20"/>
          <p:cNvSpPr txBox="1"/>
          <p:nvPr/>
        </p:nvSpPr>
        <p:spPr>
          <a:xfrm>
            <a:off x="38404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Kết nối F&amp;B &amp; khách sạn.</a:t>
            </a:r>
          </a:p>
        </p:txBody>
      </p:sp>
      <p:sp>
        <p:nvSpPr>
          <p:cNvPr id="22" name="TextBox 21"/>
          <p:cNvSpPr txBox="1"/>
          <p:nvPr/>
        </p:nvSpPr>
        <p:spPr>
          <a:xfrm>
            <a:off x="5230368"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23" name="Rectangle 22"/>
          <p:cNvSpPr/>
          <p:nvPr/>
        </p:nvSpPr>
        <p:spPr>
          <a:xfrm>
            <a:off x="5367528" y="2331720"/>
            <a:ext cx="1481328" cy="182880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675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406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4 · Di trú &amp; seed</a:t>
            </a:r>
          </a:p>
        </p:txBody>
      </p:sp>
      <p:sp>
        <p:nvSpPr>
          <p:cNvPr id="26" name="TextBox 25"/>
          <p:cNvSpPr txBox="1"/>
          <p:nvPr/>
        </p:nvSpPr>
        <p:spPr>
          <a:xfrm>
            <a:off x="54406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Nhập dữ liệu lịch sử, hợp nhất định danh.</a:t>
            </a:r>
          </a:p>
        </p:txBody>
      </p:sp>
      <p:sp>
        <p:nvSpPr>
          <p:cNvPr id="27" name="TextBox 26"/>
          <p:cNvSpPr txBox="1"/>
          <p:nvPr/>
        </p:nvSpPr>
        <p:spPr>
          <a:xfrm>
            <a:off x="6830568"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28" name="Rectangle 27"/>
          <p:cNvSpPr/>
          <p:nvPr/>
        </p:nvSpPr>
        <p:spPr>
          <a:xfrm>
            <a:off x="6967728" y="2331720"/>
            <a:ext cx="1481328" cy="182880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677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5 · UAT</a:t>
            </a:r>
          </a:p>
        </p:txBody>
      </p:sp>
      <p:sp>
        <p:nvSpPr>
          <p:cNvPr id="31" name="TextBox 30"/>
          <p:cNvSpPr txBox="1"/>
          <p:nvPr/>
        </p:nvSpPr>
        <p:spPr>
          <a:xfrm>
            <a:off x="70408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Nghiệm thu cùng đội nghiệp vụ.</a:t>
            </a:r>
          </a:p>
        </p:txBody>
      </p:sp>
      <p:sp>
        <p:nvSpPr>
          <p:cNvPr id="32" name="TextBox 31"/>
          <p:cNvSpPr txBox="1"/>
          <p:nvPr/>
        </p:nvSpPr>
        <p:spPr>
          <a:xfrm>
            <a:off x="8430768"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33" name="Rectangle 32"/>
          <p:cNvSpPr/>
          <p:nvPr/>
        </p:nvSpPr>
        <p:spPr>
          <a:xfrm>
            <a:off x="8567928" y="2331720"/>
            <a:ext cx="1481328" cy="182880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679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410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6 · Go-live</a:t>
            </a:r>
          </a:p>
        </p:txBody>
      </p:sp>
      <p:sp>
        <p:nvSpPr>
          <p:cNvPr id="36" name="TextBox 35"/>
          <p:cNvSpPr txBox="1"/>
          <p:nvPr/>
        </p:nvSpPr>
        <p:spPr>
          <a:xfrm>
            <a:off x="86410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Vận hành chính thức.</a:t>
            </a:r>
          </a:p>
        </p:txBody>
      </p:sp>
      <p:sp>
        <p:nvSpPr>
          <p:cNvPr id="37" name="TextBox 36"/>
          <p:cNvSpPr txBox="1"/>
          <p:nvPr/>
        </p:nvSpPr>
        <p:spPr>
          <a:xfrm>
            <a:off x="10030967" y="3063239"/>
            <a:ext cx="155448" cy="3657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800" b="1" i="0">
                <a:solidFill>
                  <a:srgbClr val="C39851"/>
                </a:solidFill>
                <a:latin typeface="Calibri"/>
              </a:rPr>
              <a:t>›</a:t>
            </a:r>
          </a:p>
        </p:txBody>
      </p:sp>
      <p:sp>
        <p:nvSpPr>
          <p:cNvPr id="38" name="Rectangle 37"/>
          <p:cNvSpPr/>
          <p:nvPr/>
        </p:nvSpPr>
        <p:spPr>
          <a:xfrm>
            <a:off x="10168128" y="2331720"/>
            <a:ext cx="1481328" cy="182880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68128" y="2331720"/>
            <a:ext cx="1481328"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41280" y="2459736"/>
            <a:ext cx="1335024" cy="64008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150" b="1" i="0">
                <a:solidFill>
                  <a:srgbClr val="FFFFFF"/>
                </a:solidFill>
                <a:latin typeface="Calibri"/>
              </a:rPr>
              <a:t>7 · Vận hành</a:t>
            </a:r>
          </a:p>
        </p:txBody>
      </p:sp>
      <p:sp>
        <p:nvSpPr>
          <p:cNvPr id="41" name="TextBox 40"/>
          <p:cNvSpPr txBox="1"/>
          <p:nvPr/>
        </p:nvSpPr>
        <p:spPr>
          <a:xfrm>
            <a:off x="10241280" y="3081527"/>
            <a:ext cx="1335024" cy="10058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50" b="0" i="0">
                <a:solidFill>
                  <a:srgbClr val="D8D6E0"/>
                </a:solidFill>
                <a:latin typeface="Calibri"/>
              </a:rPr>
              <a:t>Giám sát, tối ưu, mở rộng.</a:t>
            </a:r>
          </a:p>
        </p:txBody>
      </p:sp>
      <p:sp>
        <p:nvSpPr>
          <p:cNvPr id="42" name="TextBox 41"/>
          <p:cNvSpPr txBox="1"/>
          <p:nvPr/>
        </p:nvSpPr>
        <p:spPr>
          <a:xfrm>
            <a:off x="566928" y="4572000"/>
            <a:ext cx="10972800" cy="4572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250" b="0" i="1">
                <a:solidFill>
                  <a:srgbClr val="565564"/>
                </a:solidFill>
                <a:latin typeface="Calibri"/>
              </a:rPr>
              <a:t>Mỗi giai đoạn có cột mốc nghiệm thu rõ ràng — OCH kiểm soát tiến độ và chất lượng ở từng bước.</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AI LÀM GÌ TRÊN NỀN TẢNG</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Vai trò vận hành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41</a:t>
            </a:r>
          </a:p>
        </p:txBody>
      </p:sp>
      <p:sp>
        <p:nvSpPr>
          <p:cNvPr id="8" name="Rectangle 7"/>
          <p:cNvSpPr/>
          <p:nvPr/>
        </p:nvSpPr>
        <p:spPr>
          <a:xfrm>
            <a:off x="566928" y="192024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92024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848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5420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Điều hành / Lãnh đạo</a:t>
            </a:r>
          </a:p>
        </p:txBody>
      </p:sp>
      <p:sp>
        <p:nvSpPr>
          <p:cNvPr id="12" name="TextBox 11"/>
          <p:cNvSpPr txBox="1"/>
          <p:nvPr/>
        </p:nvSpPr>
        <p:spPr>
          <a:xfrm>
            <a:off x="768096" y="285292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Xem Control Tower, ra quyết định bằng dữ liệu realtime.</a:t>
            </a:r>
          </a:p>
        </p:txBody>
      </p:sp>
      <p:sp>
        <p:nvSpPr>
          <p:cNvPr id="13" name="Rectangle 12"/>
          <p:cNvSpPr/>
          <p:nvPr/>
        </p:nvSpPr>
        <p:spPr>
          <a:xfrm>
            <a:off x="4270248" y="192024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92024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0848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71416" y="25420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Data Steward</a:t>
            </a:r>
          </a:p>
        </p:txBody>
      </p:sp>
      <p:sp>
        <p:nvSpPr>
          <p:cNvPr id="17" name="TextBox 16"/>
          <p:cNvSpPr txBox="1"/>
          <p:nvPr/>
        </p:nvSpPr>
        <p:spPr>
          <a:xfrm>
            <a:off x="4471416" y="285292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Quản trị dữ liệu chủ: thương hiệu, cửa hàng, sản phẩm.</a:t>
            </a:r>
          </a:p>
        </p:txBody>
      </p:sp>
      <p:sp>
        <p:nvSpPr>
          <p:cNvPr id="18" name="Rectangle 17"/>
          <p:cNvSpPr/>
          <p:nvPr/>
        </p:nvSpPr>
        <p:spPr>
          <a:xfrm>
            <a:off x="7973567" y="192024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7" y="192024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08483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174736" y="254203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Marketer</a:t>
            </a:r>
          </a:p>
        </p:txBody>
      </p:sp>
      <p:sp>
        <p:nvSpPr>
          <p:cNvPr id="22" name="TextBox 21"/>
          <p:cNvSpPr txBox="1"/>
          <p:nvPr/>
        </p:nvSpPr>
        <p:spPr>
          <a:xfrm>
            <a:off x="8174736" y="285292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Tạo tệp khách, dựng hành trình, chạy chiến dịch.</a:t>
            </a:r>
          </a:p>
        </p:txBody>
      </p:sp>
      <p:sp>
        <p:nvSpPr>
          <p:cNvPr id="23" name="Rectangle 22"/>
          <p:cNvSpPr/>
          <p:nvPr/>
        </p:nvSpPr>
        <p:spPr>
          <a:xfrm>
            <a:off x="566928" y="406908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6908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CSKH</a:t>
            </a:r>
          </a:p>
        </p:txBody>
      </p:sp>
      <p:sp>
        <p:nvSpPr>
          <p:cNvPr id="27" name="TextBox 26"/>
          <p:cNvSpPr txBox="1"/>
          <p:nvPr/>
        </p:nvSpPr>
        <p:spPr>
          <a:xfrm>
            <a:off x="768096" y="500176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Tra cứu hồ sơ 360°, chăm sóc khách cá nhân hoá.</a:t>
            </a:r>
          </a:p>
        </p:txBody>
      </p:sp>
      <p:sp>
        <p:nvSpPr>
          <p:cNvPr id="28" name="Rectangle 27"/>
          <p:cNvSpPr/>
          <p:nvPr/>
        </p:nvSpPr>
        <p:spPr>
          <a:xfrm>
            <a:off x="4270248" y="406908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70248" y="406908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7141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Compliance / DPO</a:t>
            </a:r>
          </a:p>
        </p:txBody>
      </p:sp>
      <p:sp>
        <p:nvSpPr>
          <p:cNvPr id="32" name="TextBox 31"/>
          <p:cNvSpPr txBox="1"/>
          <p:nvPr/>
        </p:nvSpPr>
        <p:spPr>
          <a:xfrm>
            <a:off x="4471416" y="500176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Quản trị consent, đảm bảo tuân thủ quyền riêng tư.</a:t>
            </a:r>
          </a:p>
        </p:txBody>
      </p:sp>
      <p:sp>
        <p:nvSpPr>
          <p:cNvPr id="33" name="Rectangle 32"/>
          <p:cNvSpPr/>
          <p:nvPr/>
        </p:nvSpPr>
        <p:spPr>
          <a:xfrm>
            <a:off x="7973567" y="406908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73567" y="406908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74736" y="423367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174736" y="469087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50" b="1" i="0">
                <a:solidFill>
                  <a:srgbClr val="2E2E40"/>
                </a:solidFill>
                <a:latin typeface="Calibri"/>
              </a:rPr>
              <a:t>Admin hệ thống</a:t>
            </a:r>
          </a:p>
        </p:txBody>
      </p:sp>
      <p:sp>
        <p:nvSpPr>
          <p:cNvPr id="37" name="TextBox 36"/>
          <p:cNvSpPr txBox="1"/>
          <p:nvPr/>
        </p:nvSpPr>
        <p:spPr>
          <a:xfrm>
            <a:off x="8174736" y="500176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Quản trị người dùng, phân quyền, API key, giám sát.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RUN-BOOK VÀ CÁC GIAI ĐOẠN TIẾP THEO</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Vận hành &amp; lộ trình mở rộng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42</a:t>
            </a:r>
          </a:p>
        </p:txBody>
      </p:sp>
      <p:sp>
        <p:nvSpPr>
          <p:cNvPr id="8" name="TextBox 7"/>
          <p:cNvSpPr txBox="1"/>
          <p:nvPr/>
        </p:nvSpPr>
        <p:spPr>
          <a:xfrm>
            <a:off x="566928" y="1783080"/>
            <a:ext cx="54864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VẬN HÀNH LIÊN TỤC (RUN-BOOK)</a:t>
            </a:r>
          </a:p>
        </p:txBody>
      </p:sp>
      <p:sp>
        <p:nvSpPr>
          <p:cNvPr id="9" name="TextBox 8"/>
          <p:cNvSpPr txBox="1"/>
          <p:nvPr/>
        </p:nvSpPr>
        <p:spPr>
          <a:xfrm>
            <a:off x="566928" y="2194560"/>
            <a:ext cx="5486400" cy="3200400"/>
          </a:xfrm>
          <a:prstGeom prst="rect">
            <a:avLst/>
          </a:prstGeom>
          <a:noFill/>
        </p:spPr>
        <p:txBody>
          <a:bodyPr wrap="square" lIns="25400" rIns="25400" tIns="25400">
            <a:spAutoFit/>
          </a:bodyPr>
          <a:lstStyle/>
          <a:p>
            <a:pPr>
              <a:lnSpc>
                <a:spcPct val="105000"/>
              </a:lnSpc>
              <a:spcBef>
                <a:spcPts val="0"/>
              </a:spcBef>
              <a:spcAft>
                <a:spcPts val="1000"/>
              </a:spcAft>
            </a:pPr>
            <a:r>
              <a:rPr sz="1050" b="1">
                <a:solidFill>
                  <a:srgbClr val="C39851"/>
                </a:solidFill>
                <a:latin typeface="Calibri"/>
              </a:rPr>
              <a:t>●  </a:t>
            </a:r>
            <a:r>
              <a:rPr sz="1250" b="1">
                <a:solidFill>
                  <a:srgbClr val="2E2E40"/>
                </a:solidFill>
                <a:latin typeface="Calibri"/>
              </a:rPr>
              <a:t>Sao lưu định kỳ</a:t>
            </a:r>
            <a:r>
              <a:rPr sz="1250">
                <a:solidFill>
                  <a:srgbClr val="1B1B2E"/>
                </a:solidFill>
                <a:latin typeface="Calibri"/>
              </a:rPr>
              <a:t> — dữ liệu khách hàng được backup an toàn.</a:t>
            </a:r>
          </a:p>
          <a:p>
            <a:pPr>
              <a:lnSpc>
                <a:spcPct val="105000"/>
              </a:lnSpc>
              <a:spcBef>
                <a:spcPts val="0"/>
              </a:spcBef>
              <a:spcAft>
                <a:spcPts val="1000"/>
              </a:spcAft>
            </a:pPr>
            <a:r>
              <a:rPr sz="1050" b="1">
                <a:solidFill>
                  <a:srgbClr val="C39851"/>
                </a:solidFill>
                <a:latin typeface="Calibri"/>
              </a:rPr>
              <a:t>●  </a:t>
            </a:r>
            <a:r>
              <a:rPr sz="1250" b="1">
                <a:solidFill>
                  <a:srgbClr val="2E2E40"/>
                </a:solidFill>
                <a:latin typeface="Calibri"/>
              </a:rPr>
              <a:t>Giám sát 24/7</a:t>
            </a:r>
            <a:r>
              <a:rPr sz="1250">
                <a:solidFill>
                  <a:srgbClr val="1B1B2E"/>
                </a:solidFill>
                <a:latin typeface="Calibri"/>
              </a:rPr>
              <a:t> — cảnh báo sớm sự cố, đảm bảo realtime.</a:t>
            </a:r>
          </a:p>
          <a:p>
            <a:pPr>
              <a:lnSpc>
                <a:spcPct val="105000"/>
              </a:lnSpc>
              <a:spcBef>
                <a:spcPts val="0"/>
              </a:spcBef>
              <a:spcAft>
                <a:spcPts val="1000"/>
              </a:spcAft>
            </a:pPr>
            <a:r>
              <a:rPr sz="1050" b="1">
                <a:solidFill>
                  <a:srgbClr val="C39851"/>
                </a:solidFill>
                <a:latin typeface="Calibri"/>
              </a:rPr>
              <a:t>●  </a:t>
            </a:r>
            <a:r>
              <a:rPr sz="1250" b="1">
                <a:solidFill>
                  <a:srgbClr val="2E2E40"/>
                </a:solidFill>
                <a:latin typeface="Calibri"/>
              </a:rPr>
              <a:t>Kiểm soát chất lượng dữ liệu</a:t>
            </a:r>
            <a:r>
              <a:rPr sz="1250">
                <a:solidFill>
                  <a:srgbClr val="1B1B2E"/>
                </a:solidFill>
                <a:latin typeface="Calibri"/>
              </a:rPr>
              <a:t> — phát hiện &amp; xử lý dữ liệu lỗi.</a:t>
            </a:r>
          </a:p>
          <a:p>
            <a:pPr>
              <a:lnSpc>
                <a:spcPct val="105000"/>
              </a:lnSpc>
              <a:spcBef>
                <a:spcPts val="0"/>
              </a:spcBef>
              <a:spcAft>
                <a:spcPts val="1000"/>
              </a:spcAft>
            </a:pPr>
            <a:r>
              <a:rPr sz="1050" b="1">
                <a:solidFill>
                  <a:srgbClr val="C39851"/>
                </a:solidFill>
                <a:latin typeface="Calibri"/>
              </a:rPr>
              <a:t>●  </a:t>
            </a:r>
            <a:r>
              <a:rPr sz="1250" b="1">
                <a:solidFill>
                  <a:srgbClr val="2E2E40"/>
                </a:solidFill>
                <a:latin typeface="Calibri"/>
              </a:rPr>
              <a:t>Mở rộng theo nhu cầu</a:t>
            </a:r>
            <a:r>
              <a:rPr sz="1250">
                <a:solidFill>
                  <a:srgbClr val="1B1B2E"/>
                </a:solidFill>
                <a:latin typeface="Calibri"/>
              </a:rPr>
              <a:t> — thêm thương hiệu/kênh không gián đoạn.</a:t>
            </a:r>
          </a:p>
          <a:p>
            <a:pPr>
              <a:lnSpc>
                <a:spcPct val="105000"/>
              </a:lnSpc>
              <a:spcBef>
                <a:spcPts val="0"/>
              </a:spcBef>
              <a:spcAft>
                <a:spcPts val="1000"/>
              </a:spcAft>
            </a:pPr>
            <a:r>
              <a:rPr sz="1050" b="1">
                <a:solidFill>
                  <a:srgbClr val="C39851"/>
                </a:solidFill>
                <a:latin typeface="Calibri"/>
              </a:rPr>
              <a:t>●  </a:t>
            </a:r>
            <a:r>
              <a:rPr sz="1250" b="1">
                <a:solidFill>
                  <a:srgbClr val="2E2E40"/>
                </a:solidFill>
                <a:latin typeface="Calibri"/>
              </a:rPr>
              <a:t>Đào tạo &amp; hỗ trợ</a:t>
            </a:r>
            <a:r>
              <a:rPr sz="1250">
                <a:solidFill>
                  <a:srgbClr val="1B1B2E"/>
                </a:solidFill>
                <a:latin typeface="Calibri"/>
              </a:rPr>
              <a:t> — đội nghiệp vụ OCH tự chủ vận hành.</a:t>
            </a:r>
          </a:p>
        </p:txBody>
      </p:sp>
      <p:sp>
        <p:nvSpPr>
          <p:cNvPr id="10" name="TextBox 9"/>
          <p:cNvSpPr txBox="1"/>
          <p:nvPr/>
        </p:nvSpPr>
        <p:spPr>
          <a:xfrm>
            <a:off x="6400800" y="1783080"/>
            <a:ext cx="521208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LỘ TRÌNH PHASE B / C</a:t>
            </a:r>
          </a:p>
        </p:txBody>
      </p:sp>
      <p:sp>
        <p:nvSpPr>
          <p:cNvPr id="11" name="Rectangle 10"/>
          <p:cNvSpPr/>
          <p:nvPr/>
        </p:nvSpPr>
        <p:spPr>
          <a:xfrm>
            <a:off x="6400800" y="2194560"/>
            <a:ext cx="5212080" cy="1143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2194560"/>
            <a:ext cx="64008" cy="1143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01968" y="2359152"/>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Phase B — Kích hoạt nâng cao</a:t>
            </a:r>
          </a:p>
        </p:txBody>
      </p:sp>
      <p:sp>
        <p:nvSpPr>
          <p:cNvPr id="14" name="TextBox 13"/>
          <p:cNvSpPr txBox="1"/>
          <p:nvPr/>
        </p:nvSpPr>
        <p:spPr>
          <a:xfrm>
            <a:off x="6601968" y="2670048"/>
            <a:ext cx="4855464" cy="5577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RudderStack reverse-ETL đầy đủ, thêm kênh (Zalo ZNS, Ads), tối ưu hành trình.</a:t>
            </a:r>
          </a:p>
        </p:txBody>
      </p:sp>
      <p:sp>
        <p:nvSpPr>
          <p:cNvPr id="15" name="Rectangle 14"/>
          <p:cNvSpPr/>
          <p:nvPr/>
        </p:nvSpPr>
        <p:spPr>
          <a:xfrm>
            <a:off x="6400800" y="3474720"/>
            <a:ext cx="5212080" cy="1143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0" y="3474720"/>
            <a:ext cx="64008" cy="114300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1968" y="3639312"/>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Phase C — AI chuyên sâu</a:t>
            </a:r>
          </a:p>
        </p:txBody>
      </p:sp>
      <p:sp>
        <p:nvSpPr>
          <p:cNvPr id="18" name="TextBox 17"/>
          <p:cNvSpPr txBox="1"/>
          <p:nvPr/>
        </p:nvSpPr>
        <p:spPr>
          <a:xfrm>
            <a:off x="6601968" y="3950208"/>
            <a:ext cx="4855464" cy="55778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Dự đoán churn/CLV nâng cao, đề xuất tự động, tối ưu theo thời gian thực.</a:t>
            </a:r>
          </a:p>
        </p:txBody>
      </p:sp>
      <p:sp>
        <p:nvSpPr>
          <p:cNvPr id="19" name="Rectangle 18"/>
          <p:cNvSpPr/>
          <p:nvPr/>
        </p:nvSpPr>
        <p:spPr>
          <a:xfrm>
            <a:off x="6400800" y="4754880"/>
            <a:ext cx="5212080" cy="1143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4754880"/>
            <a:ext cx="64008" cy="114300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1968" y="4919472"/>
            <a:ext cx="490118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Nhân rộng hệ sinh thái</a:t>
            </a:r>
          </a:p>
        </p:txBody>
      </p:sp>
      <p:sp>
        <p:nvSpPr>
          <p:cNvPr id="22" name="TextBox 21"/>
          <p:cNvSpPr txBox="1"/>
          <p:nvPr/>
        </p:nvSpPr>
        <p:spPr>
          <a:xfrm>
            <a:off x="6601968" y="5230368"/>
            <a:ext cx="4855464" cy="5577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Thêm thương hiệu mới của OCH vào nền tảng dùng chung — chi phí biên thấp.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V</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Phụ lục — Thị trường CDP</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Số liệu thật, trích nguồn đầy đủ về quy mô thị trường và hành vi cá nhân hoá.</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 SỐ LIỆU THẬT, TRÍCH NGUỒN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Quy mô &amp; tăng trưởng thị trường CDP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44</a:t>
            </a:r>
          </a:p>
        </p:txBody>
      </p:sp>
      <p:sp>
        <p:nvSpPr>
          <p:cNvPr id="8" name="TextBox 7"/>
          <p:cNvSpPr txBox="1"/>
          <p:nvPr/>
        </p:nvSpPr>
        <p:spPr>
          <a:xfrm>
            <a:off x="566928" y="1737360"/>
            <a:ext cx="10972800" cy="45720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300" b="0" i="0">
                <a:solidFill>
                  <a:srgbClr val="1B1B2E"/>
                </a:solidFill>
                <a:latin typeface="Calibri"/>
              </a:rPr>
              <a:t>Các hãng nghiên cứu dùng phương pháp/định nghĩa khác nhau nên con số khác nhau — nhưng ĐỀU tăng trưởng hai chữ số:</a:t>
            </a:r>
          </a:p>
        </p:txBody>
      </p:sp>
      <p:sp>
        <p:nvSpPr>
          <p:cNvPr id="9" name="Rectangle 8"/>
          <p:cNvSpPr/>
          <p:nvPr/>
        </p:nvSpPr>
        <p:spPr>
          <a:xfrm>
            <a:off x="566928" y="2423160"/>
            <a:ext cx="11064240" cy="80467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423160"/>
            <a:ext cx="82296" cy="80467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423160"/>
            <a:ext cx="3108960" cy="804672"/>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250" b="1" i="0">
                <a:solidFill>
                  <a:srgbClr val="2E2E40"/>
                </a:solidFill>
                <a:latin typeface="Calibri"/>
              </a:rPr>
              <a:t>Grand View Research</a:t>
            </a:r>
          </a:p>
        </p:txBody>
      </p:sp>
      <p:sp>
        <p:nvSpPr>
          <p:cNvPr id="12" name="TextBox 11"/>
          <p:cNvSpPr txBox="1"/>
          <p:nvPr/>
        </p:nvSpPr>
        <p:spPr>
          <a:xfrm>
            <a:off x="3931920" y="2423160"/>
            <a:ext cx="5486400" cy="80467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0" i="0">
                <a:solidFill>
                  <a:srgbClr val="1B1B2E"/>
                </a:solidFill>
                <a:latin typeface="Calibri"/>
              </a:rPr>
              <a:t>8,26 tỷ USD (2025) → 58,41 tỷ USD (2033)</a:t>
            </a:r>
          </a:p>
        </p:txBody>
      </p:sp>
      <p:sp>
        <p:nvSpPr>
          <p:cNvPr id="13" name="Rounded Rectangle 12"/>
          <p:cNvSpPr/>
          <p:nvPr/>
        </p:nvSpPr>
        <p:spPr>
          <a:xfrm>
            <a:off x="9646920" y="2642615"/>
            <a:ext cx="1783080" cy="384048"/>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46920" y="2642615"/>
            <a:ext cx="1783080" cy="3840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1" i="0">
                <a:solidFill>
                  <a:srgbClr val="2E2E40"/>
                </a:solidFill>
                <a:latin typeface="Calibri"/>
              </a:rPr>
              <a:t>CAGR 27,8%</a:t>
            </a:r>
          </a:p>
        </p:txBody>
      </p:sp>
      <p:sp>
        <p:nvSpPr>
          <p:cNvPr id="15" name="Rectangle 14"/>
          <p:cNvSpPr/>
          <p:nvPr/>
        </p:nvSpPr>
        <p:spPr>
          <a:xfrm>
            <a:off x="566928" y="3355848"/>
            <a:ext cx="11064240" cy="80467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55848"/>
            <a:ext cx="82296" cy="80467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55848"/>
            <a:ext cx="3108960" cy="804672"/>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250" b="1" i="0">
                <a:solidFill>
                  <a:srgbClr val="2E2E40"/>
                </a:solidFill>
                <a:latin typeface="Calibri"/>
              </a:rPr>
              <a:t>MarketsandMarkets</a:t>
            </a:r>
          </a:p>
        </p:txBody>
      </p:sp>
      <p:sp>
        <p:nvSpPr>
          <p:cNvPr id="18" name="TextBox 17"/>
          <p:cNvSpPr txBox="1"/>
          <p:nvPr/>
        </p:nvSpPr>
        <p:spPr>
          <a:xfrm>
            <a:off x="3931920" y="3355848"/>
            <a:ext cx="5486400" cy="80467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0" i="0">
                <a:solidFill>
                  <a:srgbClr val="1B1B2E"/>
                </a:solidFill>
                <a:latin typeface="Calibri"/>
              </a:rPr>
              <a:t>9,72 tỷ USD (2025) → 37,11 tỷ USD (2030)</a:t>
            </a:r>
          </a:p>
        </p:txBody>
      </p:sp>
      <p:sp>
        <p:nvSpPr>
          <p:cNvPr id="19" name="Rounded Rectangle 18"/>
          <p:cNvSpPr/>
          <p:nvPr/>
        </p:nvSpPr>
        <p:spPr>
          <a:xfrm>
            <a:off x="9646920" y="3575304"/>
            <a:ext cx="1783080" cy="384048"/>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46920" y="3575304"/>
            <a:ext cx="1783080" cy="3840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1" i="0">
                <a:solidFill>
                  <a:srgbClr val="2E2E40"/>
                </a:solidFill>
                <a:latin typeface="Calibri"/>
              </a:rPr>
              <a:t>CAGR 30,7%</a:t>
            </a:r>
          </a:p>
        </p:txBody>
      </p:sp>
      <p:sp>
        <p:nvSpPr>
          <p:cNvPr id="21" name="Rectangle 20"/>
          <p:cNvSpPr/>
          <p:nvPr/>
        </p:nvSpPr>
        <p:spPr>
          <a:xfrm>
            <a:off x="566928" y="4288536"/>
            <a:ext cx="11064240" cy="80467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288536"/>
            <a:ext cx="82296" cy="80467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288536"/>
            <a:ext cx="3108960" cy="804672"/>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250" b="1" i="0">
                <a:solidFill>
                  <a:srgbClr val="2E2E40"/>
                </a:solidFill>
                <a:latin typeface="Calibri"/>
              </a:rPr>
              <a:t>Fortune Business Insights</a:t>
            </a:r>
          </a:p>
        </p:txBody>
      </p:sp>
      <p:sp>
        <p:nvSpPr>
          <p:cNvPr id="24" name="TextBox 23"/>
          <p:cNvSpPr txBox="1"/>
          <p:nvPr/>
        </p:nvSpPr>
        <p:spPr>
          <a:xfrm>
            <a:off x="3931920" y="4288536"/>
            <a:ext cx="5486400" cy="80467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0" i="0">
                <a:solidFill>
                  <a:srgbClr val="1B1B2E"/>
                </a:solidFill>
                <a:latin typeface="Calibri"/>
              </a:rPr>
              <a:t>3,28 tỷ USD (2025) → 17,03 tỷ USD (2034)</a:t>
            </a:r>
          </a:p>
        </p:txBody>
      </p:sp>
      <p:sp>
        <p:nvSpPr>
          <p:cNvPr id="25" name="Rounded Rectangle 24"/>
          <p:cNvSpPr/>
          <p:nvPr/>
        </p:nvSpPr>
        <p:spPr>
          <a:xfrm>
            <a:off x="9646920" y="4507992"/>
            <a:ext cx="1783080" cy="384048"/>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4507992"/>
            <a:ext cx="1783080" cy="3840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1" i="0">
                <a:solidFill>
                  <a:srgbClr val="2E2E40"/>
                </a:solidFill>
                <a:latin typeface="Calibri"/>
              </a:rPr>
              <a:t>CAGR 19,6%</a:t>
            </a:r>
          </a:p>
        </p:txBody>
      </p:sp>
      <p:sp>
        <p:nvSpPr>
          <p:cNvPr id="27" name="Rectangle 26"/>
          <p:cNvSpPr/>
          <p:nvPr/>
        </p:nvSpPr>
        <p:spPr>
          <a:xfrm>
            <a:off x="566928" y="5221224"/>
            <a:ext cx="11064240" cy="804672"/>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5221224"/>
            <a:ext cx="82296" cy="80467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221224"/>
            <a:ext cx="3108960" cy="804672"/>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250" b="1" i="0">
                <a:solidFill>
                  <a:srgbClr val="2E2E40"/>
                </a:solidFill>
                <a:latin typeface="Calibri"/>
              </a:rPr>
              <a:t>Data Bridge Market Research</a:t>
            </a:r>
          </a:p>
        </p:txBody>
      </p:sp>
      <p:sp>
        <p:nvSpPr>
          <p:cNvPr id="30" name="TextBox 29"/>
          <p:cNvSpPr txBox="1"/>
          <p:nvPr/>
        </p:nvSpPr>
        <p:spPr>
          <a:xfrm>
            <a:off x="3931920" y="5221224"/>
            <a:ext cx="5486400" cy="80467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0" i="0">
                <a:solidFill>
                  <a:srgbClr val="1B1B2E"/>
                </a:solidFill>
                <a:latin typeface="Calibri"/>
              </a:rPr>
              <a:t>8,34 tỷ USD (2024) → 85,18 tỷ USD (2032)</a:t>
            </a:r>
          </a:p>
        </p:txBody>
      </p:sp>
      <p:sp>
        <p:nvSpPr>
          <p:cNvPr id="31" name="Rounded Rectangle 30"/>
          <p:cNvSpPr/>
          <p:nvPr/>
        </p:nvSpPr>
        <p:spPr>
          <a:xfrm>
            <a:off x="9646920" y="5440680"/>
            <a:ext cx="1783080" cy="384048"/>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20" y="5440680"/>
            <a:ext cx="1783080" cy="3840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1" i="0">
                <a:solidFill>
                  <a:srgbClr val="2E2E40"/>
                </a:solidFill>
                <a:latin typeface="Calibri"/>
              </a:rPr>
              <a:t>CAGR 33,7%</a:t>
            </a:r>
          </a:p>
        </p:txBody>
      </p:sp>
      <p:sp>
        <p:nvSpPr>
          <p:cNvPr id="33" name="TextBox 32"/>
          <p:cNvSpPr txBox="1"/>
          <p:nvPr/>
        </p:nvSpPr>
        <p:spPr>
          <a:xfrm>
            <a:off x="566928" y="6263640"/>
            <a:ext cx="109728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0" i="1">
                <a:solidFill>
                  <a:srgbClr val="565564"/>
                </a:solidFill>
                <a:latin typeface="Calibri"/>
              </a:rPr>
              <a:t>Nguồn: grandviewresearch.com · marketsandmarkets.com (Report 94223554) · fortunebusinessinsights.com · databridgemarketresearch.com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TWILIO SEGMENT — STATE OF PERSONALIZATION 2024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Cá nhân hoá &amp; nỗi đau dữ liệu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45</a:t>
            </a:r>
          </a:p>
        </p:txBody>
      </p:sp>
      <p:sp>
        <p:nvSpPr>
          <p:cNvPr id="8" name="Rectangle 7"/>
          <p:cNvSpPr/>
          <p:nvPr/>
        </p:nvSpPr>
        <p:spPr>
          <a:xfrm>
            <a:off x="566928" y="187451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57400"/>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16%</a:t>
            </a:r>
          </a:p>
        </p:txBody>
      </p:sp>
      <p:sp>
        <p:nvSpPr>
          <p:cNvPr id="11" name="TextBox 10"/>
          <p:cNvSpPr txBox="1"/>
          <p:nvPr/>
        </p:nvSpPr>
        <p:spPr>
          <a:xfrm>
            <a:off x="749808" y="283463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thương hiệu “hoàn toàn đồng ý” có đủ dữ liệu hiểu khách hàng</a:t>
            </a:r>
          </a:p>
        </p:txBody>
      </p:sp>
      <p:sp>
        <p:nvSpPr>
          <p:cNvPr id="12" name="Rectangle 11"/>
          <p:cNvSpPr/>
          <p:nvPr/>
        </p:nvSpPr>
        <p:spPr>
          <a:xfrm>
            <a:off x="4270248" y="187451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187451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0248" y="2057400"/>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19%</a:t>
            </a:r>
          </a:p>
        </p:txBody>
      </p:sp>
      <p:sp>
        <p:nvSpPr>
          <p:cNvPr id="15" name="TextBox 14"/>
          <p:cNvSpPr txBox="1"/>
          <p:nvPr/>
        </p:nvSpPr>
        <p:spPr>
          <a:xfrm>
            <a:off x="4453128" y="283463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“hoàn toàn đồng ý” có hồ sơ khách hàng toàn diện</a:t>
            </a:r>
          </a:p>
        </p:txBody>
      </p:sp>
      <p:sp>
        <p:nvSpPr>
          <p:cNvPr id="16" name="Rectangle 15"/>
          <p:cNvSpPr/>
          <p:nvPr/>
        </p:nvSpPr>
        <p:spPr>
          <a:xfrm>
            <a:off x="7973567" y="187451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73567" y="187451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7" y="2057400"/>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+54%</a:t>
            </a:r>
          </a:p>
        </p:txBody>
      </p:sp>
      <p:sp>
        <p:nvSpPr>
          <p:cNvPr id="19" name="TextBox 18"/>
          <p:cNvSpPr txBox="1"/>
          <p:nvPr/>
        </p:nvSpPr>
        <p:spPr>
          <a:xfrm>
            <a:off x="8156447" y="283463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khách chi nhiều hơn khi được cá nhân hoá bằng AI</a:t>
            </a:r>
          </a:p>
        </p:txBody>
      </p:sp>
      <p:sp>
        <p:nvSpPr>
          <p:cNvPr id="20" name="Rectangle 19"/>
          <p:cNvSpPr/>
          <p:nvPr/>
        </p:nvSpPr>
        <p:spPr>
          <a:xfrm>
            <a:off x="566928" y="384047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4047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23359"/>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7/10</a:t>
            </a:r>
          </a:p>
        </p:txBody>
      </p:sp>
      <p:sp>
        <p:nvSpPr>
          <p:cNvPr id="23" name="TextBox 22"/>
          <p:cNvSpPr txBox="1"/>
          <p:nvPr/>
        </p:nvSpPr>
        <p:spPr>
          <a:xfrm>
            <a:off x="749808" y="480059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doanh nghiệp đã dùng AI để cá nhân hoá</a:t>
            </a:r>
          </a:p>
        </p:txBody>
      </p:sp>
      <p:sp>
        <p:nvSpPr>
          <p:cNvPr id="24" name="Rectangle 23"/>
          <p:cNvSpPr/>
          <p:nvPr/>
        </p:nvSpPr>
        <p:spPr>
          <a:xfrm>
            <a:off x="4270248" y="384047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70248" y="384047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0248" y="4023359"/>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86%</a:t>
            </a:r>
          </a:p>
        </p:txBody>
      </p:sp>
      <p:sp>
        <p:nvSpPr>
          <p:cNvPr id="27" name="TextBox 26"/>
          <p:cNvSpPr txBox="1"/>
          <p:nvPr/>
        </p:nvSpPr>
        <p:spPr>
          <a:xfrm>
            <a:off x="4453128" y="480059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lãnh đạo muốn chuyển từ cá nhân hoá phản ứng → DỰ ĐOÁN</a:t>
            </a:r>
          </a:p>
        </p:txBody>
      </p:sp>
      <p:sp>
        <p:nvSpPr>
          <p:cNvPr id="28" name="Rectangle 27"/>
          <p:cNvSpPr/>
          <p:nvPr/>
        </p:nvSpPr>
        <p:spPr>
          <a:xfrm>
            <a:off x="7973567" y="3840479"/>
            <a:ext cx="3474720" cy="1783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3567" y="3840479"/>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73567" y="4023359"/>
            <a:ext cx="347472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C39851"/>
                </a:solidFill>
                <a:latin typeface="Georgia"/>
              </a:rPr>
              <a:t>72%</a:t>
            </a:r>
          </a:p>
        </p:txBody>
      </p:sp>
      <p:sp>
        <p:nvSpPr>
          <p:cNvPr id="31" name="TextBox 30"/>
          <p:cNvSpPr txBox="1"/>
          <p:nvPr/>
        </p:nvSpPr>
        <p:spPr>
          <a:xfrm>
            <a:off x="8156447" y="4800599"/>
            <a:ext cx="310896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100" b="0" i="0">
                <a:solidFill>
                  <a:srgbClr val="565564"/>
                </a:solidFill>
                <a:latin typeface="Calibri"/>
              </a:rPr>
              <a:t>người tiêu dùng KỲ VỌNG trải nghiệm cá nhân hoá (McKinsey)</a:t>
            </a:r>
          </a:p>
        </p:txBody>
      </p:sp>
      <p:sp>
        <p:nvSpPr>
          <p:cNvPr id="32" name="TextBox 31"/>
          <p:cNvSpPr txBox="1"/>
          <p:nvPr/>
        </p:nvSpPr>
        <p:spPr>
          <a:xfrm>
            <a:off x="566928" y="6172200"/>
            <a:ext cx="10972800" cy="32004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850" b="0" i="1">
                <a:solidFill>
                  <a:srgbClr val="565564"/>
                </a:solidFill>
                <a:latin typeface="Calibri"/>
              </a:rPr>
              <a:t>Nguồn: segment.com/state-of-personalization-report · twilio.com/en-us/report/state-of-personalization-report (McKinsey dẫn qua Twilio). Ngoài ra: 89% tin dùng AI có đạo đức là lợi thế cạnh tranh.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VÌ SAO ĐẦU TƯ CDP LÀ ĐÚNG THỜI ĐIỂM</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Hàm ý cho OCH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46</a:t>
            </a:r>
          </a:p>
        </p:txBody>
      </p:sp>
      <p:sp>
        <p:nvSpPr>
          <p:cNvPr id="8" name="TextBox 7"/>
          <p:cNvSpPr txBox="1"/>
          <p:nvPr/>
        </p:nvSpPr>
        <p:spPr>
          <a:xfrm>
            <a:off x="566928" y="192024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2E2E40"/>
                </a:solidFill>
                <a:latin typeface="Calibri"/>
              </a:rPr>
              <a:t>Dữ liệu thị trường + nghiên cứu hành vi hội tụ về một kết luận:</a:t>
            </a:r>
          </a:p>
        </p:txBody>
      </p:sp>
      <p:sp>
        <p:nvSpPr>
          <p:cNvPr id="9" name="Rectangle 8"/>
          <p:cNvSpPr/>
          <p:nvPr/>
        </p:nvSpPr>
        <p:spPr>
          <a:xfrm>
            <a:off x="566928" y="3017520"/>
            <a:ext cx="3474720" cy="2377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017520"/>
            <a:ext cx="64008" cy="23774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182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2" name="TextBox 11"/>
          <p:cNvSpPr txBox="1"/>
          <p:nvPr/>
        </p:nvSpPr>
        <p:spPr>
          <a:xfrm>
            <a:off x="768096" y="3639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Dữ liệu phân mảnh là rào cản #1</a:t>
            </a:r>
          </a:p>
        </p:txBody>
      </p:sp>
      <p:sp>
        <p:nvSpPr>
          <p:cNvPr id="13" name="TextBox 12"/>
          <p:cNvSpPr txBox="1"/>
          <p:nvPr/>
        </p:nvSpPr>
        <p:spPr>
          <a:xfrm>
            <a:off x="768096" y="3950208"/>
            <a:ext cx="3118103" cy="133502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Đa số thương hiệu KHÔNG có hồ sơ khách toàn diện — đúng bài toán OCH đang gặp.</a:t>
            </a:r>
          </a:p>
        </p:txBody>
      </p:sp>
      <p:sp>
        <p:nvSpPr>
          <p:cNvPr id="14" name="Rectangle 13"/>
          <p:cNvSpPr/>
          <p:nvPr/>
        </p:nvSpPr>
        <p:spPr>
          <a:xfrm>
            <a:off x="4270248" y="3017520"/>
            <a:ext cx="3474720" cy="2377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3017520"/>
            <a:ext cx="64008" cy="23774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1416" y="3182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7" name="TextBox 16"/>
          <p:cNvSpPr txBox="1"/>
          <p:nvPr/>
        </p:nvSpPr>
        <p:spPr>
          <a:xfrm>
            <a:off x="4471416" y="3639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CDP + AI = tăng chi tiêu</a:t>
            </a:r>
          </a:p>
        </p:txBody>
      </p:sp>
      <p:sp>
        <p:nvSpPr>
          <p:cNvPr id="18" name="TextBox 17"/>
          <p:cNvSpPr txBox="1"/>
          <p:nvPr/>
        </p:nvSpPr>
        <p:spPr>
          <a:xfrm>
            <a:off x="4471416" y="3950208"/>
            <a:ext cx="3118103" cy="133502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Cá nhân hoá bằng AI giúp khách chi nhiều hơn tới 54% và gắn bó hơn.</a:t>
            </a:r>
          </a:p>
        </p:txBody>
      </p:sp>
      <p:sp>
        <p:nvSpPr>
          <p:cNvPr id="19" name="Rectangle 18"/>
          <p:cNvSpPr/>
          <p:nvPr/>
        </p:nvSpPr>
        <p:spPr>
          <a:xfrm>
            <a:off x="7973567" y="3017520"/>
            <a:ext cx="3474720" cy="2377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7" y="3017520"/>
            <a:ext cx="64008" cy="23774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3182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2" name="TextBox 21"/>
          <p:cNvSpPr txBox="1"/>
          <p:nvPr/>
        </p:nvSpPr>
        <p:spPr>
          <a:xfrm>
            <a:off x="8174736" y="3639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Thị trường tăng tốc</a:t>
            </a:r>
          </a:p>
        </p:txBody>
      </p:sp>
      <p:sp>
        <p:nvSpPr>
          <p:cNvPr id="23" name="TextBox 22"/>
          <p:cNvSpPr txBox="1"/>
          <p:nvPr/>
        </p:nvSpPr>
        <p:spPr>
          <a:xfrm>
            <a:off x="8174736" y="3950208"/>
            <a:ext cx="3118103" cy="1335023"/>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CDP tăng trưởng hai chữ số mỗi năm — đi trước là lợi thế cạnh tranh.</a:t>
            </a:r>
          </a:p>
        </p:txBody>
      </p:sp>
      <p:sp>
        <p:nvSpPr>
          <p:cNvPr id="24" name="Rectangle 23"/>
          <p:cNvSpPr/>
          <p:nvPr/>
        </p:nvSpPr>
        <p:spPr>
          <a:xfrm>
            <a:off x="566928" y="5623560"/>
            <a:ext cx="11064240" cy="7315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623560"/>
            <a:ext cx="10607040" cy="73152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300" b="0" i="1">
                <a:solidFill>
                  <a:srgbClr val="FFFFFF"/>
                </a:solidFill>
                <a:latin typeface="Calibri"/>
              </a:rPr>
              <a:t>OCH có sẵn quy mô đa thương hiệu + tệp khách lớn — chính là môi trường lý tưởng để CDP tạo giá trị nhanh nhất.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22860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PHẦN VI</a:t>
            </a:r>
          </a:p>
        </p:txBody>
      </p:sp>
      <p:sp>
        <p:nvSpPr>
          <p:cNvPr id="5" name="TextBox 4"/>
          <p:cNvSpPr txBox="1"/>
          <p:nvPr/>
        </p:nvSpPr>
        <p:spPr>
          <a:xfrm>
            <a:off x="914400" y="2514600"/>
            <a:ext cx="10058400" cy="128016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4000" b="1" i="0">
                <a:solidFill>
                  <a:srgbClr val="FFFFFF"/>
                </a:solidFill>
                <a:latin typeface="Georgia"/>
              </a:rPr>
              <a:t>Phụ lục kỹ thuật</a:t>
            </a:r>
          </a:p>
        </p:txBody>
      </p:sp>
      <p:sp>
        <p:nvSpPr>
          <p:cNvPr id="6" name="Rectangle 5"/>
          <p:cNvSpPr/>
          <p:nvPr/>
        </p:nvSpPr>
        <p:spPr>
          <a:xfrm>
            <a:off x="941832" y="3794760"/>
            <a:ext cx="1828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4023360"/>
            <a:ext cx="96012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500" b="0" i="0">
                <a:solidFill>
                  <a:srgbClr val="CFCDD8"/>
                </a:solidFill>
                <a:latin typeface="Calibri"/>
              </a:rPr>
              <a:t>Kiến trúc thật của hệ thống: mô hình tích hợp, phương pháp đồng bộ, ELT, ngăn xếp công nghệ và bảo mật.</a:t>
            </a:r>
          </a:p>
        </p:txBody>
      </p:sp>
      <p:sp>
        <p:nvSpPr>
          <p:cNvPr id="8" name="TextBox 7"/>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9" name="TextBox 8"/>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KIẾN TRÚC THẬT</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Mô hình tích hợp kỹ thuật tổng thể</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48</a:t>
            </a:r>
          </a:p>
        </p:txBody>
      </p:sp>
      <p:sp>
        <p:nvSpPr>
          <p:cNvPr id="8" name="Rectangle 7"/>
          <p:cNvSpPr/>
          <p:nvPr/>
        </p:nvSpPr>
        <p:spPr>
          <a:xfrm>
            <a:off x="56692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NGUỒN DỮ LIỆU</a:t>
            </a:r>
          </a:p>
        </p:txBody>
      </p:sp>
      <p:sp>
        <p:nvSpPr>
          <p:cNvPr id="11" name="TextBox 10"/>
          <p:cNvSpPr txBox="1"/>
          <p:nvPr/>
        </p:nvSpPr>
        <p:spPr>
          <a:xfrm>
            <a:off x="67665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0" i="1">
                <a:solidFill>
                  <a:srgbClr val="C39851"/>
                </a:solidFill>
                <a:latin typeface="Calibri"/>
              </a:rPr>
              <a:t>POS (F&amp;B)</a:t>
            </a:r>
          </a:p>
          <a:p>
            <a:pPr algn="ctr">
              <a:lnSpc>
                <a:spcPct val="105000"/>
              </a:lnSpc>
              <a:spcBef>
                <a:spcPts val="0"/>
              </a:spcBef>
              <a:spcAft>
                <a:spcPts val="300"/>
              </a:spcAft>
            </a:pPr>
            <a:r>
              <a:rPr sz="1050" b="0" i="1">
                <a:solidFill>
                  <a:srgbClr val="C39851"/>
                </a:solidFill>
                <a:latin typeface="Calibri"/>
              </a:rPr>
              <a:t>PMS (Khách sạn)</a:t>
            </a:r>
          </a:p>
          <a:p>
            <a:pPr algn="ctr">
              <a:lnSpc>
                <a:spcPct val="105000"/>
              </a:lnSpc>
              <a:spcBef>
                <a:spcPts val="0"/>
              </a:spcBef>
              <a:spcAft>
                <a:spcPts val="300"/>
              </a:spcAft>
            </a:pPr>
            <a:r>
              <a:rPr sz="1050" b="1" i="0">
                <a:solidFill>
                  <a:srgbClr val="FFFFFF"/>
                </a:solidFill>
                <a:latin typeface="Calibri"/>
              </a:rPr>
              <a:t>Web/App SDK</a:t>
            </a:r>
          </a:p>
          <a:p>
            <a:pPr algn="ctr">
              <a:lnSpc>
                <a:spcPct val="105000"/>
              </a:lnSpc>
              <a:spcBef>
                <a:spcPts val="0"/>
              </a:spcBef>
              <a:spcAft>
                <a:spcPts val="300"/>
              </a:spcAft>
            </a:pPr>
            <a:r>
              <a:rPr sz="1050" b="1" i="0">
                <a:solidFill>
                  <a:srgbClr val="FFFFFF"/>
                </a:solidFill>
                <a:latin typeface="Calibri"/>
              </a:rPr>
              <a:t>E-commerce</a:t>
            </a:r>
          </a:p>
          <a:p>
            <a:pPr algn="ctr">
              <a:lnSpc>
                <a:spcPct val="105000"/>
              </a:lnSpc>
              <a:spcBef>
                <a:spcPts val="0"/>
              </a:spcBef>
              <a:spcAft>
                <a:spcPts val="300"/>
              </a:spcAft>
            </a:pPr>
            <a:r>
              <a:rPr sz="1050" b="1" i="0">
                <a:solidFill>
                  <a:srgbClr val="FFFFFF"/>
                </a:solidFill>
                <a:latin typeface="Calibri"/>
              </a:rPr>
              <a:t>Form / CSKH</a:t>
            </a:r>
          </a:p>
        </p:txBody>
      </p:sp>
      <p:sp>
        <p:nvSpPr>
          <p:cNvPr id="12" name="Right Arrow 11"/>
          <p:cNvSpPr/>
          <p:nvPr/>
        </p:nvSpPr>
        <p:spPr>
          <a:xfrm>
            <a:off x="303580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INGESTION</a:t>
            </a:r>
          </a:p>
        </p:txBody>
      </p:sp>
      <p:sp>
        <p:nvSpPr>
          <p:cNvPr id="16" name="TextBox 15"/>
          <p:cNvSpPr txBox="1"/>
          <p:nvPr/>
        </p:nvSpPr>
        <p:spPr>
          <a:xfrm>
            <a:off x="355701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RudderStack OSS</a:t>
            </a:r>
          </a:p>
          <a:p>
            <a:pPr algn="ctr">
              <a:lnSpc>
                <a:spcPct val="105000"/>
              </a:lnSpc>
              <a:spcBef>
                <a:spcPts val="0"/>
              </a:spcBef>
              <a:spcAft>
                <a:spcPts val="300"/>
              </a:spcAft>
            </a:pPr>
            <a:r>
              <a:rPr sz="1050" b="0" i="1">
                <a:solidFill>
                  <a:srgbClr val="C39851"/>
                </a:solidFill>
                <a:latin typeface="Calibri"/>
              </a:rPr>
              <a:t>(thu sự kiện + định tuyến)</a:t>
            </a:r>
          </a:p>
          <a:p>
            <a:pPr algn="ctr">
              <a:lnSpc>
                <a:spcPct val="105000"/>
              </a:lnSpc>
              <a:spcBef>
                <a:spcPts val="0"/>
              </a:spcBef>
              <a:spcAft>
                <a:spcPts val="300"/>
              </a:spcAft>
            </a:pPr>
            <a:r>
              <a:rPr sz="1050" b="1" i="0">
                <a:solidFill>
                  <a:srgbClr val="FFFFFF"/>
                </a:solidFill>
                <a:latin typeface="Calibri"/>
              </a:rPr>
              <a:t>core-api / NestJS</a:t>
            </a:r>
          </a:p>
          <a:p>
            <a:pPr algn="ctr">
              <a:lnSpc>
                <a:spcPct val="105000"/>
              </a:lnSpc>
              <a:spcBef>
                <a:spcPts val="0"/>
              </a:spcBef>
              <a:spcAft>
                <a:spcPts val="300"/>
              </a:spcAft>
            </a:pPr>
            <a:r>
              <a:rPr sz="1050" b="1" i="0">
                <a:solidFill>
                  <a:srgbClr val="FFFFFF"/>
                </a:solidFill>
                <a:latin typeface="Calibri"/>
              </a:rPr>
              <a:t>REST/HTTP + SDK</a:t>
            </a:r>
          </a:p>
        </p:txBody>
      </p:sp>
      <p:sp>
        <p:nvSpPr>
          <p:cNvPr id="17" name="Right Arrow 16"/>
          <p:cNvSpPr/>
          <p:nvPr/>
        </p:nvSpPr>
        <p:spPr>
          <a:xfrm>
            <a:off x="591616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764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LƯU TRỮ</a:t>
            </a:r>
          </a:p>
        </p:txBody>
      </p:sp>
      <p:sp>
        <p:nvSpPr>
          <p:cNvPr id="21" name="TextBox 20"/>
          <p:cNvSpPr txBox="1"/>
          <p:nvPr/>
        </p:nvSpPr>
        <p:spPr>
          <a:xfrm>
            <a:off x="643737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PostgreSQL 18</a:t>
            </a:r>
          </a:p>
          <a:p>
            <a:pPr algn="ctr">
              <a:lnSpc>
                <a:spcPct val="105000"/>
              </a:lnSpc>
              <a:spcBef>
                <a:spcPts val="0"/>
              </a:spcBef>
              <a:spcAft>
                <a:spcPts val="300"/>
              </a:spcAft>
            </a:pPr>
            <a:r>
              <a:rPr sz="1050" b="0" i="1">
                <a:solidFill>
                  <a:srgbClr val="C39851"/>
                </a:solidFill>
                <a:latin typeface="Calibri"/>
              </a:rPr>
              <a:t>(system of record, ACID)</a:t>
            </a:r>
          </a:p>
          <a:p>
            <a:pPr algn="ctr">
              <a:lnSpc>
                <a:spcPct val="105000"/>
              </a:lnSpc>
              <a:spcBef>
                <a:spcPts val="0"/>
              </a:spcBef>
              <a:spcAft>
                <a:spcPts val="300"/>
              </a:spcAft>
            </a:pPr>
            <a:r>
              <a:rPr sz="1050" b="0" i="1">
                <a:solidFill>
                  <a:srgbClr val="C39851"/>
                </a:solidFill>
                <a:latin typeface="Calibri"/>
              </a:rPr>
              <a:t>ClickHouse (OLAP)</a:t>
            </a:r>
          </a:p>
          <a:p>
            <a:pPr algn="ctr">
              <a:lnSpc>
                <a:spcPct val="105000"/>
              </a:lnSpc>
              <a:spcBef>
                <a:spcPts val="0"/>
              </a:spcBef>
              <a:spcAft>
                <a:spcPts val="300"/>
              </a:spcAft>
            </a:pPr>
            <a:r>
              <a:rPr sz="1050" b="0" i="1">
                <a:solidFill>
                  <a:srgbClr val="C39851"/>
                </a:solidFill>
                <a:latin typeface="Calibri"/>
              </a:rPr>
              <a:t>MinIO (object store)</a:t>
            </a:r>
          </a:p>
          <a:p>
            <a:pPr algn="ctr">
              <a:lnSpc>
                <a:spcPct val="105000"/>
              </a:lnSpc>
              <a:spcBef>
                <a:spcPts val="0"/>
              </a:spcBef>
              <a:spcAft>
                <a:spcPts val="300"/>
              </a:spcAft>
            </a:pPr>
            <a:r>
              <a:rPr sz="1050" b="0" i="1">
                <a:solidFill>
                  <a:srgbClr val="C39851"/>
                </a:solidFill>
                <a:latin typeface="Calibri"/>
              </a:rPr>
              <a:t>Redis (cache)</a:t>
            </a:r>
          </a:p>
        </p:txBody>
      </p:sp>
      <p:sp>
        <p:nvSpPr>
          <p:cNvPr id="22" name="Right Arrow 21"/>
          <p:cNvSpPr/>
          <p:nvPr/>
        </p:nvSpPr>
        <p:spPr>
          <a:xfrm>
            <a:off x="879652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08007"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KÍCH HOẠT</a:t>
            </a:r>
          </a:p>
        </p:txBody>
      </p:sp>
      <p:sp>
        <p:nvSpPr>
          <p:cNvPr id="26" name="TextBox 25"/>
          <p:cNvSpPr txBox="1"/>
          <p:nvPr/>
        </p:nvSpPr>
        <p:spPr>
          <a:xfrm>
            <a:off x="9317735"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Reverse-ETL</a:t>
            </a:r>
          </a:p>
          <a:p>
            <a:pPr algn="ctr">
              <a:lnSpc>
                <a:spcPct val="105000"/>
              </a:lnSpc>
              <a:spcBef>
                <a:spcPts val="0"/>
              </a:spcBef>
              <a:spcAft>
                <a:spcPts val="300"/>
              </a:spcAft>
            </a:pPr>
            <a:r>
              <a:rPr sz="1050" b="0" i="1">
                <a:solidFill>
                  <a:srgbClr val="C39851"/>
                </a:solidFill>
                <a:latin typeface="Calibri"/>
              </a:rPr>
              <a:t>(RudderStack)</a:t>
            </a:r>
          </a:p>
          <a:p>
            <a:pPr algn="ctr">
              <a:lnSpc>
                <a:spcPct val="105000"/>
              </a:lnSpc>
              <a:spcBef>
                <a:spcPts val="0"/>
              </a:spcBef>
              <a:spcAft>
                <a:spcPts val="300"/>
              </a:spcAft>
            </a:pPr>
            <a:r>
              <a:rPr sz="1050" b="1" i="0">
                <a:solidFill>
                  <a:srgbClr val="C39851"/>
                </a:solidFill>
                <a:latin typeface="Calibri"/>
              </a:rPr>
              <a:t>→ Email / SMS</a:t>
            </a:r>
          </a:p>
          <a:p>
            <a:pPr algn="ctr">
              <a:lnSpc>
                <a:spcPct val="105000"/>
              </a:lnSpc>
              <a:spcBef>
                <a:spcPts val="0"/>
              </a:spcBef>
              <a:spcAft>
                <a:spcPts val="300"/>
              </a:spcAft>
            </a:pPr>
            <a:r>
              <a:rPr sz="1050" b="1" i="0">
                <a:solidFill>
                  <a:srgbClr val="C39851"/>
                </a:solidFill>
                <a:latin typeface="Calibri"/>
              </a:rPr>
              <a:t>→ Zalo ZNS</a:t>
            </a:r>
          </a:p>
          <a:p>
            <a:pPr algn="ctr">
              <a:lnSpc>
                <a:spcPct val="105000"/>
              </a:lnSpc>
              <a:spcBef>
                <a:spcPts val="0"/>
              </a:spcBef>
              <a:spcAft>
                <a:spcPts val="300"/>
              </a:spcAft>
            </a:pPr>
            <a:r>
              <a:rPr sz="1050" b="1" i="0">
                <a:solidFill>
                  <a:srgbClr val="C39851"/>
                </a:solidFill>
                <a:latin typeface="Calibri"/>
              </a:rPr>
              <a:t>→ Google / Meta / BI</a:t>
            </a:r>
          </a:p>
        </p:txBody>
      </p:sp>
      <p:sp>
        <p:nvSpPr>
          <p:cNvPr id="27" name="Rectangle 26"/>
          <p:cNvSpPr/>
          <p:nvPr/>
        </p:nvSpPr>
        <p:spPr>
          <a:xfrm>
            <a:off x="566928" y="4800600"/>
            <a:ext cx="11064240" cy="685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800600"/>
            <a:ext cx="82296" cy="685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800600"/>
            <a:ext cx="10607040" cy="68580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150" b="1" i="0">
                <a:solidFill>
                  <a:srgbClr val="2E2E40"/>
                </a:solidFill>
                <a:latin typeface="Calibri"/>
              </a:rPr>
              <a:t>Chống trùng dữ liệu (idempotency): </a:t>
            </a:r>
            <a:r>
              <a:rPr sz="1150" b="0" i="0">
                <a:solidFill>
                  <a:srgbClr val="1B1B2E"/>
                </a:solidFill>
                <a:latin typeface="Calibri"/>
              </a:rPr>
              <a:t>mỗi giao dịch POS có khoá duy nhất {thương hiệu}:{cửa hàng}:{mã giao dịch} — gửi lại bao nhiêu lần cũng chỉ ghi nhận MỘT lần, không nhân đôi doanh thu.</a:t>
            </a:r>
          </a:p>
        </p:txBody>
      </p:sp>
      <p:sp>
        <p:nvSpPr>
          <p:cNvPr id="30" name="TextBox 29"/>
          <p:cNvSpPr txBox="1"/>
          <p:nvPr/>
        </p:nvSpPr>
        <p:spPr>
          <a:xfrm>
            <a:off x="566928" y="5623560"/>
            <a:ext cx="10972800" cy="64008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00" b="1" i="0">
                <a:solidFill>
                  <a:srgbClr val="2E2E40"/>
                </a:solidFill>
                <a:latin typeface="Calibri"/>
              </a:rPr>
              <a:t>core-api (NestJS) </a:t>
            </a:r>
            <a:r>
              <a:rPr sz="1100" b="0" i="0">
                <a:solidFill>
                  <a:srgbClr val="565564"/>
                </a:solidFill>
                <a:latin typeface="Calibri"/>
              </a:rPr>
              <a:t>gom định danh + loyalty + consent + ingestion trong MỘT giao dịch ACID — đảm bảo đúng tiền, đúng người ngay tại điểm bán.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CÁC MÔ HÌNH TÍCH HỢP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Phương pháp kết nối &amp; đồng bộ dữ liệu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49</a:t>
            </a:r>
          </a:p>
        </p:txBody>
      </p:sp>
      <p:sp>
        <p:nvSpPr>
          <p:cNvPr id="8" name="Rectangle 7"/>
          <p:cNvSpPr/>
          <p:nvPr/>
        </p:nvSpPr>
        <p:spPr>
          <a:xfrm>
            <a:off x="566928" y="1965960"/>
            <a:ext cx="283464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965960"/>
            <a:ext cx="265176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Mô hình</a:t>
            </a:r>
          </a:p>
        </p:txBody>
      </p:sp>
      <p:sp>
        <p:nvSpPr>
          <p:cNvPr id="10" name="Rectangle 9"/>
          <p:cNvSpPr/>
          <p:nvPr/>
        </p:nvSpPr>
        <p:spPr>
          <a:xfrm>
            <a:off x="3401568" y="1965960"/>
            <a:ext cx="384048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93008" y="1965960"/>
            <a:ext cx="365760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Khi nào dùng</a:t>
            </a:r>
          </a:p>
        </p:txBody>
      </p:sp>
      <p:sp>
        <p:nvSpPr>
          <p:cNvPr id="12" name="Rectangle 11"/>
          <p:cNvSpPr/>
          <p:nvPr/>
        </p:nvSpPr>
        <p:spPr>
          <a:xfrm>
            <a:off x="7242048" y="1965960"/>
            <a:ext cx="438912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33488" y="1965960"/>
            <a:ext cx="42062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Ví dụ tại OCH</a:t>
            </a:r>
          </a:p>
        </p:txBody>
      </p:sp>
      <p:sp>
        <p:nvSpPr>
          <p:cNvPr id="14" name="Rectangle 13"/>
          <p:cNvSpPr/>
          <p:nvPr/>
        </p:nvSpPr>
        <p:spPr>
          <a:xfrm>
            <a:off x="566928" y="2468880"/>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468880"/>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Streaming realtime</a:t>
            </a:r>
          </a:p>
        </p:txBody>
      </p:sp>
      <p:sp>
        <p:nvSpPr>
          <p:cNvPr id="16" name="Rectangle 15"/>
          <p:cNvSpPr/>
          <p:nvPr/>
        </p:nvSpPr>
        <p:spPr>
          <a:xfrm>
            <a:off x="3401568" y="2468880"/>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11296" y="2468880"/>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Cần dữ liệu tức thời khi có sự kiện</a:t>
            </a:r>
          </a:p>
        </p:txBody>
      </p:sp>
      <p:sp>
        <p:nvSpPr>
          <p:cNvPr id="18" name="Rectangle 17"/>
          <p:cNvSpPr/>
          <p:nvPr/>
        </p:nvSpPr>
        <p:spPr>
          <a:xfrm>
            <a:off x="7242048" y="2468880"/>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51775" y="2468880"/>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Giao dịch POS, sự kiện web/app → nạp ngay</a:t>
            </a:r>
          </a:p>
        </p:txBody>
      </p:sp>
      <p:sp>
        <p:nvSpPr>
          <p:cNvPr id="20" name="Rectangle 19"/>
          <p:cNvSpPr/>
          <p:nvPr/>
        </p:nvSpPr>
        <p:spPr>
          <a:xfrm>
            <a:off x="566928" y="3127248"/>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27248"/>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Batch / theo lịch</a:t>
            </a:r>
          </a:p>
        </p:txBody>
      </p:sp>
      <p:sp>
        <p:nvSpPr>
          <p:cNvPr id="22" name="Rectangle 21"/>
          <p:cNvSpPr/>
          <p:nvPr/>
        </p:nvSpPr>
        <p:spPr>
          <a:xfrm>
            <a:off x="3401568" y="3127248"/>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11296" y="3127248"/>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Dữ liệu lớn, không cần tức thời</a:t>
            </a:r>
          </a:p>
        </p:txBody>
      </p:sp>
      <p:sp>
        <p:nvSpPr>
          <p:cNvPr id="24" name="Rectangle 23"/>
          <p:cNvSpPr/>
          <p:nvPr/>
        </p:nvSpPr>
        <p:spPr>
          <a:xfrm>
            <a:off x="7242048" y="3127248"/>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1775" y="3127248"/>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Danh mục sản phẩm, đồng bộ đêm từ file/DB</a:t>
            </a:r>
          </a:p>
        </p:txBody>
      </p:sp>
      <p:sp>
        <p:nvSpPr>
          <p:cNvPr id="26" name="Rectangle 25"/>
          <p:cNvSpPr/>
          <p:nvPr/>
        </p:nvSpPr>
        <p:spPr>
          <a:xfrm>
            <a:off x="566928" y="3785616"/>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785616"/>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CDC (Change Data Capture)</a:t>
            </a:r>
          </a:p>
        </p:txBody>
      </p:sp>
      <p:sp>
        <p:nvSpPr>
          <p:cNvPr id="28" name="Rectangle 27"/>
          <p:cNvSpPr/>
          <p:nvPr/>
        </p:nvSpPr>
        <p:spPr>
          <a:xfrm>
            <a:off x="3401568" y="3785616"/>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3785616"/>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Bắt thay đổi từ CSDL nguồn</a:t>
            </a:r>
          </a:p>
        </p:txBody>
      </p:sp>
      <p:sp>
        <p:nvSpPr>
          <p:cNvPr id="30" name="Rectangle 29"/>
          <p:cNvSpPr/>
          <p:nvPr/>
        </p:nvSpPr>
        <p:spPr>
          <a:xfrm>
            <a:off x="7242048" y="3785616"/>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51775" y="3785616"/>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Cập nhật hồ sơ khách từ hệ thống cũ</a:t>
            </a:r>
          </a:p>
        </p:txBody>
      </p:sp>
      <p:sp>
        <p:nvSpPr>
          <p:cNvPr id="32" name="Rectangle 31"/>
          <p:cNvSpPr/>
          <p:nvPr/>
        </p:nvSpPr>
        <p:spPr>
          <a:xfrm>
            <a:off x="566928" y="4443984"/>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443984"/>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Reverse-ETL</a:t>
            </a:r>
          </a:p>
        </p:txBody>
      </p:sp>
      <p:sp>
        <p:nvSpPr>
          <p:cNvPr id="34" name="Rectangle 33"/>
          <p:cNvSpPr/>
          <p:nvPr/>
        </p:nvSpPr>
        <p:spPr>
          <a:xfrm>
            <a:off x="3401568" y="4443984"/>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11296" y="4443984"/>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Đẩy từ kho dữ liệu ra công cụ SaaS</a:t>
            </a:r>
          </a:p>
        </p:txBody>
      </p:sp>
      <p:sp>
        <p:nvSpPr>
          <p:cNvPr id="36" name="Rectangle 35"/>
          <p:cNvSpPr/>
          <p:nvPr/>
        </p:nvSpPr>
        <p:spPr>
          <a:xfrm>
            <a:off x="7242048" y="4443984"/>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51775" y="4443984"/>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Đẩy tệp Audience sang Zalo ZNS / Ads</a:t>
            </a:r>
          </a:p>
        </p:txBody>
      </p:sp>
      <p:sp>
        <p:nvSpPr>
          <p:cNvPr id="38" name="Rectangle 37"/>
          <p:cNvSpPr/>
          <p:nvPr/>
        </p:nvSpPr>
        <p:spPr>
          <a:xfrm>
            <a:off x="566928" y="5102352"/>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5102352"/>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Webhook</a:t>
            </a:r>
          </a:p>
        </p:txBody>
      </p:sp>
      <p:sp>
        <p:nvSpPr>
          <p:cNvPr id="40" name="Rectangle 39"/>
          <p:cNvSpPr/>
          <p:nvPr/>
        </p:nvSpPr>
        <p:spPr>
          <a:xfrm>
            <a:off x="3401568" y="5102352"/>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11296" y="5102352"/>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Nguồn chủ động “gọi” khi có sự kiện</a:t>
            </a:r>
          </a:p>
        </p:txBody>
      </p:sp>
      <p:sp>
        <p:nvSpPr>
          <p:cNvPr id="42" name="Rectangle 41"/>
          <p:cNvSpPr/>
          <p:nvPr/>
        </p:nvSpPr>
        <p:spPr>
          <a:xfrm>
            <a:off x="7242048" y="5102352"/>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51775" y="5102352"/>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Cổng thanh toán / đối tác báo sự kiện</a:t>
            </a:r>
          </a:p>
        </p:txBody>
      </p:sp>
      <p:sp>
        <p:nvSpPr>
          <p:cNvPr id="44" name="Rectangle 43"/>
          <p:cNvSpPr/>
          <p:nvPr/>
        </p:nvSpPr>
        <p:spPr>
          <a:xfrm>
            <a:off x="566928" y="5760720"/>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5760720"/>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API REST</a:t>
            </a:r>
          </a:p>
        </p:txBody>
      </p:sp>
      <p:sp>
        <p:nvSpPr>
          <p:cNvPr id="46" name="Rectangle 45"/>
          <p:cNvSpPr/>
          <p:nvPr/>
        </p:nvSpPr>
        <p:spPr>
          <a:xfrm>
            <a:off x="3401568" y="5760720"/>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511296" y="5760720"/>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Tích hợp linh hoạt hai chiều</a:t>
            </a:r>
          </a:p>
        </p:txBody>
      </p:sp>
      <p:sp>
        <p:nvSpPr>
          <p:cNvPr id="48" name="Rectangle 47"/>
          <p:cNvSpPr/>
          <p:nvPr/>
        </p:nvSpPr>
        <p:spPr>
          <a:xfrm>
            <a:off x="7242048" y="5760720"/>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51775" y="5760720"/>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Hệ thống khác của OCH đọc/ghi dữ liệu</a:t>
            </a:r>
          </a:p>
        </p:txBody>
      </p:sp>
      <p:sp>
        <p:nvSpPr>
          <p:cNvPr id="50" name="TextBox 49"/>
          <p:cNvSpPr txBox="1"/>
          <p:nvPr/>
        </p:nvSpPr>
        <p:spPr>
          <a:xfrm>
            <a:off x="566928" y="6172200"/>
            <a:ext cx="10972800" cy="36576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000" b="1" i="0">
                <a:solidFill>
                  <a:srgbClr val="2E2E40"/>
                </a:solidFill>
                <a:latin typeface="Calibri"/>
              </a:rPr>
              <a:t>Chú thích: </a:t>
            </a:r>
            <a:r>
              <a:rPr sz="1000" b="0" i="1">
                <a:solidFill>
                  <a:srgbClr val="565564"/>
                </a:solidFill>
                <a:latin typeface="Calibri"/>
              </a:rPr>
              <a:t>ETL/reverse-ETL = luồng đưa dữ liệu vào/ra kho; CDC = bắt thay đổi ở CSDL; Webhook = nguồn tự động “gọi” khi có sự kiện.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PIPELINE DỮ LIỆU</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ELT vs ETL — Cách tiếp cận của hệ thống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50</a:t>
            </a:r>
          </a:p>
        </p:txBody>
      </p:sp>
      <p:sp>
        <p:nvSpPr>
          <p:cNvPr id="8" name="Rectangle 7"/>
          <p:cNvSpPr/>
          <p:nvPr/>
        </p:nvSpPr>
        <p:spPr>
          <a:xfrm>
            <a:off x="566928" y="1874519"/>
            <a:ext cx="5394960" cy="14173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64008" cy="1417320"/>
          </a:xfrm>
          <a:prstGeom prst="rect">
            <a:avLst/>
          </a:prstGeom>
          <a:solidFill>
            <a:srgbClr val="5655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508406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ETL — Transform trước khi load</a:t>
            </a:r>
          </a:p>
        </p:txBody>
      </p:sp>
      <p:sp>
        <p:nvSpPr>
          <p:cNvPr id="11" name="TextBox 10"/>
          <p:cNvSpPr txBox="1"/>
          <p:nvPr/>
        </p:nvSpPr>
        <p:spPr>
          <a:xfrm>
            <a:off x="768096" y="2350008"/>
            <a:ext cx="5038344" cy="8321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Biến đổi dữ liệu TRƯỚC rồi mới nạp vào kho. Cứng nhắc, khó thay đổi khi cần phân tích mới.</a:t>
            </a:r>
          </a:p>
        </p:txBody>
      </p:sp>
      <p:sp>
        <p:nvSpPr>
          <p:cNvPr id="12" name="Rectangle 11"/>
          <p:cNvSpPr/>
          <p:nvPr/>
        </p:nvSpPr>
        <p:spPr>
          <a:xfrm>
            <a:off x="6236208" y="1874519"/>
            <a:ext cx="5394960" cy="14173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1874519"/>
            <a:ext cx="64008" cy="141732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039112"/>
            <a:ext cx="508406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ELT — Load thô trước, Transform sau</a:t>
            </a:r>
          </a:p>
        </p:txBody>
      </p:sp>
      <p:sp>
        <p:nvSpPr>
          <p:cNvPr id="15" name="TextBox 14"/>
          <p:cNvSpPr txBox="1"/>
          <p:nvPr/>
        </p:nvSpPr>
        <p:spPr>
          <a:xfrm>
            <a:off x="6437376" y="2350008"/>
            <a:ext cx="5038344" cy="8321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Nạp dữ liệu THÔ về kho trước, rồi chuẩn hoá &amp; tính toán trong kho. Linh hoạt, giữ được dữ liệu gốc.</a:t>
            </a:r>
          </a:p>
        </p:txBody>
      </p:sp>
      <p:sp>
        <p:nvSpPr>
          <p:cNvPr id="16" name="TextBox 15"/>
          <p:cNvSpPr txBox="1"/>
          <p:nvPr/>
        </p:nvSpPr>
        <p:spPr>
          <a:xfrm>
            <a:off x="566928" y="352044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Hệ thống OCH dùng hướng ELT + streaming ingestion:</a:t>
            </a:r>
          </a:p>
        </p:txBody>
      </p:sp>
      <p:sp>
        <p:nvSpPr>
          <p:cNvPr id="17" name="Rectangle 16"/>
          <p:cNvSpPr/>
          <p:nvPr/>
        </p:nvSpPr>
        <p:spPr>
          <a:xfrm>
            <a:off x="566928" y="4069080"/>
            <a:ext cx="2423160" cy="14173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Extract</a:t>
            </a:r>
          </a:p>
        </p:txBody>
      </p:sp>
      <p:sp>
        <p:nvSpPr>
          <p:cNvPr id="20" name="TextBox 19"/>
          <p:cNvSpPr txBox="1"/>
          <p:nvPr/>
        </p:nvSpPr>
        <p:spPr>
          <a:xfrm>
            <a:off x="67665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Trích xuất từ POS, PMS, web/app, form</a:t>
            </a:r>
          </a:p>
        </p:txBody>
      </p:sp>
      <p:sp>
        <p:nvSpPr>
          <p:cNvPr id="21" name="Right Arrow 20"/>
          <p:cNvSpPr/>
          <p:nvPr/>
        </p:nvSpPr>
        <p:spPr>
          <a:xfrm>
            <a:off x="303580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4069080"/>
            <a:ext cx="2423160" cy="14173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4728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Load (raw)</a:t>
            </a:r>
          </a:p>
        </p:txBody>
      </p:sp>
      <p:sp>
        <p:nvSpPr>
          <p:cNvPr id="25" name="TextBox 24"/>
          <p:cNvSpPr txBox="1"/>
          <p:nvPr/>
        </p:nvSpPr>
        <p:spPr>
          <a:xfrm>
            <a:off x="355701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Nạp dữ liệu THÔ về hệ thống (PostgreSQL / MinIO)</a:t>
            </a:r>
          </a:p>
        </p:txBody>
      </p:sp>
      <p:sp>
        <p:nvSpPr>
          <p:cNvPr id="26" name="Right Arrow 25"/>
          <p:cNvSpPr/>
          <p:nvPr/>
        </p:nvSpPr>
        <p:spPr>
          <a:xfrm>
            <a:off x="591616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27648" y="4069080"/>
            <a:ext cx="2423160" cy="14173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2764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Transform</a:t>
            </a:r>
          </a:p>
        </p:txBody>
      </p:sp>
      <p:sp>
        <p:nvSpPr>
          <p:cNvPr id="30" name="TextBox 29"/>
          <p:cNvSpPr txBox="1"/>
          <p:nvPr/>
        </p:nvSpPr>
        <p:spPr>
          <a:xfrm>
            <a:off x="643737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Chuẩn hoá thành canonical model + đặc trưng (feature)</a:t>
            </a:r>
          </a:p>
        </p:txBody>
      </p:sp>
      <p:sp>
        <p:nvSpPr>
          <p:cNvPr id="31" name="Right Arrow 30"/>
          <p:cNvSpPr/>
          <p:nvPr/>
        </p:nvSpPr>
        <p:spPr>
          <a:xfrm>
            <a:off x="879652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08007" y="4069080"/>
            <a:ext cx="2423160" cy="14173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08007"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17735"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Serve</a:t>
            </a:r>
          </a:p>
        </p:txBody>
      </p:sp>
      <p:sp>
        <p:nvSpPr>
          <p:cNvPr id="35" name="TextBox 34"/>
          <p:cNvSpPr txBox="1"/>
          <p:nvPr/>
        </p:nvSpPr>
        <p:spPr>
          <a:xfrm>
            <a:off x="9317735"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Phục vụ phân tích trong ClickHouse + Profile API</a:t>
            </a:r>
          </a:p>
        </p:txBody>
      </p:sp>
      <p:sp>
        <p:nvSpPr>
          <p:cNvPr id="36" name="TextBox 35"/>
          <p:cNvSpPr txBox="1"/>
          <p:nvPr/>
        </p:nvSpPr>
        <p:spPr>
          <a:xfrm>
            <a:off x="566928" y="5760720"/>
            <a:ext cx="10972800" cy="54864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50" b="1" i="0">
                <a:solidFill>
                  <a:srgbClr val="2E2E40"/>
                </a:solidFill>
                <a:latin typeface="Calibri"/>
              </a:rPr>
              <a:t>Kết quả: </a:t>
            </a:r>
            <a:r>
              <a:rPr sz="1150" b="0" i="0">
                <a:solidFill>
                  <a:srgbClr val="1B1B2E"/>
                </a:solidFill>
                <a:latin typeface="Calibri"/>
              </a:rPr>
              <a:t>nạp thô nhanh (không mất dữ liệu gốc), chuẩn hoá thành mô hình chuẩn để phân tích cột (OLAP) trong ClickHouse. Công cụ transform như dbt có thể bổ sung khi mở rộng.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THÀNH PHẦN &amp; LÝ DO CHỌN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Ngăn xếp công nghệ (Tech stack)</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51</a:t>
            </a:r>
          </a:p>
        </p:txBody>
      </p:sp>
      <p:sp>
        <p:nvSpPr>
          <p:cNvPr id="8" name="Rectangle 7"/>
          <p:cNvSpPr/>
          <p:nvPr/>
        </p:nvSpPr>
        <p:spPr>
          <a:xfrm>
            <a:off x="566928" y="1874519"/>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74519"/>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RudderStack OSS</a:t>
            </a:r>
          </a:p>
        </p:txBody>
      </p:sp>
      <p:sp>
        <p:nvSpPr>
          <p:cNvPr id="11" name="TextBox 10"/>
          <p:cNvSpPr txBox="1"/>
          <p:nvPr/>
        </p:nvSpPr>
        <p:spPr>
          <a:xfrm>
            <a:off x="3703320" y="1874519"/>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Ingestion · routing · reverse-ETL</a:t>
            </a:r>
          </a:p>
        </p:txBody>
      </p:sp>
      <p:sp>
        <p:nvSpPr>
          <p:cNvPr id="12" name="TextBox 11"/>
          <p:cNvSpPr txBox="1"/>
          <p:nvPr/>
        </p:nvSpPr>
        <p:spPr>
          <a:xfrm>
            <a:off x="8001000" y="1874519"/>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Mã nguồn mở, tương thích Segment</a:t>
            </a:r>
          </a:p>
        </p:txBody>
      </p:sp>
      <p:sp>
        <p:nvSpPr>
          <p:cNvPr id="13" name="Rectangle 12"/>
          <p:cNvSpPr/>
          <p:nvPr/>
        </p:nvSpPr>
        <p:spPr>
          <a:xfrm>
            <a:off x="566928" y="2441448"/>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441448"/>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441448"/>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NestJS (core-api)</a:t>
            </a:r>
          </a:p>
        </p:txBody>
      </p:sp>
      <p:sp>
        <p:nvSpPr>
          <p:cNvPr id="16" name="TextBox 15"/>
          <p:cNvSpPr txBox="1"/>
          <p:nvPr/>
        </p:nvSpPr>
        <p:spPr>
          <a:xfrm>
            <a:off x="3703320" y="2441448"/>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API nghiệp vụ trong 1 giao dịch ACID</a:t>
            </a:r>
          </a:p>
        </p:txBody>
      </p:sp>
      <p:sp>
        <p:nvSpPr>
          <p:cNvPr id="17" name="TextBox 16"/>
          <p:cNvSpPr txBox="1"/>
          <p:nvPr/>
        </p:nvSpPr>
        <p:spPr>
          <a:xfrm>
            <a:off x="8001000" y="2441448"/>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Gom identity+loyalty+consent+ingestion</a:t>
            </a:r>
          </a:p>
        </p:txBody>
      </p:sp>
      <p:sp>
        <p:nvSpPr>
          <p:cNvPr id="18" name="Rectangle 17"/>
          <p:cNvSpPr/>
          <p:nvPr/>
        </p:nvSpPr>
        <p:spPr>
          <a:xfrm>
            <a:off x="566928" y="3008376"/>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008376"/>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008376"/>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PostgreSQL 18</a:t>
            </a:r>
          </a:p>
        </p:txBody>
      </p:sp>
      <p:sp>
        <p:nvSpPr>
          <p:cNvPr id="21" name="TextBox 20"/>
          <p:cNvSpPr txBox="1"/>
          <p:nvPr/>
        </p:nvSpPr>
        <p:spPr>
          <a:xfrm>
            <a:off x="3703320" y="3008376"/>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System of record (nguồn sự thật)</a:t>
            </a:r>
          </a:p>
        </p:txBody>
      </p:sp>
      <p:sp>
        <p:nvSpPr>
          <p:cNvPr id="22" name="TextBox 21"/>
          <p:cNvSpPr txBox="1"/>
          <p:nvPr/>
        </p:nvSpPr>
        <p:spPr>
          <a:xfrm>
            <a:off x="8001000" y="3008376"/>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ACID — đúng tiền, đúng danh tính</a:t>
            </a:r>
          </a:p>
        </p:txBody>
      </p:sp>
      <p:sp>
        <p:nvSpPr>
          <p:cNvPr id="23" name="Rectangle 22"/>
          <p:cNvSpPr/>
          <p:nvPr/>
        </p:nvSpPr>
        <p:spPr>
          <a:xfrm>
            <a:off x="566928" y="3575303"/>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575303"/>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575303"/>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ClickHouse</a:t>
            </a:r>
          </a:p>
        </p:txBody>
      </p:sp>
      <p:sp>
        <p:nvSpPr>
          <p:cNvPr id="26" name="TextBox 25"/>
          <p:cNvSpPr txBox="1"/>
          <p:nvPr/>
        </p:nvSpPr>
        <p:spPr>
          <a:xfrm>
            <a:off x="3703320" y="3575303"/>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OLAP — phân tích cột tốc độ cao</a:t>
            </a:r>
          </a:p>
        </p:txBody>
      </p:sp>
      <p:sp>
        <p:nvSpPr>
          <p:cNvPr id="27" name="TextBox 26"/>
          <p:cNvSpPr txBox="1"/>
          <p:nvPr/>
        </p:nvSpPr>
        <p:spPr>
          <a:xfrm>
            <a:off x="8001000" y="3575303"/>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Báo cáo &amp; phân tích khối lượng lớn</a:t>
            </a:r>
          </a:p>
        </p:txBody>
      </p:sp>
      <p:sp>
        <p:nvSpPr>
          <p:cNvPr id="28" name="Rectangle 27"/>
          <p:cNvSpPr/>
          <p:nvPr/>
        </p:nvSpPr>
        <p:spPr>
          <a:xfrm>
            <a:off x="566928" y="4142231"/>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142231"/>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142231"/>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Redis</a:t>
            </a:r>
          </a:p>
        </p:txBody>
      </p:sp>
      <p:sp>
        <p:nvSpPr>
          <p:cNvPr id="31" name="TextBox 30"/>
          <p:cNvSpPr txBox="1"/>
          <p:nvPr/>
        </p:nvSpPr>
        <p:spPr>
          <a:xfrm>
            <a:off x="3703320" y="4142231"/>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Cache (Profile API)</a:t>
            </a:r>
          </a:p>
        </p:txBody>
      </p:sp>
      <p:sp>
        <p:nvSpPr>
          <p:cNvPr id="32" name="TextBox 31"/>
          <p:cNvSpPr txBox="1"/>
          <p:nvPr/>
        </p:nvSpPr>
        <p:spPr>
          <a:xfrm>
            <a:off x="8001000" y="4142231"/>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Tra cứu hồ sơ 360° tức thời</a:t>
            </a:r>
          </a:p>
        </p:txBody>
      </p:sp>
      <p:sp>
        <p:nvSpPr>
          <p:cNvPr id="33" name="Rectangle 32"/>
          <p:cNvSpPr/>
          <p:nvPr/>
        </p:nvSpPr>
        <p:spPr>
          <a:xfrm>
            <a:off x="566928" y="4709160"/>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709160"/>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709160"/>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MinIO</a:t>
            </a:r>
          </a:p>
        </p:txBody>
      </p:sp>
      <p:sp>
        <p:nvSpPr>
          <p:cNvPr id="36" name="TextBox 35"/>
          <p:cNvSpPr txBox="1"/>
          <p:nvPr/>
        </p:nvSpPr>
        <p:spPr>
          <a:xfrm>
            <a:off x="3703320" y="4709160"/>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Object storage</a:t>
            </a:r>
          </a:p>
        </p:txBody>
      </p:sp>
      <p:sp>
        <p:nvSpPr>
          <p:cNvPr id="37" name="TextBox 36"/>
          <p:cNvSpPr txBox="1"/>
          <p:nvPr/>
        </p:nvSpPr>
        <p:spPr>
          <a:xfrm>
            <a:off x="8001000" y="4709160"/>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Lưu file/tài nguyên tương thích S3</a:t>
            </a:r>
          </a:p>
        </p:txBody>
      </p:sp>
      <p:sp>
        <p:nvSpPr>
          <p:cNvPr id="38" name="Rectangle 37"/>
          <p:cNvSpPr/>
          <p:nvPr/>
        </p:nvSpPr>
        <p:spPr>
          <a:xfrm>
            <a:off x="566928" y="5276088"/>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276088"/>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276088"/>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Docker</a:t>
            </a:r>
          </a:p>
        </p:txBody>
      </p:sp>
      <p:sp>
        <p:nvSpPr>
          <p:cNvPr id="41" name="TextBox 40"/>
          <p:cNvSpPr txBox="1"/>
          <p:nvPr/>
        </p:nvSpPr>
        <p:spPr>
          <a:xfrm>
            <a:off x="3703320" y="5276088"/>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Đóng gói &amp; self-host</a:t>
            </a:r>
          </a:p>
        </p:txBody>
      </p:sp>
      <p:sp>
        <p:nvSpPr>
          <p:cNvPr id="42" name="TextBox 41"/>
          <p:cNvSpPr txBox="1"/>
          <p:nvPr/>
        </p:nvSpPr>
        <p:spPr>
          <a:xfrm>
            <a:off x="8001000" y="5276088"/>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Triển khai nhất quán tại hạ tầng OCH</a:t>
            </a:r>
          </a:p>
        </p:txBody>
      </p:sp>
      <p:sp>
        <p:nvSpPr>
          <p:cNvPr id="43" name="Rectangle 42"/>
          <p:cNvSpPr/>
          <p:nvPr/>
        </p:nvSpPr>
        <p:spPr>
          <a:xfrm>
            <a:off x="566928" y="5989320"/>
            <a:ext cx="1106424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989320"/>
            <a:ext cx="106070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Tất cả đều MÃ NGUỒN MỞ, self-host tại Việt Nam → </a:t>
            </a:r>
            <a:r>
              <a:rPr sz="1200" b="0" i="0">
                <a:solidFill>
                  <a:srgbClr val="E7DDC8"/>
                </a:solidFill>
                <a:latin typeface="Calibri"/>
              </a:rPr>
              <a:t>chủ quyền dữ liệu, không lệ thuộc cloud nước ngoài, chi phí license tối thiểu.</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GIAO THỨC &amp; AN TOÀN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Chuẩn kết nối &amp; bảo mật tích hợp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52</a:t>
            </a:r>
          </a:p>
        </p:txBody>
      </p:sp>
      <p:sp>
        <p:nvSpPr>
          <p:cNvPr id="8" name="Rectangle 7"/>
          <p:cNvSpPr/>
          <p:nvPr/>
        </p:nvSpPr>
        <p:spPr>
          <a:xfrm>
            <a:off x="56692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REST/HTTP API + SDK</a:t>
            </a:r>
          </a:p>
        </p:txBody>
      </p:sp>
      <p:sp>
        <p:nvSpPr>
          <p:cNvPr id="12" name="TextBox 11"/>
          <p:cNvSpPr txBox="1"/>
          <p:nvPr/>
        </p:nvSpPr>
        <p:spPr>
          <a:xfrm>
            <a:off x="76809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Kết nối chuẩn cho web, app, server — dễ tích hợp mọi hệ thống.</a:t>
            </a:r>
          </a:p>
        </p:txBody>
      </p:sp>
      <p:sp>
        <p:nvSpPr>
          <p:cNvPr id="13" name="Rectangle 12"/>
          <p:cNvSpPr/>
          <p:nvPr/>
        </p:nvSpPr>
        <p:spPr>
          <a:xfrm>
            <a:off x="427024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7141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Webhook</a:t>
            </a:r>
          </a:p>
        </p:txBody>
      </p:sp>
      <p:sp>
        <p:nvSpPr>
          <p:cNvPr id="17" name="TextBox 16"/>
          <p:cNvSpPr txBox="1"/>
          <p:nvPr/>
        </p:nvSpPr>
        <p:spPr>
          <a:xfrm>
            <a:off x="447141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Nguồn chủ động “gọi” hệ thống khi có sự kiện — realtime, ít độ trễ.</a:t>
            </a:r>
          </a:p>
        </p:txBody>
      </p:sp>
      <p:sp>
        <p:nvSpPr>
          <p:cNvPr id="18" name="Rectangle 17"/>
          <p:cNvSpPr/>
          <p:nvPr/>
        </p:nvSpPr>
        <p:spPr>
          <a:xfrm>
            <a:off x="7973567"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7"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17473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API key theo vai trò (RBAC)</a:t>
            </a:r>
          </a:p>
        </p:txBody>
      </p:sp>
      <p:sp>
        <p:nvSpPr>
          <p:cNvPr id="22" name="TextBox 21"/>
          <p:cNvSpPr txBox="1"/>
          <p:nvPr/>
        </p:nvSpPr>
        <p:spPr>
          <a:xfrm>
            <a:off x="817473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Mỗi kết nối có khoá riêng, quyền hạn theo vai trò — kiểm soát chặt ai làm gì.</a:t>
            </a:r>
          </a:p>
        </p:txBody>
      </p:sp>
      <p:sp>
        <p:nvSpPr>
          <p:cNvPr id="23" name="Rectangle 22"/>
          <p:cNvSpPr/>
          <p:nvPr/>
        </p:nvSpPr>
        <p:spPr>
          <a:xfrm>
            <a:off x="56692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Cổng consent (deny-by-default)</a:t>
            </a:r>
          </a:p>
        </p:txBody>
      </p:sp>
      <p:sp>
        <p:nvSpPr>
          <p:cNvPr id="27" name="TextBox 26"/>
          <p:cNvSpPr txBox="1"/>
          <p:nvPr/>
        </p:nvSpPr>
        <p:spPr>
          <a:xfrm>
            <a:off x="76809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Ở khâu kích hoạt: chưa đồng ý thì KHÔNG gửi — mặc định an toàn.</a:t>
            </a:r>
          </a:p>
        </p:txBody>
      </p:sp>
      <p:sp>
        <p:nvSpPr>
          <p:cNvPr id="28" name="Rectangle 27"/>
          <p:cNvSpPr/>
          <p:nvPr/>
        </p:nvSpPr>
        <p:spPr>
          <a:xfrm>
            <a:off x="427024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7024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7141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Idempotency chống trùng</a:t>
            </a:r>
          </a:p>
        </p:txBody>
      </p:sp>
      <p:sp>
        <p:nvSpPr>
          <p:cNvPr id="32" name="TextBox 31"/>
          <p:cNvSpPr txBox="1"/>
          <p:nvPr/>
        </p:nvSpPr>
        <p:spPr>
          <a:xfrm>
            <a:off x="447141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Khoá giao dịch duy nhất — gửi lại nhiều lần chỉ ghi nhận một lần.</a:t>
            </a:r>
          </a:p>
        </p:txBody>
      </p:sp>
      <p:sp>
        <p:nvSpPr>
          <p:cNvPr id="33" name="Rectangle 32"/>
          <p:cNvSpPr/>
          <p:nvPr/>
        </p:nvSpPr>
        <p:spPr>
          <a:xfrm>
            <a:off x="7973567"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73567"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7473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17473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Residency dữ liệu tại VN</a:t>
            </a:r>
          </a:p>
        </p:txBody>
      </p:sp>
      <p:sp>
        <p:nvSpPr>
          <p:cNvPr id="37" name="TextBox 36"/>
          <p:cNvSpPr txBox="1"/>
          <p:nvPr/>
        </p:nvSpPr>
        <p:spPr>
          <a:xfrm>
            <a:off x="817473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Dữ liệu lưu &amp; xử lý trong nước — chủ quyền và tuân thủ pháp lý.</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TRÍCH DẪN ĐẦY ĐỦ · MINH BẠCH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Nguồn tham khảo</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53</a:t>
            </a:r>
          </a:p>
        </p:txBody>
      </p:sp>
      <p:sp>
        <p:nvSpPr>
          <p:cNvPr id="8" name="TextBox 7"/>
          <p:cNvSpPr txBox="1"/>
          <p:nvPr/>
        </p:nvSpPr>
        <p:spPr>
          <a:xfrm>
            <a:off x="566928" y="2011680"/>
            <a:ext cx="11064240" cy="4114800"/>
          </a:xfrm>
          <a:prstGeom prst="rect">
            <a:avLst/>
          </a:prstGeom>
          <a:noFill/>
        </p:spPr>
        <p:txBody>
          <a:bodyPr wrap="square" lIns="25400" rIns="25400" tIns="25400">
            <a:spAutoFit/>
          </a:bodyPr>
          <a:lstStyle/>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Grand View Research — Customer Data Platform Market: grandviewresearch.com/industry-analysis/customer-data-platform-market</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MarketsandMarkets — Customer Data Platform Market (Report 94223554): marketsandmarkets.com</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Fortune Business Insights — Customer Data Platform Market: fortunebusinessinsights.com</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Data Bridge Market Research — Customer Data Platform Market: databridgemarketresearch.com</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Twilio Segment — The State of Personalization 2024: segment.com/state-of-personalization-report</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Twilio — State of Personalization Report: twilio.com/en-us/report/state-of-personalization-report</a:t>
            </a:r>
          </a:p>
          <a:p>
            <a:pPr>
              <a:lnSpc>
                <a:spcPct val="105000"/>
              </a:lnSpc>
              <a:spcBef>
                <a:spcPts val="0"/>
              </a:spcBef>
              <a:spcAft>
                <a:spcPts val="1300"/>
              </a:spcAft>
            </a:pPr>
            <a:r>
              <a:rPr sz="1050" b="1">
                <a:solidFill>
                  <a:srgbClr val="C39851"/>
                </a:solidFill>
                <a:latin typeface="Calibri"/>
              </a:rPr>
              <a:t>•  </a:t>
            </a:r>
            <a:r>
              <a:rPr sz="1250">
                <a:solidFill>
                  <a:srgbClr val="1B1B2E"/>
                </a:solidFill>
                <a:latin typeface="Calibri"/>
              </a:rPr>
              <a:t>McKinsey &amp; Company — Next in Personalization (dẫn qua báo cáo Twilio).</a:t>
            </a:r>
          </a:p>
        </p:txBody>
      </p:sp>
      <p:sp>
        <p:nvSpPr>
          <p:cNvPr id="9" name="TextBox 8"/>
          <p:cNvSpPr txBox="1"/>
          <p:nvPr/>
        </p:nvSpPr>
        <p:spPr>
          <a:xfrm>
            <a:off x="566928" y="6035040"/>
            <a:ext cx="10972800" cy="36576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000" b="0" i="1">
                <a:solidFill>
                  <a:srgbClr val="565564"/>
                </a:solidFill>
                <a:latin typeface="Calibri"/>
              </a:rPr>
              <a:t>Lưu ý: con số thị trường lấy nguyên từ các hãng nghiên cứu; số liệu đối thủ trong bảng so sánh chỉ nêu định tính, không suy diễn con số.</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0584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C39851"/>
                </a:solidFill>
                <a:latin typeface="Calibri"/>
              </a:rPr>
              <a:t>KẾT LUẬN &amp; KÊU GỌI HÀNH ĐỘNG</a:t>
            </a:r>
          </a:p>
        </p:txBody>
      </p:sp>
      <p:sp>
        <p:nvSpPr>
          <p:cNvPr id="5" name="TextBox 4"/>
          <p:cNvSpPr txBox="1"/>
          <p:nvPr/>
        </p:nvSpPr>
        <p:spPr>
          <a:xfrm>
            <a:off x="914400" y="1234440"/>
            <a:ext cx="10241280" cy="91440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2600" b="1" i="0">
                <a:solidFill>
                  <a:srgbClr val="FFFFFF"/>
                </a:solidFill>
                <a:latin typeface="Georgia"/>
              </a:rPr>
              <a:t>OCH sở hữu nền tảng dữ liệu khách hàng của riêng mình</a:t>
            </a:r>
          </a:p>
        </p:txBody>
      </p:sp>
      <p:sp>
        <p:nvSpPr>
          <p:cNvPr id="6" name="Rectangle 5"/>
          <p:cNvSpPr/>
          <p:nvPr/>
        </p:nvSpPr>
        <p:spPr>
          <a:xfrm>
            <a:off x="914400" y="2606040"/>
            <a:ext cx="5074920" cy="86868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2606040"/>
            <a:ext cx="73152"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606040"/>
            <a:ext cx="4754880" cy="8686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400" b="1" i="0">
                <a:solidFill>
                  <a:srgbClr val="C39851"/>
                </a:solidFill>
                <a:latin typeface="Calibri"/>
              </a:rPr>
              <a:t>Hợp nhất — </a:t>
            </a:r>
            <a:r>
              <a:rPr sz="1300" b="0" i="0">
                <a:solidFill>
                  <a:srgbClr val="FFFFFF"/>
                </a:solidFill>
                <a:latin typeface="Calibri"/>
              </a:rPr>
              <a:t>một OCH ID duy nhất cho mọi thương hiệu.</a:t>
            </a:r>
          </a:p>
        </p:txBody>
      </p:sp>
      <p:sp>
        <p:nvSpPr>
          <p:cNvPr id="9" name="Rectangle 8"/>
          <p:cNvSpPr/>
          <p:nvPr/>
        </p:nvSpPr>
        <p:spPr>
          <a:xfrm>
            <a:off x="6309360" y="2606040"/>
            <a:ext cx="5074920" cy="86868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2606040"/>
            <a:ext cx="73152"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606040"/>
            <a:ext cx="4754880" cy="8686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400" b="1" i="0">
                <a:solidFill>
                  <a:srgbClr val="C39851"/>
                </a:solidFill>
                <a:latin typeface="Calibri"/>
              </a:rPr>
              <a:t>May đo — </a:t>
            </a:r>
            <a:r>
              <a:rPr sz="1300" b="0" i="0">
                <a:solidFill>
                  <a:srgbClr val="FFFFFF"/>
                </a:solidFill>
                <a:latin typeface="Calibri"/>
              </a:rPr>
              <a:t>thiết kế riêng cho F&amp;B + khách sạn của OCH.</a:t>
            </a:r>
          </a:p>
        </p:txBody>
      </p:sp>
      <p:sp>
        <p:nvSpPr>
          <p:cNvPr id="12" name="Rectangle 11"/>
          <p:cNvSpPr/>
          <p:nvPr/>
        </p:nvSpPr>
        <p:spPr>
          <a:xfrm>
            <a:off x="914400" y="3657600"/>
            <a:ext cx="5074920" cy="86868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14400" y="3657600"/>
            <a:ext cx="73152"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657600"/>
            <a:ext cx="4754880" cy="8686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400" b="1" i="0">
                <a:solidFill>
                  <a:srgbClr val="C39851"/>
                </a:solidFill>
                <a:latin typeface="Calibri"/>
              </a:rPr>
              <a:t>AI hành động — </a:t>
            </a:r>
            <a:r>
              <a:rPr sz="1300" b="0" i="0">
                <a:solidFill>
                  <a:srgbClr val="FFFFFF"/>
                </a:solidFill>
                <a:latin typeface="Calibri"/>
              </a:rPr>
              <a:t>biến dữ liệu thành doanh thu, không chỉ báo cáo.</a:t>
            </a:r>
          </a:p>
        </p:txBody>
      </p:sp>
      <p:sp>
        <p:nvSpPr>
          <p:cNvPr id="15" name="Rectangle 14"/>
          <p:cNvSpPr/>
          <p:nvPr/>
        </p:nvSpPr>
        <p:spPr>
          <a:xfrm>
            <a:off x="6309360" y="3657600"/>
            <a:ext cx="5074920" cy="86868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3657600"/>
            <a:ext cx="73152" cy="8686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3657600"/>
            <a:ext cx="4754880" cy="8686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400" b="1" i="0">
                <a:solidFill>
                  <a:srgbClr val="C39851"/>
                </a:solidFill>
                <a:latin typeface="Calibri"/>
              </a:rPr>
              <a:t>Dữ liệu tại VN — </a:t>
            </a:r>
            <a:r>
              <a:rPr sz="1300" b="0" i="0">
                <a:solidFill>
                  <a:srgbClr val="FFFFFF"/>
                </a:solidFill>
                <a:latin typeface="Calibri"/>
              </a:rPr>
              <a:t>chủ quyền, tuân thủ, sẵn sàng nhân rộng.</a:t>
            </a:r>
          </a:p>
        </p:txBody>
      </p:sp>
      <p:sp>
        <p:nvSpPr>
          <p:cNvPr id="18" name="Rectangle 17"/>
          <p:cNvSpPr/>
          <p:nvPr/>
        </p:nvSpPr>
        <p:spPr>
          <a:xfrm>
            <a:off x="914400" y="4937760"/>
            <a:ext cx="10378440" cy="82296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37760"/>
            <a:ext cx="10378440" cy="82296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2E2E40"/>
                </a:solidFill>
                <a:latin typeface="Calibri"/>
              </a:rPr>
              <a:t>Nền tảng đã sẵn sàng — bước tiếp theo là nhân rộng ra toàn hệ sinh thái OCH.</a:t>
            </a:r>
          </a:p>
        </p:txBody>
      </p:sp>
      <p:sp>
        <p:nvSpPr>
          <p:cNvPr id="20" name="TextBox 19"/>
          <p:cNvSpPr txBox="1"/>
          <p:nvPr/>
        </p:nvSpPr>
        <p:spPr>
          <a:xfrm>
            <a:off x="914400" y="5943600"/>
            <a:ext cx="54864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0" i="0">
                <a:solidFill>
                  <a:srgbClr val="B9B7C4"/>
                </a:solidFill>
                <a:latin typeface="Calibri"/>
              </a:rPr>
              <a:t>Phát triển bởi</a:t>
            </a:r>
          </a:p>
        </p:txBody>
      </p:sp>
      <p:pic>
        <p:nvPicPr>
          <p:cNvPr id="21" name="Picture 20" descr="aipower-logo.png"/>
          <p:cNvPicPr>
            <a:picLocks noChangeAspect="1"/>
          </p:cNvPicPr>
          <p:nvPr/>
        </p:nvPicPr>
        <p:blipFill>
          <a:blip r:embed="rId2"/>
          <a:stretch>
            <a:fillRect/>
          </a:stretch>
        </p:blipFill>
        <p:spPr>
          <a:xfrm>
            <a:off x="2103120" y="5760720"/>
            <a:ext cx="1463040" cy="612157"/>
          </a:xfrm>
          <a:prstGeom prst="rect">
            <a:avLst/>
          </a:prstGeom>
        </p:spPr>
      </p:pic>
      <p:sp>
        <p:nvSpPr>
          <p:cNvPr id="22" name="TextBox 21"/>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C9C7D2"/>
                </a:solidFill>
                <a:latin typeface="Calibri"/>
              </a:rPr>
              <a:t>OCH · Customer Data Platform</a:t>
            </a:r>
            <a:r>
              <a:rPr sz="900" b="0" i="0">
                <a:solidFill>
                  <a:srgbClr val="C9C7D2"/>
                </a:solidFill>
                <a:latin typeface="Calibri"/>
              </a:rPr>
              <a:t>  —  Phát triển bởi AIPOWER</a:t>
            </a:r>
          </a:p>
        </p:txBody>
      </p:sp>
      <p:sp>
        <p:nvSpPr>
          <p:cNvPr id="23" name="TextBox 22"/>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C9C7D2"/>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91695" cy="25603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10332720" cy="9144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4600" b="1" i="0">
                <a:solidFill>
                  <a:srgbClr val="FFFFFF"/>
                </a:solidFill>
                <a:latin typeface="Georgia"/>
              </a:rPr>
              <a:t>Xin cảm ơn</a:t>
            </a:r>
          </a:p>
        </p:txBody>
      </p:sp>
      <p:sp>
        <p:nvSpPr>
          <p:cNvPr id="6" name="TextBox 5"/>
          <p:cNvSpPr txBox="1"/>
          <p:nvPr/>
        </p:nvSpPr>
        <p:spPr>
          <a:xfrm>
            <a:off x="3352647" y="3098800"/>
            <a:ext cx="5486400" cy="6858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000" b="1" i="0">
                <a:solidFill>
                  <a:srgbClr val="FFFFFF"/>
                </a:solidFill>
                <a:latin typeface="Georgia"/>
              </a:rPr>
              <a:t>OCH</a:t>
            </a:r>
          </a:p>
        </p:txBody>
      </p:sp>
      <p:sp>
        <p:nvSpPr>
          <p:cNvPr id="7" name="Rectangle 6"/>
          <p:cNvSpPr/>
          <p:nvPr/>
        </p:nvSpPr>
        <p:spPr>
          <a:xfrm>
            <a:off x="4632807" y="3794760"/>
            <a:ext cx="2926080" cy="25603"/>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52647" y="3849624"/>
            <a:ext cx="5486400" cy="3200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200" b="1" i="0">
                <a:solidFill>
                  <a:srgbClr val="C39851"/>
                </a:solidFill>
                <a:latin typeface="Calibri"/>
              </a:rPr>
              <a:t>O N E   C A P I T A L   H O S P I T A L I T Y</a:t>
            </a:r>
          </a:p>
        </p:txBody>
      </p:sp>
      <p:sp>
        <p:nvSpPr>
          <p:cNvPr id="9" name="TextBox 8"/>
          <p:cNvSpPr txBox="1"/>
          <p:nvPr/>
        </p:nvSpPr>
        <p:spPr>
          <a:xfrm>
            <a:off x="914400" y="4251960"/>
            <a:ext cx="10332720" cy="4572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500" b="0" i="1">
                <a:solidFill>
                  <a:srgbClr val="CFCDD8"/>
                </a:solidFill>
                <a:latin typeface="Calibri"/>
              </a:rPr>
              <a:t>Customer Data Platform</a:t>
            </a:r>
          </a:p>
        </p:txBody>
      </p:sp>
      <p:sp>
        <p:nvSpPr>
          <p:cNvPr id="10" name="TextBox 9"/>
          <p:cNvSpPr txBox="1"/>
          <p:nvPr/>
        </p:nvSpPr>
        <p:spPr>
          <a:xfrm>
            <a:off x="914400" y="5074920"/>
            <a:ext cx="10332720" cy="4572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500" b="1" i="0">
                <a:solidFill>
                  <a:srgbClr val="C39851"/>
                </a:solidFill>
                <a:latin typeface="Calibri"/>
              </a:rPr>
              <a:t>Phát triển bởi AIPOWER  ·  aipower.vn</a:t>
            </a:r>
          </a:p>
        </p:txBody>
      </p:sp>
      <p:pic>
        <p:nvPicPr>
          <p:cNvPr id="11" name="Picture 10" descr="aipower-logo.png"/>
          <p:cNvPicPr>
            <a:picLocks noChangeAspect="1"/>
          </p:cNvPicPr>
          <p:nvPr/>
        </p:nvPicPr>
        <p:blipFill>
          <a:blip r:embed="rId2"/>
          <a:stretch>
            <a:fillRect/>
          </a:stretch>
        </p:blipFill>
        <p:spPr>
          <a:xfrm>
            <a:off x="5318607" y="5440680"/>
            <a:ext cx="1554480" cy="65041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