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76524" y="553211"/>
            <a:ext cx="5721978" cy="57515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ch-t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532" y="617219"/>
            <a:ext cx="5593962" cy="562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40532" y="6222492"/>
            <a:ext cx="5593962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565564"/>
                </a:solidFill>
                <a:latin typeface="Calibri"/>
              </a:rPr>
              <a:t>Leadvisors Tower — OCH headquarters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143000"/>
            <a:ext cx="4754880" cy="12344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400" b="1" i="0">
                <a:solidFill>
                  <a:srgbClr val="2E2E40"/>
                </a:solidFill>
                <a:latin typeface="Georgia"/>
              </a:rPr>
              <a:t>OCH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04872"/>
            <a:ext cx="2651760" cy="41148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496312"/>
            <a:ext cx="47548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39851"/>
                </a:solidFill>
                <a:latin typeface="Calibri"/>
              </a:rPr>
              <a:t>O N E   C A P I T A L   H O S P I T A L I T 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493776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2E2E40"/>
                </a:solidFill>
                <a:latin typeface="Georgia"/>
              </a:rPr>
              <a:t>CUSTOMER DATA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40480"/>
            <a:ext cx="475488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1">
                <a:solidFill>
                  <a:srgbClr val="565564"/>
                </a:solidFill>
                <a:latin typeface="Calibri"/>
              </a:rPr>
              <a:t>Unified customer data for a multi-brand hospitality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800600"/>
            <a:ext cx="4480560" cy="502920"/>
          </a:xfrm>
          <a:prstGeom prst="roundRect">
            <a:avLst/>
          </a:prstGeom>
          <a:solidFill>
            <a:srgbClr val="E7DDC8"/>
          </a:solidFill>
          <a:ln w="1270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800600"/>
            <a:ext cx="42062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40"/>
                </a:solidFill>
                <a:latin typeface="Calibri"/>
              </a:rPr>
              <a:t>Live demo:  </a:t>
            </a:r>
            <a:r>
              <a:rPr sz="1250" b="1" i="0">
                <a:solidFill>
                  <a:srgbClr val="2E2E40"/>
                </a:solidFill>
                <a:latin typeface="Calibri"/>
              </a:rPr>
              <a:t>och-aicdp.aipower.vn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577840"/>
            <a:ext cx="5029200" cy="18288"/>
          </a:xfrm>
          <a:prstGeom prst="rect">
            <a:avLst/>
          </a:prstGeom>
          <a:solidFill>
            <a:srgbClr val="DE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29260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Developed by</a:t>
            </a:r>
          </a:p>
        </p:txBody>
      </p:sp>
      <p:pic>
        <p:nvPicPr>
          <p:cNvPr id="16" name="Picture 15" descr="aipow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5724144"/>
            <a:ext cx="1417320" cy="5930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3093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65564"/>
                </a:solidFill>
                <a:latin typeface="Calibri"/>
              </a:rPr>
              <a:t>System introduction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THE CURRENT STATE OF CUSTOMER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One customer, six disconnected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539496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Ms. Vy buys pastries at Givral with her phone number, eats at Trang Tien as an anonymous walk-in, and stays at Sunrise under a personal email. </a:t>
            </a:r>
            <a:r>
              <a:rPr sz="1600" b="1" i="0">
                <a:solidFill>
                  <a:srgbClr val="2E2E40"/>
                </a:solidFill>
                <a:latin typeface="Calibri"/>
              </a:rPr>
              <a:t>To the group, she is six strangers.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11880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WHAT THIS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023360"/>
            <a:ext cx="5440680" cy="219456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39851"/>
                </a:solidFill>
                <a:latin typeface="Calibri"/>
              </a:rPr>
              <a:t>●  </a:t>
            </a:r>
            <a:r>
              <a:rPr sz="1600" b="1">
                <a:solidFill>
                  <a:srgbClr val="2E2E40"/>
                </a:solidFill>
                <a:latin typeface="Calibri"/>
              </a:rPr>
              <a:t>Duplicate discounts</a:t>
            </a:r>
            <a:r>
              <a:rPr sz="1600">
                <a:solidFill>
                  <a:srgbClr val="1B1B2E"/>
                </a:solidFill>
                <a:latin typeface="Calibri"/>
              </a:rPr>
              <a:t> — two brands discount the same person in the same week.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39851"/>
                </a:solidFill>
                <a:latin typeface="Calibri"/>
              </a:rPr>
              <a:t>●  </a:t>
            </a:r>
            <a:r>
              <a:rPr sz="1600" b="1">
                <a:solidFill>
                  <a:srgbClr val="2E2E40"/>
                </a:solidFill>
                <a:latin typeface="Calibri"/>
              </a:rPr>
              <a:t>Missed cross-sell</a:t>
            </a:r>
            <a:r>
              <a:rPr sz="1600">
                <a:solidFill>
                  <a:srgbClr val="1B1B2E"/>
                </a:solidFill>
                <a:latin typeface="Calibri"/>
              </a:rPr>
              <a:t> — F&amp;B customers never receive a hotel offer.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C39851"/>
                </a:solidFill>
                <a:latin typeface="Calibri"/>
              </a:rPr>
              <a:t>●  </a:t>
            </a:r>
            <a:r>
              <a:rPr sz="1600" b="1">
                <a:solidFill>
                  <a:srgbClr val="2E2E40"/>
                </a:solidFill>
                <a:latin typeface="Calibri"/>
              </a:rPr>
              <a:t>Blind marketing</a:t>
            </a:r>
            <a:r>
              <a:rPr sz="1600">
                <a:solidFill>
                  <a:srgbClr val="1B1B2E"/>
                </a:solidFill>
                <a:latin typeface="Calibri"/>
              </a:rPr>
              <a:t> — no way to tell who is worth keeping and who is about to leave.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ragmen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281" y="1938528"/>
            <a:ext cx="5031676" cy="39593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Six disconnected records — none knows the others exist.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Identity resolution: six records merged into a single OCH 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38528"/>
            <a:ext cx="502920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Every identifier — phone, email, card ID — is matched and merged into a single OCH ID. </a:t>
            </a:r>
            <a:r>
              <a:rPr sz="1600" b="1" i="0">
                <a:solidFill>
                  <a:srgbClr val="2E2E40"/>
                </a:solidFill>
                <a:latin typeface="Calibri"/>
              </a:rPr>
              <a:t>Non-destructive merge: </a:t>
            </a:r>
            <a:r>
              <a:rPr sz="1600" b="0" i="0">
                <a:solidFill>
                  <a:srgbClr val="1B1B2E"/>
                </a:solidFill>
                <a:latin typeface="Calibri"/>
              </a:rPr>
              <a:t>every merge is logged for audit and can be reversed if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977639"/>
            <a:ext cx="5029200" cy="1371600"/>
          </a:xfrm>
          <a:prstGeom prst="roundRect">
            <a:avLst/>
          </a:prstGeom>
          <a:solidFill>
            <a:srgbClr val="E7DDC8"/>
          </a:solidFill>
          <a:ln w="1270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4572000" cy="13716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In the demo: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2E2E40"/>
                </a:solidFill>
                <a:latin typeface="Calibri"/>
              </a:rPr>
              <a:t>335 unified profiles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15 cases where the system detected two records belonging to one person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057400"/>
            <a:ext cx="5897879" cy="373075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c_identit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776768"/>
            <a:ext cx="5806440" cy="22920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0" y="5824727"/>
            <a:ext cx="589787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From POS receipt to 360 profile — four automated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Unified data — four direct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64008" cy="196596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176272"/>
            <a:ext cx="5056632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33472"/>
            <a:ext cx="4946903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2E40"/>
                </a:solidFill>
                <a:latin typeface="Calibri"/>
              </a:rPr>
              <a:t>ONE OCH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017520"/>
            <a:ext cx="4901183" cy="8503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565564"/>
                </a:solidFill>
                <a:latin typeface="Calibri"/>
              </a:rPr>
              <a:t>Customers are recognized at every counter and every hotel.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8" y="201168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9048" y="2011680"/>
            <a:ext cx="64008" cy="196596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0216" y="2176272"/>
            <a:ext cx="5056632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2633472"/>
            <a:ext cx="4946903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2E40"/>
                </a:solidFill>
                <a:latin typeface="Calibri"/>
              </a:rPr>
              <a:t>ONE POINTS BALANCE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017520"/>
            <a:ext cx="4901183" cy="8503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565564"/>
                </a:solidFill>
                <a:latin typeface="Calibri"/>
              </a:rPr>
              <a:t>Earn at Givral, redeem at Sunrise.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1605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160520"/>
            <a:ext cx="64008" cy="196596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4325112"/>
            <a:ext cx="5056632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782312"/>
            <a:ext cx="4946903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2E40"/>
                </a:solidFill>
                <a:latin typeface="Calibri"/>
              </a:rPr>
              <a:t>AUTOMATED MARKETING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166360"/>
            <a:ext cx="4901183" cy="8503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565564"/>
                </a:solidFill>
                <a:latin typeface="Calibri"/>
              </a:rPr>
              <a:t>Right person, right time, right channel.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8" y="4160520"/>
            <a:ext cx="52578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9048" y="4160520"/>
            <a:ext cx="64008" cy="196596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0216" y="4325112"/>
            <a:ext cx="5056632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782312"/>
            <a:ext cx="4946903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2E40"/>
                </a:solidFill>
                <a:latin typeface="Calibri"/>
              </a:rPr>
              <a:t>AI RECOMMENDS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5166360"/>
            <a:ext cx="4901183" cy="8503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 i="0">
                <a:solidFill>
                  <a:srgbClr val="565564"/>
                </a:solidFill>
                <a:latin typeface="Calibri"/>
              </a:rPr>
              <a:t>The system computes, people decide.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Data flows in from every touchpoint, decisions flow out to every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2743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40280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606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F&amp;B POS (Givral, KTT, Fuji)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898648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898648"/>
            <a:ext cx="2606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Hotel PMS (Sunrise, StarCity, Dusit)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557016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557016"/>
            <a:ext cx="2606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Website / App / E-commerce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215384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215384"/>
            <a:ext cx="2606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Customer service (CS)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456432" y="3154680"/>
            <a:ext cx="502920" cy="457200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69080" y="1965960"/>
            <a:ext cx="406908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069080" y="1965960"/>
            <a:ext cx="4069080" cy="50292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69080" y="1965960"/>
            <a:ext cx="406908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2E40"/>
                </a:solidFill>
                <a:latin typeface="Calibri"/>
              </a:rPr>
              <a:t>CDP CORE — UNIFY &amp; DECIDE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5968" y="2651760"/>
            <a:ext cx="3566160" cy="502920"/>
          </a:xfrm>
          <a:prstGeom prst="roundRect">
            <a:avLst/>
          </a:prstGeom>
          <a:solidFill>
            <a:srgbClr val="F7F6F2"/>
          </a:solidFill>
          <a:ln w="9525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15968" y="2651760"/>
            <a:ext cx="35661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① Identity resolution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273552"/>
            <a:ext cx="3566160" cy="502920"/>
          </a:xfrm>
          <a:prstGeom prst="roundRect">
            <a:avLst/>
          </a:prstGeom>
          <a:solidFill>
            <a:srgbClr val="F7F6F2"/>
          </a:solidFill>
          <a:ln w="9525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15968" y="3273552"/>
            <a:ext cx="35661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② 360° profile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3895344"/>
            <a:ext cx="3566160" cy="502920"/>
          </a:xfrm>
          <a:prstGeom prst="roundRect">
            <a:avLst/>
          </a:prstGeom>
          <a:solidFill>
            <a:srgbClr val="F7F6F2"/>
          </a:solidFill>
          <a:ln w="9525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15968" y="3895344"/>
            <a:ext cx="35661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③ Segmentation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5968" y="4517136"/>
            <a:ext cx="3566160" cy="502920"/>
          </a:xfrm>
          <a:prstGeom prst="roundRect">
            <a:avLst/>
          </a:prstGeom>
          <a:solidFill>
            <a:srgbClr val="F7F6F2"/>
          </a:solidFill>
          <a:ln w="9525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15968" y="4517136"/>
            <a:ext cx="35661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④ Activation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211312" y="3154680"/>
            <a:ext cx="502920" cy="457200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23960" y="1874519"/>
            <a:ext cx="292608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ACTIVATION CHANNELS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2240280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42832" y="2240280"/>
            <a:ext cx="2606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1B2E"/>
                </a:solidFill>
                <a:latin typeface="Calibri"/>
              </a:rPr>
              <a:t>Email / SMS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23960" y="2898648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42832" y="2898648"/>
            <a:ext cx="2606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1B2E"/>
                </a:solidFill>
                <a:latin typeface="Calibri"/>
              </a:rPr>
              <a:t>Zalo ZNS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23960" y="3557016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42832" y="3557016"/>
            <a:ext cx="2606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1B2E"/>
                </a:solidFill>
                <a:latin typeface="Calibri"/>
              </a:rPr>
              <a:t>Google / Meta ads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4215384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42832" y="4215384"/>
            <a:ext cx="2606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1B2E"/>
                </a:solidFill>
                <a:latin typeface="Calibri"/>
              </a:rPr>
              <a:t>BI / Data warehouse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532120"/>
            <a:ext cx="11064240" cy="777240"/>
          </a:xfrm>
          <a:prstGeom prst="roundRect">
            <a:avLst/>
          </a:prstGeom>
          <a:solidFill>
            <a:srgbClr val="E7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" y="5532120"/>
            <a:ext cx="1060704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In one sentence: </a:t>
            </a:r>
            <a:r>
              <a:rPr sz="1400" b="0" i="0">
                <a:solidFill>
                  <a:srgbClr val="1B1B2E"/>
                </a:solidFill>
                <a:latin typeface="Calibri"/>
              </a:rPr>
              <a:t>fragmented data from every brand → 360° profiles → segments → the right message on the right channel.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INTEGRATION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Integrates with existing systems — POS/PMS keep operating as they do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47088"/>
            <a:ext cx="3291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INBOUND · Data 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12848"/>
            <a:ext cx="3246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30632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F&amp;B POS — Givral · KTT · Fuji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926080"/>
            <a:ext cx="3246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0632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Hotel PMS — Sunrise · StarCity · Dusit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639312"/>
            <a:ext cx="3246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639312"/>
            <a:ext cx="30632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Web · App · E-commerce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3246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352544"/>
            <a:ext cx="30632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Signup forms · CS · Call center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31920" y="3063240"/>
            <a:ext cx="457200" cy="457200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26280" y="2331720"/>
            <a:ext cx="3154680" cy="2468880"/>
          </a:xfrm>
          <a:prstGeom prst="rect">
            <a:avLst/>
          </a:prstGeom>
          <a:solidFill>
            <a:srgbClr val="FFFFFF"/>
          </a:solidFill>
          <a:ln w="22225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26280" y="2331720"/>
            <a:ext cx="3154680" cy="128016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2560320"/>
            <a:ext cx="31546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OCH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39851"/>
                </a:solidFill>
                <a:latin typeface="Georgia"/>
              </a:rPr>
              <a:t>CDP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977639"/>
            <a:ext cx="288036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65564"/>
                </a:solidFill>
                <a:latin typeface="Calibri"/>
              </a:rPr>
              <a:t>Unify · 360° profiles · Segment · Activate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772400" y="3063240"/>
            <a:ext cx="457200" cy="457200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1847088"/>
            <a:ext cx="3291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OUTBOUND · Data 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2212848"/>
            <a:ext cx="3246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85632" y="2212848"/>
            <a:ext cx="30632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Email · SMS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66760" y="2926080"/>
            <a:ext cx="3246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5632" y="2926080"/>
            <a:ext cx="30632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Zalo ZNS (Vietnam channel)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66760" y="3639312"/>
            <a:ext cx="3246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85632" y="3639312"/>
            <a:ext cx="30632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Google · Meta 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4352544"/>
            <a:ext cx="3246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85632" y="4352544"/>
            <a:ext cx="306324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Data warehouse · BI · Loyalty/CRM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349240"/>
            <a:ext cx="11064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5349240"/>
            <a:ext cx="82296" cy="100584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349240"/>
            <a:ext cx="10607040" cy="10058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Two connection modes: </a:t>
            </a:r>
            <a:r>
              <a:rPr sz="1300" b="0" i="0">
                <a:solidFill>
                  <a:srgbClr val="1B1B2E"/>
                </a:solidFill>
                <a:latin typeface="Calibri"/>
              </a:rPr>
              <a:t>realtime and batch — POS/PMS keep working as they do. </a:t>
            </a:r>
            <a:r>
              <a:rPr sz="1300" b="1" i="0">
                <a:solidFill>
                  <a:srgbClr val="2F7D5B"/>
                </a:solidFill>
                <a:latin typeface="Calibri"/>
              </a:rPr>
              <a:t>Consent gate </a:t>
            </a:r>
            <a:r>
              <a:rPr sz="1300" b="0" i="0">
                <a:solidFill>
                  <a:srgbClr val="1B1B2E"/>
                </a:solidFill>
                <a:latin typeface="Calibri"/>
              </a:rPr>
              <a:t>at activation: nothing is sent without permission. </a:t>
            </a:r>
            <a:r>
              <a:rPr sz="1300" b="1" i="0">
                <a:solidFill>
                  <a:srgbClr val="2E2E40"/>
                </a:solidFill>
                <a:latin typeface="Calibri"/>
              </a:rPr>
              <a:t>Duplicate-proof revenue: </a:t>
            </a:r>
            <a:r>
              <a:rPr sz="1300" b="0" i="0">
                <a:solidFill>
                  <a:srgbClr val="1B1B2E"/>
                </a:solidFill>
                <a:latin typeface="Calibri"/>
              </a:rPr>
              <a:t>every transaction carries a unique key — resends never double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Open source, running on OCH servers — customer data never leaves Vietnam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47088"/>
            <a:ext cx="11064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847088"/>
            <a:ext cx="82296" cy="5120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22860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RudderStack 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47088"/>
            <a:ext cx="832104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Real-time, CDP-grade data pipeline, Segment-compatible, 200+ connectors. Role: backbone for the channel-integration phase — the demo ingests directly through core-api using the same event schema, so no format change when RudderStack is plugged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1064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423160"/>
            <a:ext cx="82296" cy="5120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22860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PostgreSQL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23160"/>
            <a:ext cx="832104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The world’s most trusted open-source relational database, voted “most loved” for years in Stack Overflow surveys; strict ACID for money and points.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999232"/>
            <a:ext cx="11064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2999232"/>
            <a:ext cx="82296" cy="5120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999232"/>
            <a:ext cx="22860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ClickHouse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999232"/>
            <a:ext cx="832104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Among the fastest columnar analytics databases in the world — the engine behind analytics at Cloudflare, Uber and Spotify; billions of rows in under a second.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575304"/>
            <a:ext cx="11064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3575304"/>
            <a:ext cx="82296" cy="5120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575304"/>
            <a:ext cx="22860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NestJS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575304"/>
            <a:ext cx="832104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The leading enterprise Node.js framework for large backends — modular architecture, strict transaction control.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151376"/>
            <a:ext cx="11064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4151376"/>
            <a:ext cx="82296" cy="5120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151376"/>
            <a:ext cx="22860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151376"/>
            <a:ext cx="832104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The industry-standard cache — customer profiles served in milliseconds at the POS counter.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727448"/>
            <a:ext cx="11064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6928" y="4727448"/>
            <a:ext cx="82296" cy="5120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727448"/>
            <a:ext cx="22860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MinIO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727448"/>
            <a:ext cx="832104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Amazon S3-compatible object storage, self-operated — no cloud fees, data stays in Vietnam.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303520"/>
            <a:ext cx="110642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6928" y="5303520"/>
            <a:ext cx="82296" cy="5120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303520"/>
            <a:ext cx="228600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Docker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303520"/>
            <a:ext cx="8321040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The industry standard for packaging and deployment — repeatable installs, low-risk upgrades.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943600"/>
            <a:ext cx="11064240" cy="5029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9848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All industry-standard technology, proven at global scale — </a:t>
            </a:r>
            <a:r>
              <a:rPr sz="1400" b="0" i="0">
                <a:solidFill>
                  <a:srgbClr val="E7DDC8"/>
                </a:solidFill>
                <a:latin typeface="Calibri"/>
              </a:rPr>
              <a:t>OCH owns it outright: no license fees, no data sent abroad.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Four-layer architecture: sources → ingestion → storage → activation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31720"/>
            <a:ext cx="2423160" cy="2103120"/>
          </a:xfrm>
          <a:prstGeom prst="rect">
            <a:avLst/>
          </a:prstGeom>
          <a:solidFill>
            <a:srgbClr val="3D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331720"/>
            <a:ext cx="2423160" cy="4572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24231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898648"/>
            <a:ext cx="2203704" cy="14447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C39851"/>
                </a:solidFill>
                <a:latin typeface="Calibri"/>
              </a:rPr>
              <a:t>POS (F&amp;B)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C39851"/>
                </a:solidFill>
                <a:latin typeface="Calibri"/>
              </a:rPr>
              <a:t>PMS (Hotels)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Web/App SDK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E-commerce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Forms / CS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35808" y="3218687"/>
            <a:ext cx="365760" cy="329184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47288" y="2331720"/>
            <a:ext cx="2423160" cy="21031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47288" y="2331720"/>
            <a:ext cx="2423160" cy="4572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47288" y="2331720"/>
            <a:ext cx="24231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7016" y="2898648"/>
            <a:ext cx="2203704" cy="14447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RudderStack OSS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C39851"/>
                </a:solidFill>
                <a:latin typeface="Calibri"/>
              </a:rPr>
              <a:t>(event capture + routing)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core-api / NestJS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REST/HTTP + SDK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16168" y="3218687"/>
            <a:ext cx="365760" cy="329184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27648" y="2331720"/>
            <a:ext cx="2423160" cy="21031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27648" y="2331720"/>
            <a:ext cx="2423160" cy="4572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2331720"/>
            <a:ext cx="24231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898648"/>
            <a:ext cx="2203704" cy="14447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PostgreSQL 18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C39851"/>
                </a:solidFill>
                <a:latin typeface="Calibri"/>
              </a:rPr>
              <a:t>(system of record, ACID)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C39851"/>
                </a:solidFill>
                <a:latin typeface="Calibri"/>
              </a:rPr>
              <a:t>ClickHouse (OLAP)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C39851"/>
                </a:solidFill>
                <a:latin typeface="Calibri"/>
              </a:rPr>
              <a:t>MinIO (object store)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C39851"/>
                </a:solidFill>
                <a:latin typeface="Calibri"/>
              </a:rPr>
              <a:t>Redis (cache)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96528" y="3218687"/>
            <a:ext cx="365760" cy="329184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08007" y="2331720"/>
            <a:ext cx="2423160" cy="2103120"/>
          </a:xfrm>
          <a:prstGeom prst="rect">
            <a:avLst/>
          </a:prstGeom>
          <a:solidFill>
            <a:srgbClr val="3D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08007" y="2331720"/>
            <a:ext cx="2423160" cy="4572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7" y="2331720"/>
            <a:ext cx="242316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ACTIVATION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5" y="2898648"/>
            <a:ext cx="2203704" cy="14447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Reverse-ETL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1">
                <a:solidFill>
                  <a:srgbClr val="C39851"/>
                </a:solidFill>
                <a:latin typeface="Calibri"/>
              </a:rPr>
              <a:t>(RudderStack)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39851"/>
                </a:solidFill>
                <a:latin typeface="Calibri"/>
              </a:rPr>
              <a:t>→ Email / SMS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39851"/>
                </a:solidFill>
                <a:latin typeface="Calibri"/>
              </a:rPr>
              <a:t>→ Zalo ZNS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C39851"/>
                </a:solidFill>
                <a:latin typeface="Calibri"/>
              </a:rPr>
              <a:t>→ Google / Meta / BI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800600"/>
            <a:ext cx="11064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4800600"/>
            <a:ext cx="82296" cy="6858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10607040" cy="685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Duplicate protection (idempotency): </a:t>
            </a:r>
            <a:r>
              <a:rPr sz="1300" b="0" i="0">
                <a:solidFill>
                  <a:srgbClr val="1B1B2E"/>
                </a:solidFill>
                <a:latin typeface="Calibri"/>
              </a:rPr>
              <a:t>each POS transaction carries a unique key — resend it any number of times, it is recorded ONCE.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562356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core-api (NestJS) </a:t>
            </a:r>
            <a:r>
              <a:rPr sz="1300" b="0" i="0">
                <a:solidFill>
                  <a:srgbClr val="565564"/>
                </a:solidFill>
                <a:latin typeface="Calibri"/>
              </a:rPr>
              <a:t>handles identity + loyalty + consent + ingestion in ONE ACID transaction — correct money, correct identity at the point of sale.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SYNC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Six data synchronization patterns — chosen per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2834640" cy="5029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920240"/>
            <a:ext cx="26517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Pattern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1920240"/>
            <a:ext cx="3840480" cy="5029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1920240"/>
            <a:ext cx="365760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When to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42048" y="1920240"/>
            <a:ext cx="4389120" cy="5029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33488" y="1920240"/>
            <a:ext cx="420624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Example at OCH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23160"/>
            <a:ext cx="2834640" cy="640080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" y="2423160"/>
            <a:ext cx="263347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Real-time streaming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2423160"/>
            <a:ext cx="384048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1296" y="2423160"/>
            <a:ext cx="363931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Data needed the moment an event occurs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2048" y="2423160"/>
            <a:ext cx="438912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51775" y="2423160"/>
            <a:ext cx="418795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POS transactions, web/app events → ingested immediately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063240"/>
            <a:ext cx="2834640" cy="640080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063240"/>
            <a:ext cx="263347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Batch / scheduled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01568" y="3063240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11296" y="3063240"/>
            <a:ext cx="363931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Large volumes, no real-time need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2048" y="3063240"/>
            <a:ext cx="4389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51775" y="3063240"/>
            <a:ext cx="418795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Product catalogs, nightly sync from files/DB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03320"/>
            <a:ext cx="2834640" cy="640080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3703320"/>
            <a:ext cx="263347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CDC (Change Data Capture)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1568" y="3703320"/>
            <a:ext cx="384048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11296" y="3703320"/>
            <a:ext cx="363931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Capture changes from source databases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42048" y="3703320"/>
            <a:ext cx="438912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51775" y="3703320"/>
            <a:ext cx="418795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Customer profile updates from legacy systems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343400"/>
            <a:ext cx="2834640" cy="640080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4343400"/>
            <a:ext cx="263347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Reverse-ETL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4343400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11296" y="4343400"/>
            <a:ext cx="363931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Push from the warehouse to SaaS tools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42048" y="4343400"/>
            <a:ext cx="4389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51775" y="4343400"/>
            <a:ext cx="418795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Push audiences to Zalo ZNS / Ads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983480"/>
            <a:ext cx="2834640" cy="640080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6656" y="4983480"/>
            <a:ext cx="263347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Webhook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01568" y="4983480"/>
            <a:ext cx="384048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511296" y="4983480"/>
            <a:ext cx="363931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Sources call in when events occur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42048" y="4983480"/>
            <a:ext cx="4389120" cy="640080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51775" y="4983480"/>
            <a:ext cx="418795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Payment gateways / partner notifications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623560"/>
            <a:ext cx="2834640" cy="640080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6656" y="5623560"/>
            <a:ext cx="263347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REST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01568" y="5623560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511296" y="5623560"/>
            <a:ext cx="363931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Flexible two-way integration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42048" y="5623560"/>
            <a:ext cx="43891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351775" y="5623560"/>
            <a:ext cx="4187952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Other OCH systems read/write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ELT: load raw first, transform later — no source data lost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920240"/>
            <a:ext cx="64008" cy="1463040"/>
          </a:xfrm>
          <a:prstGeom prst="rect">
            <a:avLst/>
          </a:prstGeom>
          <a:solidFill>
            <a:srgbClr val="565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084832"/>
            <a:ext cx="508406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ETL — transform before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68880"/>
            <a:ext cx="5038344" cy="8046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65564"/>
                </a:solidFill>
                <a:latin typeface="Calibri"/>
              </a:rPr>
              <a:t>Data is transformed before loading. Rigid — hard to adapt when new analyses are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92024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6208" y="1920240"/>
            <a:ext cx="64008" cy="1463040"/>
          </a:xfrm>
          <a:prstGeom prst="rect">
            <a:avLst/>
          </a:prstGeom>
          <a:solidFill>
            <a:srgbClr val="2F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2084832"/>
            <a:ext cx="508406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ELT — load raw, transform in 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468880"/>
            <a:ext cx="5038344" cy="80467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65564"/>
                </a:solidFill>
                <a:latin typeface="Calibri"/>
              </a:rPr>
              <a:t>Raw data lands first, then is standardized and computed in the warehouse. Flexible, source preserved.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56616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The OCH system uses ELT + streaming ingestion: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069080"/>
            <a:ext cx="2423160" cy="14173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4069080"/>
            <a:ext cx="242316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4197096"/>
            <a:ext cx="22037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4636008"/>
            <a:ext cx="2203704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D6E0"/>
                </a:solidFill>
                <a:latin typeface="Calibri"/>
              </a:rPr>
              <a:t>From POS, PMS, web/app, forms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035808" y="4613148"/>
            <a:ext cx="365760" cy="329184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47288" y="4069080"/>
            <a:ext cx="2423160" cy="1417320"/>
          </a:xfrm>
          <a:prstGeom prst="rect">
            <a:avLst/>
          </a:prstGeom>
          <a:solidFill>
            <a:srgbClr val="3D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47288" y="4069080"/>
            <a:ext cx="242316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57016" y="4197096"/>
            <a:ext cx="22037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Load (raw)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4636008"/>
            <a:ext cx="2203704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D6E0"/>
                </a:solidFill>
                <a:latin typeface="Calibri"/>
              </a:rPr>
              <a:t>Raw data lands in PostgreSQL / MinIO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16168" y="4613148"/>
            <a:ext cx="365760" cy="329184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27648" y="4069080"/>
            <a:ext cx="2423160" cy="14173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27648" y="4069080"/>
            <a:ext cx="242316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37376" y="4197096"/>
            <a:ext cx="22037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7376" y="4636008"/>
            <a:ext cx="2203704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D6E0"/>
                </a:solidFill>
                <a:latin typeface="Calibri"/>
              </a:rPr>
              <a:t>Standardized into canonical models + features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796528" y="4613148"/>
            <a:ext cx="365760" cy="329184"/>
          </a:xfrm>
          <a:prstGeom prst="rightArrow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08007" y="4069080"/>
            <a:ext cx="2423160" cy="1417320"/>
          </a:xfrm>
          <a:prstGeom prst="rect">
            <a:avLst/>
          </a:prstGeom>
          <a:solidFill>
            <a:srgbClr val="3D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08007" y="4069080"/>
            <a:ext cx="242316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17735" y="4197096"/>
            <a:ext cx="2203704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Serve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7735" y="4636008"/>
            <a:ext cx="2203704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8D6E0"/>
                </a:solidFill>
                <a:latin typeface="Calibri"/>
              </a:rPr>
              <a:t>Analytics in ClickHouse + Profile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760720"/>
            <a:ext cx="1097280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2E2E40"/>
                </a:solidFill>
                <a:latin typeface="Calibri"/>
              </a:rPr>
              <a:t>Result: </a:t>
            </a:r>
            <a:r>
              <a:rPr sz="1350" b="0" i="0">
                <a:solidFill>
                  <a:srgbClr val="1B1B2E"/>
                </a:solidFill>
                <a:latin typeface="Calibri"/>
              </a:rPr>
              <a:t>fast raw ingestion, canonical modeling, OLAP analytics in ClickHouse. dbt can be added as the stack grows.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Eleven workspaces, organized by business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1984248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🗼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Control Tower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41448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Real-time group-wide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1874519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874519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38728" y="1984248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👤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Customer 360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441448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Unified 360° customer profiles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874519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4496" y="1874519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1984248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🎁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Loyalty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41448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Earn &amp; redeem across brands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1874519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1874519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26296" y="1984248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🗄️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Data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441448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Master data: brands, stores, products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1927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3319272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" y="3429000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📊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886200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Revenue, lifecycle, synergy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0712" y="331927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10712" y="3319272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538728" y="3429000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🎯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Audiences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7016" y="3886200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Criteria-based customer segments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331927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54496" y="3319272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3429000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🧭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Journeys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886200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Automated customer journeys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8280" y="3319272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98280" y="3319272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26296" y="3429000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💬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AI Assistant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584" y="3886200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Ask your data in natural language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764023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66928" y="4764023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4944" y="4873751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🛡️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AI &amp; Governance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330951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Govern &amp; audit AI parameters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10712" y="4764023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10712" y="4764023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38728" y="4873751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✅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Governance (Consent)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57016" y="5330951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Consent &amp; privacy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4764023"/>
            <a:ext cx="2697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254496" y="4764023"/>
            <a:ext cx="269748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382512" y="4873751"/>
            <a:ext cx="2441448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1B1B2E"/>
                </a:solidFill>
                <a:latin typeface="Calibri"/>
              </a:rPr>
              <a:t>⚙️  </a:t>
            </a:r>
            <a:r>
              <a:rPr sz="1400" b="1" i="0">
                <a:solidFill>
                  <a:srgbClr val="2E2E40"/>
                </a:solidFill>
                <a:latin typeface="Calibri"/>
              </a:rPr>
              <a:t>Platform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330951"/>
            <a:ext cx="2423160" cy="6583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65564"/>
                </a:solidFill>
                <a:latin typeface="Calibri"/>
              </a:rPr>
              <a:t>Users, roles, API keys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98280" y="4764023"/>
            <a:ext cx="2697480" cy="1298448"/>
          </a:xfrm>
          <a:prstGeom prst="rect">
            <a:avLst/>
          </a:prstGeom>
          <a:solidFill>
            <a:srgbClr val="E7DDC8"/>
          </a:solidFill>
          <a:ln w="1270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26296" y="4764023"/>
            <a:ext cx="2441448" cy="12984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40"/>
                </a:solidFill>
                <a:latin typeface="Calibri"/>
              </a:rPr>
              <a:t>One platform —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C39851"/>
                </a:solidFill>
                <a:latin typeface="Georgia"/>
              </a:rPr>
              <a:t>11 workspace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E2E40"/>
                </a:solidFill>
                <a:latin typeface="Calibri"/>
              </a:rPr>
              <a:t>for every role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WORKSPACE · CONTROL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Control Tower: group-wide numbers on one screen,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A unified real-time dashboard: revenue, customers and data health for all six brands on one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Running a multi-brand group cannot wait for month-end reports stitched from six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One source of truth for management; anomalies surface the same 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ontrol-t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Control Tower — real-time group overview. Product UI shown in Vietnamese (system language for OCH operations).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CUSTOMER 360 ·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Look up any customer across six brands in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A group-wide directory: search by name, phone or email; filter by lifecycle, tier and brand.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Customer service needs the answer while the customer is still at the counter.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335 customers across 6 brands on one screen; one click opens the full history.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ustomers-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Unified directory — the entry point to the Customer 360 profile.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CUSTOMER 360 ·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Customer tiers from group-wide spend — the 8% Diamond segment to protect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Diamond / Gold / Silver / Bronze tiers from cumulative group-wide spend — not per brand.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Care resources are finite — they must go to the small group driving most of the revenue.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Predicted CLV shows how much is worth investing to keep each customer.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181051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360-cl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98019"/>
            <a:ext cx="5303520" cy="140008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373989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Customer value — LTV, predicted CLV, AOV.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133088"/>
            <a:ext cx="5394959" cy="181051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360-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020" y="4178808"/>
            <a:ext cx="4398198" cy="17190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Purchase behavior — brands, categories, timing.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CUSTOMER 360 ·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Purchase cadence: predicted return dates and overdue alerts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Each customer’s average purchase interval → a predicted return date; off-schedule customers get flagged.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Keeping a customer on cycle costs far less than winning back one who has left.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“37 days overdue” is a signal for customer service to reach out the same 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181051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360-ca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45384"/>
            <a:ext cx="5303520" cy="90535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373989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Purchase cadence — cycle, predicted return date, overdue alerts.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133088"/>
            <a:ext cx="5394959" cy="181051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360-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020" y="4178808"/>
            <a:ext cx="4398198" cy="17190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Purchase behavior — the basis for each customer’s cadence.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FORGOTTEN SALES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86 open or abandoned carts — the largest worth VND 8.95M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The CDP keeps every unpaid cart and booking, and queues them for the sales team by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No other system in the group can see this cart.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86 open or abandoned carts, pre-sorted into a call-back list with a playbook — remind first, add an incentive if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181051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360-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81069"/>
            <a:ext cx="5303520" cy="10339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373989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Abandoned carts — value and idle time per cart.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133088"/>
            <a:ext cx="5394959" cy="181051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360-a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4311088"/>
            <a:ext cx="5303520" cy="145451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Recommended actions — a prioritized to-do list.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WORKSPACE ·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Insights: revenue, forecasts and synergy across six brands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Monthly revenue with forecasts; customer lifecycle mix (VIP / active / at-risk / dormant); cross-brand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A rising at-risk share is an earlier warning than any revenue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Customer-base health and cross-sell potential on a single page.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Insights — revenue, forecasts, customer lifecycle.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WORKSPACE ·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179 activations, fully logged: who was sent, who was suppressed,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Build audiences from criteria, then activate to Email / SMS / Zalo ZNS / 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A campaign without logs is a campaign that cannot be verified.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Every activation logs sends and consent suppressions — auditable down to the individual customer.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udi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Audiences — segments, criteria and activation history.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WORKSPACE · JOURNEYS ·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Journeys: marketers build care scenarios with drag-and-drop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Drag-and-drop journey flows: Entry → Condition → Action → Wait → End, with Yes/No branches.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If every scenario waits for engineering, marketing can only move at release 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Each customer is touched EXACTLY ONCE per step — even if the system fails mid-run.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journey-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Journey canvas — drag-and-drop flow with condition branches.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WORKSPACE · JOURNEYS ·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Funnel report: 38 entered → 22 reached → 16 completed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Every journey has a funnel: how many entered and how many remain at each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Without a funnel you only know a campaign “ran” — not where customers dropped.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7 journeys running in the demo; the funnel shows exactly which step loses customers.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journey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Journey report — funnel and per-step conversion.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WORKSPACE · LOYALTY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Double-entry loyalty: 119,646 points in circulation, every movement has a matching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One shared points fund: earn at one brand, redeem at another. Every movement is a ledger entry with a counterpart.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Points are a liability — without double-entry bookkeeping, leakage goes unnoticed.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230 members earning and redeeming across brands; the fund can never go negative or double-credit.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loya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Loyalty — member leaderboard and points fund.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WORKSPACE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Consent enforced at the system layer: no consent, no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Consent is recorded per purpose (email, SMS, advertising…), defaults to DENY, and every change is logged.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Compliance cannot rely on the discipline of whoever runs the campaign.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All activations pass one consent gate; suppression lists live in the logs — provable under audit.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Governance — per-purpose consent with a full audit trail.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WORKSPACE · DATA OPS &amp;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Data Ops &amp; Platform: one master catalog, seven permission roles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38528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938528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77440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Data Ops maintains the group-wide master catalog; Platform manages users across 7 roles and API keys.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429000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3429000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867912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Wrong reports start with mismatched catalogs; security incidents start with unclear accounts.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919472"/>
            <a:ext cx="2286000" cy="365760"/>
          </a:xfrm>
          <a:prstGeom prst="round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4919472"/>
            <a:ext cx="228600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358383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1B1B2E"/>
                </a:solidFill>
                <a:latin typeface="Calibri"/>
              </a:rPr>
              <a:t>Fix once — updated everywhere; external connections use scoped API keys.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892808"/>
            <a:ext cx="5394959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ata-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32508"/>
            <a:ext cx="5303520" cy="37713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980176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Data Ops — brand / store / product catalogs.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AI IN THE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Six AI capabilities running on demo data — 335 customers scored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36118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73152" cy="1316736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3291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Customer scoring (RFM)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95144"/>
            <a:ext cx="3291840" cy="8138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1B2E"/>
                </a:solidFill>
                <a:latin typeface="Calibri"/>
              </a:rPr>
              <a:t>VIP / active / at-risk / dormant / churned lifecycle, churn risk, purchase trends — with clear reasons for every score.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874519"/>
            <a:ext cx="36118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74519"/>
            <a:ext cx="73152" cy="1316736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8" y="1965960"/>
            <a:ext cx="3291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CLV &amp; next purchase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295144"/>
            <a:ext cx="3291840" cy="8138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1B2E"/>
                </a:solidFill>
                <a:latin typeface="Calibri"/>
              </a:rPr>
              <a:t>How much is worth investing to keep a customer, and WHEN to reach 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9272"/>
            <a:ext cx="36118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3319272"/>
            <a:ext cx="73152" cy="1316736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410712"/>
            <a:ext cx="3291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Cross-sell suggestions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739896"/>
            <a:ext cx="3291840" cy="8138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1B2E"/>
                </a:solidFill>
                <a:latin typeface="Calibri"/>
              </a:rPr>
              <a:t>What similar customers also bought; prioritizes variety and cross-brand.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3319272"/>
            <a:ext cx="36118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15968" y="3319272"/>
            <a:ext cx="73152" cy="1316736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98848" y="3410712"/>
            <a:ext cx="3291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Next-Best-Action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3739896"/>
            <a:ext cx="3291840" cy="8138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1B2E"/>
                </a:solidFill>
                <a:latin typeface="Calibri"/>
              </a:rPr>
              <a:t>The system proposes the next action per customer, with stated grounds; people approve and execute.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764024"/>
            <a:ext cx="36118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4764024"/>
            <a:ext cx="73152" cy="1316736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4855464"/>
            <a:ext cx="3291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Action rule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184648"/>
            <a:ext cx="3291840" cy="8138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1B2E"/>
                </a:solidFill>
                <a:latin typeface="Calibri"/>
              </a:rPr>
              <a:t>Abandoned carts, retention, F&amp;B ↔ hotel cross-sell — pre-sorted by priority.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4764024"/>
            <a:ext cx="36118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15968" y="4764024"/>
            <a:ext cx="73152" cy="1316736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98848" y="4855464"/>
            <a:ext cx="32918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Revenue forecasting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5184648"/>
            <a:ext cx="3291840" cy="8138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1B1B2E"/>
                </a:solidFill>
                <a:latin typeface="Calibri"/>
              </a:rPr>
              <a:t>Monthly forecasts directly in Insights.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59" y="1828799"/>
            <a:ext cx="3520440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360-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3184069"/>
            <a:ext cx="3429000" cy="13402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38159" y="5916168"/>
            <a:ext cx="35204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AI scores computed on the demo’s live data.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GENERATIVE AI, UNDER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AI Assistant: ask your data in plain language, governed and logged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5440680" cy="1051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E2E40"/>
                </a:solidFill>
                <a:latin typeface="Calibri"/>
              </a:rPr>
              <a:t>LLM assistant (built on Anthropic’s Claude): </a:t>
            </a:r>
            <a:r>
              <a:rPr sz="1550" b="0" i="0">
                <a:solidFill>
                  <a:srgbClr val="1B1B2E"/>
                </a:solidFill>
                <a:latin typeface="Calibri"/>
              </a:rPr>
              <a:t>data Q&amp;A, segments generated from plain descriptions, marketing copy drafting.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06324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063240"/>
            <a:ext cx="82296" cy="9144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3774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E2E40"/>
                </a:solidFill>
                <a:latin typeface="Calibri"/>
              </a:rPr>
              <a:t>① PII guardrail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63240"/>
            <a:ext cx="26974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Personally identifiable data is never sent to the LLM.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11480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4114800"/>
            <a:ext cx="82296" cy="9144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23774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E2E40"/>
                </a:solidFill>
                <a:latin typeface="Calibri"/>
              </a:rPr>
              <a:t>② AI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114800"/>
            <a:ext cx="26974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Admins set thresholds and switch features on or 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166360"/>
            <a:ext cx="5440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5166360"/>
            <a:ext cx="82296" cy="9144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5166360"/>
            <a:ext cx="23774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E2E40"/>
                </a:solidFill>
                <a:latin typeface="Calibri"/>
              </a:rPr>
              <a:t>③ Audit + usage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5166360"/>
            <a:ext cx="269748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Every AI call is recorded.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828799"/>
            <a:ext cx="5394959" cy="181051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397" y="1874519"/>
            <a:ext cx="2417445" cy="17190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3640" y="3675887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AI Assistant — Q&amp;A on live data.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069080"/>
            <a:ext cx="5394959" cy="181051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i-gover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397" y="4114800"/>
            <a:ext cx="2417445" cy="17190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63640" y="5916168"/>
            <a:ext cx="5394959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AI Governance — thresholds, toggles, audit.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Compared with commercial CDPs: data, cost and Vietnam channels — 1/2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278892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965960"/>
            <a:ext cx="2697479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965960"/>
            <a:ext cx="1874519" cy="566928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965960"/>
            <a:ext cx="1783079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AICDP / OCH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1965960"/>
            <a:ext cx="123444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1965960"/>
            <a:ext cx="11430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4808" y="1965960"/>
            <a:ext cx="141732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965960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Adobe RTCDP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1965960"/>
            <a:ext cx="114300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1965960"/>
            <a:ext cx="10515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Tealium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1965960"/>
            <a:ext cx="123444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0848" y="1965960"/>
            <a:ext cx="11430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Hightouch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59568" y="1965960"/>
            <a:ext cx="137160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5288" y="1965960"/>
            <a:ext cx="12801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Treasure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532888"/>
            <a:ext cx="2788920" cy="841248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2532888"/>
            <a:ext cx="26791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Deployment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2532888"/>
            <a:ext cx="1874519" cy="841248"/>
          </a:xfrm>
          <a:prstGeom prst="rect">
            <a:avLst/>
          </a:prstGeom>
          <a:solidFill>
            <a:srgbClr val="F3EAD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10712" y="2532888"/>
            <a:ext cx="17647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Self-hosted at OCH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2532888"/>
            <a:ext cx="123444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85231" y="2532888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Cloud SaaS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4808" y="2532888"/>
            <a:ext cx="141732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2532888"/>
            <a:ext cx="130759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Cloud SaaS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2532888"/>
            <a:ext cx="114300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36992" y="2532888"/>
            <a:ext cx="103327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Cloud SaaS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5128" y="2532888"/>
            <a:ext cx="123444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9992" y="2532888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Cloud (ELT)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59568" y="2532888"/>
            <a:ext cx="137160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14432" y="2532888"/>
            <a:ext cx="126187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Cloud SaaS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374136"/>
            <a:ext cx="2788920" cy="841248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3374136"/>
            <a:ext cx="26791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Data residency in Vietnam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55848" y="3374136"/>
            <a:ext cx="1874519" cy="841248"/>
          </a:xfrm>
          <a:prstGeom prst="rect">
            <a:avLst/>
          </a:prstGeom>
          <a:solidFill>
            <a:srgbClr val="F3EAD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10712" y="3374136"/>
            <a:ext cx="17647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Yes — sovereign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30368" y="3374136"/>
            <a:ext cx="1234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85231" y="3374136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Foreign infra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4808" y="3374136"/>
            <a:ext cx="14173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9672" y="3374136"/>
            <a:ext cx="130759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Foreign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8" y="3374136"/>
            <a:ext cx="11430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36992" y="3374136"/>
            <a:ext cx="103327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Foreign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5128" y="3374136"/>
            <a:ext cx="1234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74136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Foreign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59568" y="3374136"/>
            <a:ext cx="1371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314432" y="3374136"/>
            <a:ext cx="126187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Foreign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215384"/>
            <a:ext cx="2788920" cy="841248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" y="4215384"/>
            <a:ext cx="26791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Tailored for F&amp;B + hotels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55848" y="4215384"/>
            <a:ext cx="1874519" cy="841248"/>
          </a:xfrm>
          <a:prstGeom prst="rect">
            <a:avLst/>
          </a:prstGeom>
          <a:solidFill>
            <a:srgbClr val="F3EAD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10712" y="4215384"/>
            <a:ext cx="17647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Purpose-built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30368" y="4215384"/>
            <a:ext cx="123444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85231" y="4215384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Generic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64808" y="4215384"/>
            <a:ext cx="141732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19672" y="4215384"/>
            <a:ext cx="130759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Generic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82128" y="4215384"/>
            <a:ext cx="114300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36992" y="4215384"/>
            <a:ext cx="103327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Generic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25128" y="4215384"/>
            <a:ext cx="123444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79992" y="4215384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Generic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59568" y="4215384"/>
            <a:ext cx="137160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14432" y="4215384"/>
            <a:ext cx="126187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Generic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056632"/>
            <a:ext cx="2788920" cy="841248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1792" y="5056632"/>
            <a:ext cx="26791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Identity resolution (OCH ID)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55848" y="5056632"/>
            <a:ext cx="1874519" cy="841248"/>
          </a:xfrm>
          <a:prstGeom prst="rect">
            <a:avLst/>
          </a:prstGeom>
          <a:solidFill>
            <a:srgbClr val="F3EAD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410712" y="5056632"/>
            <a:ext cx="17647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Core capability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30368" y="5056632"/>
            <a:ext cx="1234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285231" y="5056632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Yes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64808" y="5056632"/>
            <a:ext cx="14173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19672" y="5056632"/>
            <a:ext cx="130759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Yes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82128" y="5056632"/>
            <a:ext cx="11430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36992" y="5056632"/>
            <a:ext cx="103327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25128" y="5056632"/>
            <a:ext cx="1234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79992" y="5056632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Reverse-ETL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59568" y="5056632"/>
            <a:ext cx="1371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14432" y="5056632"/>
            <a:ext cx="126187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Yes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Compared with commercial CDPs: data, cost and Vietnam channels — 2/2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278892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965960"/>
            <a:ext cx="2697479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965960"/>
            <a:ext cx="1874519" cy="566928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965960"/>
            <a:ext cx="1783079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AICDP / OCH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1965960"/>
            <a:ext cx="123444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76088" y="1965960"/>
            <a:ext cx="11430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4808" y="1965960"/>
            <a:ext cx="141732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965960"/>
            <a:ext cx="132588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Adobe RTCDP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1965960"/>
            <a:ext cx="114300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27848" y="1965960"/>
            <a:ext cx="10515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Tealium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1965960"/>
            <a:ext cx="123444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70848" y="1965960"/>
            <a:ext cx="114300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Hightouch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59568" y="1965960"/>
            <a:ext cx="1371600" cy="566928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5288" y="1965960"/>
            <a:ext cx="128016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Treasure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532888"/>
            <a:ext cx="2788920" cy="841248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2532888"/>
            <a:ext cx="26791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Built-in loyalty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55848" y="2532888"/>
            <a:ext cx="1874519" cy="841248"/>
          </a:xfrm>
          <a:prstGeom prst="rect">
            <a:avLst/>
          </a:prstGeom>
          <a:solidFill>
            <a:srgbClr val="F3EAD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10712" y="2532888"/>
            <a:ext cx="17647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Yes — double-entry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0368" y="2532888"/>
            <a:ext cx="123444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85231" y="2532888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64808" y="2532888"/>
            <a:ext cx="141732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9672" y="2532888"/>
            <a:ext cx="130759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82128" y="2532888"/>
            <a:ext cx="114300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36992" y="2532888"/>
            <a:ext cx="103327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5128" y="2532888"/>
            <a:ext cx="123444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79992" y="2532888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59568" y="2532888"/>
            <a:ext cx="137160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14432" y="2532888"/>
            <a:ext cx="126187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Integration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374136"/>
            <a:ext cx="2788920" cy="841248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3374136"/>
            <a:ext cx="26791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Explainable 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55848" y="3374136"/>
            <a:ext cx="1874519" cy="841248"/>
          </a:xfrm>
          <a:prstGeom prst="rect">
            <a:avLst/>
          </a:prstGeom>
          <a:solidFill>
            <a:srgbClr val="F3EAD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10712" y="3374136"/>
            <a:ext cx="17647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Yes — transparent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30368" y="3374136"/>
            <a:ext cx="1234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85231" y="3374136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Limited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64808" y="3374136"/>
            <a:ext cx="14173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19672" y="3374136"/>
            <a:ext cx="130759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Yes (black box)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82128" y="3374136"/>
            <a:ext cx="11430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36992" y="3374136"/>
            <a:ext cx="103327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Limited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25128" y="3374136"/>
            <a:ext cx="1234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79992" y="3374136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59568" y="3374136"/>
            <a:ext cx="1371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314432" y="3374136"/>
            <a:ext cx="126187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Yes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4215384"/>
            <a:ext cx="2788920" cy="841248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" y="4215384"/>
            <a:ext cx="26791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Vietnam channels (Zalo ZNS)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55848" y="4215384"/>
            <a:ext cx="1874519" cy="841248"/>
          </a:xfrm>
          <a:prstGeom prst="rect">
            <a:avLst/>
          </a:prstGeom>
          <a:solidFill>
            <a:srgbClr val="F3EAD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410712" y="4215384"/>
            <a:ext cx="17647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Native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30368" y="4215384"/>
            <a:ext cx="123444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85231" y="4215384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Via integration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64808" y="4215384"/>
            <a:ext cx="141732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519672" y="4215384"/>
            <a:ext cx="130759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Via integration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82128" y="4215384"/>
            <a:ext cx="114300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36992" y="4215384"/>
            <a:ext cx="103327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Via integration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25128" y="4215384"/>
            <a:ext cx="123444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079992" y="4215384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Via integration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59568" y="4215384"/>
            <a:ext cx="1371600" cy="84124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14432" y="4215384"/>
            <a:ext cx="126187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Via integration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5056632"/>
            <a:ext cx="2788920" cy="841248"/>
          </a:xfrm>
          <a:prstGeom prst="rect">
            <a:avLst/>
          </a:prstGeom>
          <a:solidFill>
            <a:srgbClr val="3D3D54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21792" y="5056632"/>
            <a:ext cx="26791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License cost (qualitative)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55848" y="5056632"/>
            <a:ext cx="1874519" cy="841248"/>
          </a:xfrm>
          <a:prstGeom prst="rect">
            <a:avLst/>
          </a:prstGeom>
          <a:solidFill>
            <a:srgbClr val="F3EAD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410712" y="5056632"/>
            <a:ext cx="176479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E2E40"/>
                </a:solidFill>
                <a:latin typeface="Calibri"/>
              </a:rPr>
              <a:t>No per-customer fee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30368" y="5056632"/>
            <a:ext cx="1234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285231" y="5056632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High, MTU-based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64808" y="5056632"/>
            <a:ext cx="141732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19672" y="5056632"/>
            <a:ext cx="130759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Very high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82128" y="5056632"/>
            <a:ext cx="11430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36992" y="5056632"/>
            <a:ext cx="1033271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High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25128" y="5056632"/>
            <a:ext cx="12344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79992" y="5056632"/>
            <a:ext cx="112471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Per synced row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259568" y="5056632"/>
            <a:ext cx="137160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314432" y="5056632"/>
            <a:ext cx="1261872" cy="8412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1B2E"/>
                </a:solidFill>
                <a:latin typeface="Calibri"/>
              </a:rPr>
              <a:t>High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6928" y="5669280"/>
            <a:ext cx="11064240" cy="777240"/>
          </a:xfrm>
          <a:prstGeom prst="roundRect">
            <a:avLst/>
          </a:prstGeom>
          <a:solidFill>
            <a:srgbClr val="E7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22960" y="5669280"/>
            <a:ext cx="10607040" cy="7772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E2E40"/>
                </a:solidFill>
                <a:latin typeface="Calibri"/>
              </a:rPr>
              <a:t>Bottom line: </a:t>
            </a:r>
            <a:r>
              <a:rPr sz="1200" b="0" i="0">
                <a:solidFill>
                  <a:srgbClr val="1B1B2E"/>
                </a:solidFill>
                <a:latin typeface="Calibri"/>
              </a:rPr>
              <a:t>AICDP fits OCH better on data sovereignty in Vietnam, F&amp;B + hotel fit, total cost of ownership, and Vietnam channels (Zalo). Competitor entries are qualitative — no invented numbers.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OPERATING FLOW ·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Consent → activation: all data comes in, sends go out only with permission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20"/>
            <a:ext cx="10652760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c_consen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40" y="1920240"/>
            <a:ext cx="10030358" cy="395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61888"/>
            <a:ext cx="106527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Audiences pass the consent gate before sending; non-consented customers are suppressed and logged.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OPERATING FLOW ·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Automated journey flow: enroll → condition → action →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20"/>
            <a:ext cx="10652760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c_journe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40" y="1920240"/>
            <a:ext cx="10030358" cy="395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61888"/>
            <a:ext cx="106527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Trigger → condition → action → wait → loop; completion writes the funnel for drop-off analysis.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OPERATING FLOW ·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Loyalty flow: earn → reserve → capture/release, a ledger entry at every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20"/>
            <a:ext cx="10652760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c_loyalt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40" y="1920240"/>
            <a:ext cx="10030358" cy="3959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61888"/>
            <a:ext cx="106527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Points are locked at redemption and deducted only on completion — cancellations refund in full.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ROLLOUT &amp;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Seven-step rollout — each step has an acceptance deliverable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20"/>
            <a:ext cx="10652760" cy="4050791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c_deploy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32339"/>
            <a:ext cx="10561320" cy="33351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961888"/>
            <a:ext cx="1065276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Each phase has acceptance milestones; operations feed back into improvement.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CONCLUSION — FIVE MECHANISMS BUILT INTO THE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No duplicated revenue, no leaked points, no wrong sends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2024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920240"/>
            <a:ext cx="82296" cy="658368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20240"/>
            <a:ext cx="342900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Duplicate-proof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920240"/>
            <a:ext cx="713232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Every POS transaction carries a unique key — resends are recorded once.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688336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688336"/>
            <a:ext cx="82296" cy="658368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688336"/>
            <a:ext cx="342900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Double-entry loyalty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688336"/>
            <a:ext cx="713232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Every point has a matching ledger entry: no double-crediting, the fund can never go negative.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5643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6928" y="3456432"/>
            <a:ext cx="82296" cy="658368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456432"/>
            <a:ext cx="342900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Technical consent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456432"/>
            <a:ext cx="713232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Without consent the system blocks the send — it does not rely on campaign discipline.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2452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4224528"/>
            <a:ext cx="82296" cy="658368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224528"/>
            <a:ext cx="342900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Exactly-once customer touch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24528"/>
            <a:ext cx="713232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Each journey step executes exactly once — system errors never cause spam.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99262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4992624"/>
            <a:ext cx="82296" cy="658368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4992624"/>
            <a:ext cx="342900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Self-hosted in Vietnam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992624"/>
            <a:ext cx="713232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Customer data never leaves OCH infrastructure; no per-event license fees.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97880"/>
            <a:ext cx="11064240" cy="530352"/>
          </a:xfrm>
          <a:prstGeom prst="roundRect">
            <a:avLst/>
          </a:prstGeom>
          <a:solidFill>
            <a:srgbClr val="E7DDC8"/>
          </a:solidFill>
          <a:ln w="1270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897880"/>
            <a:ext cx="10607040" cy="53035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B2E"/>
                </a:solidFill>
                <a:latin typeface="Calibri"/>
              </a:rPr>
              <a:t>The system is running on live data — try it at </a:t>
            </a:r>
            <a:r>
              <a:rPr sz="1500" b="1" i="0">
                <a:solidFill>
                  <a:srgbClr val="2E2E40"/>
                </a:solidFill>
                <a:latin typeface="Calibri"/>
              </a:rPr>
              <a:t>och-aicdp.aipower.vn</a:t>
            </a:r>
            <a:r>
              <a:rPr sz="1250" b="0" i="0">
                <a:solidFill>
                  <a:srgbClr val="565564"/>
                </a:solidFill>
                <a:latin typeface="Calibri"/>
              </a:rPr>
              <a:t>  (admin / Och@2026)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2236" y="1499616"/>
            <a:ext cx="3384242" cy="3401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och-tow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100" y="1554480"/>
            <a:ext cx="3274514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645920"/>
            <a:ext cx="694944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2E2E40"/>
                </a:solidFill>
                <a:latin typeface="Georgia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67665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565564"/>
                </a:solidFill>
                <a:latin typeface="Calibri"/>
              </a:rPr>
              <a:t>OCH · Customer Data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383280"/>
            <a:ext cx="6583680" cy="1234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3520440"/>
            <a:ext cx="6126480" cy="411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Explore the live demo: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31920"/>
            <a:ext cx="612648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E2E40"/>
                </a:solidFill>
                <a:latin typeface="Calibri"/>
              </a:rPr>
              <a:t>https://och-aicdp.aipower.vn</a:t>
            </a:r>
            <a:r>
              <a:rPr sz="1200" b="0" i="0">
                <a:solidFill>
                  <a:srgbClr val="565564"/>
                </a:solidFill>
                <a:latin typeface="Calibri"/>
              </a:rPr>
              <a:t>    (login: admin / Och@2026)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65836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39851"/>
                </a:solidFill>
                <a:latin typeface="Calibri"/>
              </a:rPr>
              <a:t>Developed by AIPOWER  ·  aipower.vn</a:t>
            </a:r>
          </a:p>
        </p:txBody>
      </p:sp>
      <p:pic>
        <p:nvPicPr>
          <p:cNvPr id="13" name="Picture 12" descr="aipowe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23560"/>
            <a:ext cx="1463040" cy="61215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144975" cy="6858000"/>
          </a:xfrm>
          <a:prstGeom prst="rect">
            <a:avLst/>
          </a:prstGeom>
          <a:solidFill>
            <a:srgbClr val="E7D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APPENDIX · Reference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9601200" cy="1463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 i="0">
                <a:solidFill>
                  <a:srgbClr val="2E2E40"/>
                </a:solidFill>
                <a:latin typeface="Georgia"/>
              </a:rPr>
              <a:t>APPENDIX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4297680"/>
            <a:ext cx="219456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4526280"/>
            <a:ext cx="877824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65564"/>
                </a:solidFill>
                <a:latin typeface="Calibri"/>
              </a:rPr>
              <a:t>CDP market data with sources, integration security, and references.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1/10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The CDP market —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20240"/>
            <a:ext cx="1097280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E2E40"/>
                </a:solidFill>
                <a:latin typeface="Calibri"/>
              </a:rPr>
              <a:t>CDP is among the fastest-growing categories of marketing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004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200400"/>
            <a:ext cx="64008" cy="22860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336499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822191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Fastest-growing martech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133087"/>
            <a:ext cx="3118103" cy="12435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Demand for unified customer data is rising across industries.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32004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3200400"/>
            <a:ext cx="64008" cy="22860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71416" y="336499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822191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Key driver: fragmented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4133087"/>
            <a:ext cx="3118103" cy="12435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Most companies lack complete customer profiles — the exact problem at OCH.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7" y="320040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3567" y="3200400"/>
            <a:ext cx="64008" cy="22860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336499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822191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AI accelerates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133087"/>
            <a:ext cx="3118103" cy="12435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AI personalization requires unified, clean, real-time data foundations.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Compiled from Grand View Research, MarketsandMarkets, CDP Institute, Twilio Segment (2024–2025).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2/10 · MULTIPLE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CDP market size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3657600" cy="5029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874519"/>
            <a:ext cx="347472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Research firm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1874519"/>
            <a:ext cx="2834640" cy="5029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5968" y="1874519"/>
            <a:ext cx="265176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Current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59168" y="1874519"/>
            <a:ext cx="3017520" cy="5029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50608" y="1874519"/>
            <a:ext cx="2834639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Forecast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76688" y="1874519"/>
            <a:ext cx="1554480" cy="502920"/>
          </a:xfrm>
          <a:prstGeom prst="rect">
            <a:avLst/>
          </a:prstGeom>
          <a:solidFill>
            <a:srgbClr val="2E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68128" y="1874519"/>
            <a:ext cx="1371600" cy="5029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377439"/>
            <a:ext cx="3657600" cy="749808"/>
          </a:xfrm>
          <a:prstGeom prst="rect">
            <a:avLst/>
          </a:prstGeom>
          <a:solidFill>
            <a:srgbClr val="E7DDC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" y="2377439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Grand View Research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2377439"/>
            <a:ext cx="283464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34256" y="2377439"/>
            <a:ext cx="261518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8.26B (2025)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377439"/>
            <a:ext cx="301752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68896" y="2377439"/>
            <a:ext cx="2798063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58.41B (2033)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76688" y="2377439"/>
            <a:ext cx="155448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86415" y="2377439"/>
            <a:ext cx="133502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27.8%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127247"/>
            <a:ext cx="3657600" cy="749808"/>
          </a:xfrm>
          <a:prstGeom prst="rect">
            <a:avLst/>
          </a:prstGeom>
          <a:solidFill>
            <a:srgbClr val="E7DDC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127247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MarketsandMarkets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24528" y="3127247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34256" y="3127247"/>
            <a:ext cx="261518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9.72B (2025)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9168" y="3127247"/>
            <a:ext cx="3017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68896" y="3127247"/>
            <a:ext cx="2798063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37.11B (2030)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76688" y="3127247"/>
            <a:ext cx="1554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186415" y="3127247"/>
            <a:ext cx="133502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30.7%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877055"/>
            <a:ext cx="3657600" cy="749808"/>
          </a:xfrm>
          <a:prstGeom prst="rect">
            <a:avLst/>
          </a:prstGeom>
          <a:solidFill>
            <a:srgbClr val="E7DDC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3877055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Fortune Business Insights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24528" y="3877055"/>
            <a:ext cx="283464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34256" y="3877055"/>
            <a:ext cx="261518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3.28B (2025)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9168" y="3877055"/>
            <a:ext cx="301752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68896" y="3877055"/>
            <a:ext cx="2798063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17.03B (2034)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76688" y="3877055"/>
            <a:ext cx="155448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186415" y="3877055"/>
            <a:ext cx="133502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19.6%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626864"/>
            <a:ext cx="3657600" cy="749808"/>
          </a:xfrm>
          <a:prstGeom prst="rect">
            <a:avLst/>
          </a:prstGeom>
          <a:solidFill>
            <a:srgbClr val="E7DDC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6656" y="4626864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Data Bridge Market Research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24528" y="4626864"/>
            <a:ext cx="2834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34256" y="4626864"/>
            <a:ext cx="261518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8.34B (2024)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9168" y="4626864"/>
            <a:ext cx="3017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68896" y="4626864"/>
            <a:ext cx="2798063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85.18B (2032)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76688" y="4626864"/>
            <a:ext cx="1554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86415" y="4626864"/>
            <a:ext cx="133502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33.7%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376671"/>
            <a:ext cx="3657600" cy="749808"/>
          </a:xfrm>
          <a:prstGeom prst="rect">
            <a:avLst/>
          </a:prstGeom>
          <a:solidFill>
            <a:srgbClr val="E7DDC8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6656" y="5376671"/>
            <a:ext cx="343814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CDP Institute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5376671"/>
            <a:ext cx="283464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34256" y="5376671"/>
            <a:ext cx="261518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2.4B (2024)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9168" y="5376671"/>
            <a:ext cx="301752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68896" y="5376671"/>
            <a:ext cx="2798063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B2E"/>
                </a:solidFill>
                <a:latin typeface="Calibri"/>
              </a:rPr>
              <a:t>USD 28.2B (2028)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76688" y="5376671"/>
            <a:ext cx="1554480" cy="749808"/>
          </a:xfrm>
          <a:prstGeom prst="rect">
            <a:avLst/>
          </a:prstGeom>
          <a:solidFill>
            <a:srgbClr val="F7F6F2"/>
          </a:solidFill>
          <a:ln w="635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86415" y="5376671"/>
            <a:ext cx="133502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39.9%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2E2E40"/>
                </a:solidFill>
                <a:latin typeface="Calibri"/>
              </a:rPr>
              <a:t>Figures differ by methodology and definitions — but every source projects double-digit growth.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grandviewresearch.com · marketsandmarkets.com (Report 94223554) · fortunebusinessinsights.com · databridgemarketresearch.com · cdpinstitute.org (2024–2025).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3/10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Growth rates (CAGR)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37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783080"/>
            <a:ext cx="10241280" cy="373075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a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786" y="1828800"/>
            <a:ext cx="8099947" cy="3639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5550408"/>
            <a:ext cx="102412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Forecast CAGR by research firm — all in double digits (19.6%–39.9%).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E2E40"/>
                </a:solidFill>
                <a:latin typeface="Calibri"/>
              </a:rPr>
              <a:t>Takeaway: </a:t>
            </a:r>
            <a:r>
              <a:rPr sz="1150" b="0" i="0">
                <a:solidFill>
                  <a:srgbClr val="1B1B2E"/>
                </a:solidFill>
                <a:latin typeface="Calibri"/>
              </a:rPr>
              <a:t>every source projects double-digit growth.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Grand View Research; MarketsandMarkets; Fortune Business Insights; Data Bridge Market Research; CDP Institute (2024–2025).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4/10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Market size — current vs forecast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783080"/>
            <a:ext cx="10241280" cy="3730752"/>
          </a:xfrm>
          <a:prstGeom prst="rect">
            <a:avLst/>
          </a:prstGeom>
          <a:solidFill>
            <a:srgbClr val="FFFFFF"/>
          </a:solidFill>
          <a:ln w="15875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arket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19" y="1828800"/>
            <a:ext cx="8427880" cy="36393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5550408"/>
            <a:ext cx="102412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565564"/>
                </a:solidFill>
                <a:latin typeface="Calibri"/>
              </a:rPr>
              <a:t>CDP market size (USD billions): current (2024–25) vs forecast, by source.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grandviewresearch.com · marketsandmarkets.com · fortunebusinessinsights.com · databridgemarketresearch.com · cdpinstitute.org.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5/10 · GARTNER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CDP adoption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39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347472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240280"/>
            <a:ext cx="347472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C39851"/>
                </a:solidFill>
                <a:latin typeface="Georgia"/>
              </a:rPr>
              <a:t>41%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200400"/>
            <a:ext cx="30175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of enterprises have already deployed a CDP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01168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0248" y="2011680"/>
            <a:ext cx="347472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2240280"/>
            <a:ext cx="347472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C39851"/>
                </a:solidFill>
                <a:latin typeface="Georgia"/>
              </a:rPr>
              <a:t>36%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200400"/>
            <a:ext cx="30175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are evaluating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7" y="201168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73567" y="2011680"/>
            <a:ext cx="347472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7" y="2240280"/>
            <a:ext cx="347472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C39851"/>
                </a:solidFill>
                <a:latin typeface="Georgia"/>
              </a:rPr>
              <a:t>22%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3200400"/>
            <a:ext cx="301752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of marketers report high CDP utilization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389120"/>
            <a:ext cx="11064240" cy="1280160"/>
          </a:xfrm>
          <a:prstGeom prst="rect">
            <a:avLst/>
          </a:prstGeom>
          <a:solidFill>
            <a:srgbClr val="E7DDC8"/>
          </a:solidFill>
          <a:ln w="1270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10607040" cy="12801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The deploy-but-underuse gap: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B1B2E"/>
                </a:solidFill>
                <a:latin typeface="Calibri"/>
              </a:rPr>
              <a:t>many companies own a CDP but underuse it. The advantage goes to those who turn data into ACTION — the exact design focus of AICDP for OCH.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Gartner — CDP adoption survey, 2024.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6/10 · STATISTA / CDP INSTITUTE, JUNE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The CDP vendor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1097280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2E40"/>
                </a:solidFill>
                <a:latin typeface="Calibri"/>
              </a:rPr>
              <a:t>194 CDP vendors worldwide</a:t>
            </a:r>
            <a:r>
              <a:rPr sz="1300" b="0" i="0">
                <a:solidFill>
                  <a:srgbClr val="565564"/>
                </a:solidFill>
                <a:latin typeface="Calibri"/>
              </a:rPr>
              <a:t>  (+5% vs December 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14600"/>
            <a:ext cx="5394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39851"/>
                </a:solidFill>
                <a:latin typeface="Calibri"/>
              </a:rPr>
              <a:t>BY COUNTRY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92608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2926080"/>
            <a:ext cx="82296" cy="64008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United States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26080"/>
            <a:ext cx="18288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89 vendor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70332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82296" cy="64008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United Kingdom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03320"/>
            <a:ext cx="18288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14 vendor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48056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" y="4480560"/>
            <a:ext cx="82296" cy="64008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80560"/>
            <a:ext cx="18288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13 vendor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14600"/>
            <a:ext cx="530352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39851"/>
                </a:solidFill>
                <a:latin typeface="Calibri"/>
              </a:rPr>
              <a:t>BY FUNCTION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92608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2926080"/>
            <a:ext cx="82296" cy="64008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2926080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Campaign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926080"/>
            <a:ext cx="18288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34%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70332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3703320"/>
            <a:ext cx="82296" cy="64008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3703320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703320"/>
            <a:ext cx="18288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33%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480560"/>
            <a:ext cx="5303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4480560"/>
            <a:ext cx="82296" cy="64008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4480560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480560"/>
            <a:ext cx="18288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39851"/>
                </a:solidFill>
                <a:latin typeface="Calibri"/>
              </a:rPr>
              <a:t>18%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Statista / CDP Institute — Industry Update, June 2024.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7/10 · TWILIO SEGMENT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Pain point #1 — fragmented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41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5257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011680"/>
            <a:ext cx="525780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286000"/>
            <a:ext cx="525780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C39851"/>
                </a:solidFill>
                <a:latin typeface="Georgia"/>
              </a:rPr>
              <a:t>16%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20440"/>
            <a:ext cx="4526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65564"/>
                </a:solidFill>
                <a:latin typeface="Calibri"/>
              </a:rPr>
              <a:t>of brands “strongly agree” they have enough data to understand 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8" y="2011680"/>
            <a:ext cx="5257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9048" y="2011680"/>
            <a:ext cx="525780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9048" y="2286000"/>
            <a:ext cx="525780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C39851"/>
                </a:solidFill>
                <a:latin typeface="Georgia"/>
              </a:rPr>
              <a:t>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520440"/>
            <a:ext cx="452628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65564"/>
                </a:solidFill>
                <a:latin typeface="Calibri"/>
              </a:rPr>
              <a:t>“strongly agree” they have complete customer profiles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709160"/>
            <a:ext cx="11064240" cy="9144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More than 80% of brands lack a complete customer data foundation — the single biggest barrier, and the reason CDPs exist.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Twilio Segment — The State of Personalization 2024 (segment.com/state-of-personalization-report).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8/10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The value of personalization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42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011680"/>
            <a:ext cx="53492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2377440"/>
            <a:ext cx="534924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C39851"/>
                </a:solidFill>
                <a:latin typeface="Georgia"/>
              </a:rPr>
              <a:t>+54%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466344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more spent on average when personalization is AI-driven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534924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C39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5349240" cy="11887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2E2E40"/>
                </a:solidFill>
                <a:latin typeface="Georgia"/>
              </a:rPr>
              <a:t>72%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94760"/>
            <a:ext cx="4663440" cy="12801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E2E40"/>
                </a:solidFill>
                <a:latin typeface="Calibri"/>
              </a:rPr>
              <a:t>of consumers EXPECT personalized experiences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Twilio Segment — State of Personalization 2024 (+54%); McKinsey &amp; Company (72%, cited via Twilio’s report).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9/10 · TWILIO SEGMENT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Trends — AI and predictive personalization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10312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347472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468880"/>
            <a:ext cx="347472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C39851"/>
                </a:solidFill>
                <a:latin typeface="Georgia"/>
              </a:rPr>
              <a:t>7/10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794760"/>
            <a:ext cx="292608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65564"/>
                </a:solidFill>
                <a:latin typeface="Calibri"/>
              </a:rPr>
              <a:t>businesses already use AI for personalization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10312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0248" y="2103120"/>
            <a:ext cx="347472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2468880"/>
            <a:ext cx="347472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C39851"/>
                </a:solidFill>
                <a:latin typeface="Georgia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794760"/>
            <a:ext cx="292608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65564"/>
                </a:solidFill>
                <a:latin typeface="Calibri"/>
              </a:rPr>
              <a:t>expect to move from reactive to PREDICTIVE personalization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7" y="210312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973567" y="2103120"/>
            <a:ext cx="3474720" cy="54864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73567" y="2468880"/>
            <a:ext cx="347472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C39851"/>
                </a:solidFill>
                <a:latin typeface="Georgia"/>
              </a:rPr>
              <a:t>89%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794760"/>
            <a:ext cx="292608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65564"/>
                </a:solidFill>
                <a:latin typeface="Calibri"/>
              </a:rPr>
              <a:t>believe ethical AI use is a competitive advantage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Twilio Segment — The State of Personalization 2024 (twilio.com · segment.com).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MARKET APPENDIX · 10/10 ·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Implications for OCH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65960"/>
            <a:ext cx="10972800" cy="9144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2E40"/>
                </a:solidFill>
                <a:latin typeface="Calibri"/>
              </a:rPr>
              <a:t>A fast-growing market; fragmented data is barrier #1 — OCH already has a working platform.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10896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3108960"/>
            <a:ext cx="64008" cy="22860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327355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73075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A growing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041648"/>
            <a:ext cx="3118103" cy="12435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Early deployment compounds the data advantage.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310896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70248" y="3108960"/>
            <a:ext cx="64008" cy="22860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71416" y="327355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73075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The barrier is fragmented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4041648"/>
            <a:ext cx="3118103" cy="12435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Exactly the problem at OCH — a CDP addresses it at the root.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7" y="3108960"/>
            <a:ext cx="3474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3567" y="3108960"/>
            <a:ext cx="64008" cy="228600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327355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73075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2E40"/>
                </a:solidFill>
                <a:latin typeface="Calibri"/>
              </a:rPr>
              <a:t>OCH with AICDP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4041648"/>
            <a:ext cx="3118103" cy="124358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65564"/>
                </a:solidFill>
                <a:latin typeface="Calibri"/>
              </a:rPr>
              <a:t>Self-hosted in Vietnam, tailored for F&amp;B + hotels, action-oriented AI.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E2E40"/>
                </a:solidFill>
                <a:latin typeface="Calibri"/>
              </a:rPr>
              <a:t>Sources: </a:t>
            </a:r>
            <a:r>
              <a:rPr sz="1050" b="0" i="1">
                <a:solidFill>
                  <a:srgbClr val="565564"/>
                </a:solidFill>
                <a:latin typeface="Calibri"/>
              </a:rPr>
              <a:t>Compiled from the sources above (2024–2025).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TECHNICAL APPENDIX · PROTOCOLS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Integration standards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45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74519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874519"/>
            <a:ext cx="64008" cy="192024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03911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9631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REST/HTTP API +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07208"/>
            <a:ext cx="3118103" cy="8778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65564"/>
                </a:solidFill>
                <a:latin typeface="Calibri"/>
              </a:rPr>
              <a:t>Standard connectivity for web, app and server — easy to integrate any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74519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70248" y="1874519"/>
            <a:ext cx="64008" cy="192024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203911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49631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Webhook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807208"/>
            <a:ext cx="3118103" cy="8778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65564"/>
                </a:solidFill>
                <a:latin typeface="Calibri"/>
              </a:rPr>
              <a:t>Sources call the system when events occur — real-time, low latency.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3567" y="1874519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7" y="1874519"/>
            <a:ext cx="64008" cy="192024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74736" y="203911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249631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Role-scoped API keys (RBAC)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807208"/>
            <a:ext cx="3118103" cy="8778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65564"/>
                </a:solidFill>
                <a:latin typeface="Calibri"/>
              </a:rPr>
              <a:t>Each connection has its own key with role-based permissions.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023360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4023360"/>
            <a:ext cx="64008" cy="192024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418795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64515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Consent gate (deny-by-default)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956048"/>
            <a:ext cx="3118103" cy="8778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65564"/>
                </a:solidFill>
                <a:latin typeface="Calibri"/>
              </a:rPr>
              <a:t>At activation: no consent, no send — safe by default.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4023360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70248" y="4023360"/>
            <a:ext cx="64008" cy="192024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71416" y="418795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416" y="464515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Idempotent ingestion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1416" y="4956048"/>
            <a:ext cx="3118103" cy="8778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65564"/>
                </a:solidFill>
                <a:latin typeface="Calibri"/>
              </a:rPr>
              <a:t>Unique transaction keys — resends are recorded once.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73567" y="4023360"/>
            <a:ext cx="3474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73567" y="4023360"/>
            <a:ext cx="64008" cy="1920240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4187952"/>
            <a:ext cx="3273551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 i="0">
                <a:solidFill>
                  <a:srgbClr val="C39851"/>
                </a:solidFill>
                <a:latin typeface="Calibri"/>
              </a:rPr>
              <a:t>🇻🇳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645152"/>
            <a:ext cx="3163824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E2E40"/>
                </a:solidFill>
                <a:latin typeface="Calibri"/>
              </a:rPr>
              <a:t>Data residency in Vietnam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74736" y="4956048"/>
            <a:ext cx="3118103" cy="87782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565564"/>
                </a:solidFill>
                <a:latin typeface="Calibri"/>
              </a:rPr>
              <a:t>Data stored and processed in-country — sovereignty and legal compliance.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109728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39851"/>
                </a:solidFill>
                <a:latin typeface="Calibri"/>
              </a:rPr>
              <a:t>FULL CITATIONS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109960" cy="10972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2E40"/>
                </a:solidFill>
                <a:latin typeface="Georgia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1700784"/>
            <a:ext cx="1188720" cy="50292"/>
          </a:xfrm>
          <a:prstGeom prst="rect">
            <a:avLst/>
          </a:prstGeom>
          <a:solidFill>
            <a:srgbClr val="C39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6868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OCH · Customer Data Platform</a:t>
            </a:r>
            <a:r>
              <a:rPr sz="900" b="0" i="0">
                <a:solidFill>
                  <a:srgbClr val="565564"/>
                </a:solidFill>
                <a:latin typeface="Calibri"/>
              </a:rPr>
              <a:t>  —  Developed by AIPOWER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65564"/>
                </a:solidFill>
                <a:latin typeface="Calibri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65960"/>
            <a:ext cx="11064240" cy="4206240"/>
          </a:xfrm>
          <a:prstGeom prst="rect">
            <a:avLst/>
          </a:prstGeom>
          <a:noFill/>
        </p:spPr>
        <p:txBody>
          <a:bodyPr wrap="square" lIns="25400" t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Grand View Research — Customer Data Platform Market: grandviewresearch.com/industry-analysis/customer-data-platform-market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MarketsandMarkets — Customer Data Platform Market (Report 94223554): marketsandmarkets.com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Fortune Business Insights — Customer Data Platform Market: fortunebusinessinsights.com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Data Bridge Market Research — Customer Data Platform Market: databridgemarketresearch.com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CDP Institute — Industry Update / Member Report 2024: cdpinstitute.org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Statista — Customer Data Platform vendors: statista.com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Gartner — CDP adoption survey 2024: gartner.com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Twilio Segment — The State of Personalization 2024: segment.com/state-of-personalization-report · twilio.com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C39851"/>
                </a:solidFill>
                <a:latin typeface="Calibri"/>
              </a:rPr>
              <a:t>•  </a:t>
            </a:r>
            <a:r>
              <a:rPr sz="1350">
                <a:solidFill>
                  <a:srgbClr val="1B1B2E"/>
                </a:solidFill>
                <a:latin typeface="Calibri"/>
              </a:rPr>
              <a:t>McKinsey &amp; Company — Next in Personalization (72%, cited via Twilio’s report).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035040"/>
            <a:ext cx="10972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65564"/>
                </a:solidFill>
                <a:latin typeface="Calibri"/>
              </a:rPr>
              <a:t>Note: market figures are taken directly from the research firms; competitor entries in the comparison are qualitative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4424</Words>
  <Application>Microsoft Office PowerPoint</Application>
  <PresentationFormat>Widescreen</PresentationFormat>
  <Paragraphs>664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Than Minh Trung</cp:lastModifiedBy>
  <cp:revision>2</cp:revision>
  <dcterms:created xsi:type="dcterms:W3CDTF">2013-01-27T09:14:16Z</dcterms:created>
  <dcterms:modified xsi:type="dcterms:W3CDTF">2026-07-09T16:26:32Z</dcterms:modified>
  <cp:category/>
</cp:coreProperties>
</file>