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22020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211058"/>
            <a:ext cx="12191695" cy="26469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Segoe UI"/>
              </a:rPr>
              <a:t>OCC-CDP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156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Nền tảng Dữ liệu Khách hàng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2000" b="0">
                <a:solidFill>
                  <a:srgbClr val="E6F0FF"/>
                </a:solidFill>
                <a:latin typeface="Segoe UI"/>
              </a:rPr>
              <a:t>Customer Data Platform · enterprise self-host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4024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Hợp nhất khách hàng xuyên 5 thương hiệu F&amp;B của tập đoàn OCC — OCC ID, loyalty hợp nhất,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475569"/>
                </a:solidFill>
                <a:latin typeface="Segoe UI"/>
              </a:rPr>
              <a:t>dashboard realtime, AI cross-selling. Audit-grade, hướng IPO.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63752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2563EB"/>
                </a:solidFill>
                <a:latin typeface="Segoe UI"/>
              </a:rPr>
              <a:t>Givral   ·   Kem Tràng Tiền   ·   Hải Hà Kotobuki   ·   Fuji Foods   ·   Origato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465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Tài liệu giới thiệu hệ thống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76072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BỐI CẢNH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0F172A"/>
                </a:solidFill>
                <a:latin typeface="Segoe UI"/>
              </a:rPr>
              <a:t>Vấn đề &amp; Mục tiêu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52120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3874" y="1993392"/>
            <a:ext cx="82296" cy="168249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01168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Vấn đề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432304"/>
            <a:ext cx="47091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Dữ liệu khách rời rạc theo từng thương hiệu.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Không có danh tính chung xuyên brand → mất cross-sell.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Loyalty tách biệt, khó đối soát đúng tiền · đúng danh tính.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Thiếu nền dữ liệu chuẩn để ứng dụng AI tạo giá trị.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28800"/>
            <a:ext cx="521208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3114" y="1993392"/>
            <a:ext cx="82296" cy="168249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201168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Mục tiêu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432304"/>
            <a:ext cx="4709160" cy="1325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1 triệu khách định danh cuối 2026, 3–5 triệu dài hạn.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Một OCC ID duy nhất mỗi khách, xuyên 5 thương hiệu.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Loyalty &amp; consent hợp nhất, chuẩn kiểm toán.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Self-host 100%, sẵn sàng IPO.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Nguyên tắc xuyên suốt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718303"/>
            <a:ext cx="137160" cy="137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46634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Đúng tiền · đúng danh tính tại POS  </a:t>
            </a:r>
            <a:r>
              <a:rPr sz="1200" b="0">
                <a:solidFill>
                  <a:srgbClr val="475569"/>
                </a:solidFill>
                <a:latin typeface="Segoe UI"/>
              </a:rPr>
              <a:t>correctness bắt buộc, không đánh đổi.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5221223"/>
            <a:ext cx="137160" cy="137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166359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Consent-aware everywhere  </a:t>
            </a:r>
            <a:r>
              <a:rPr sz="1200" b="0">
                <a:solidFill>
                  <a:srgbClr val="475569"/>
                </a:solidFill>
                <a:latin typeface="Segoe UI"/>
              </a:rPr>
              <a:t>deny-by-default, chỉ activation gate.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724143"/>
            <a:ext cx="137160" cy="137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669279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Audit-grade immutable  </a:t>
            </a:r>
            <a:r>
              <a:rPr sz="1200" b="0">
                <a:solidFill>
                  <a:srgbClr val="475569"/>
                </a:solidFill>
                <a:latin typeface="Segoe UI"/>
              </a:rPr>
              <a:t>thay đổi nhạy cảm bất biến, truy vết được.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93408"/>
            <a:ext cx="11148085908000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Nền tảng Dữ liệu Khách hàng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76072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SẢN PHẨM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0F172A"/>
                </a:solidFill>
                <a:latin typeface="Segoe UI"/>
              </a:rPr>
              <a:t>OCC-CDP là gì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>
                <a:solidFill>
                  <a:srgbClr val="475569"/>
                </a:solidFill>
                <a:latin typeface="Segoe UI"/>
              </a:rPr>
              <a:t>Biến dữ liệu rời rạc thành một hồ sơ khách duy nhất, rồi kích hoạt giá trị qua loyalty, marketing và AI.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2514600"/>
            <a:ext cx="3419856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3874" y="2679192"/>
            <a:ext cx="82296" cy="12435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697480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Hợp nhất danh tính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118104"/>
            <a:ext cx="291693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OCC ID xuyên thương hiệu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Deterministic + probabilistic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Merge non-destructive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2514600"/>
            <a:ext cx="3419856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7466" y="2679192"/>
            <a:ext cx="82296" cy="1243584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697480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Loyalty hợp nhất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3118104"/>
            <a:ext cx="291693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Sổ điểm double-entry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Reserve → capture / release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Balance = projection, cấm âm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2514600"/>
            <a:ext cx="3419856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1058" y="2679192"/>
            <a:ext cx="82296" cy="124358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697480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Consent &amp; Governance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118104"/>
            <a:ext cx="291693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Deny-by-default chokepoint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Append-only audit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PDPD VN, hướng IPO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4270248"/>
            <a:ext cx="3419856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3874" y="4434840"/>
            <a:ext cx="82296" cy="1243584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15568" y="4453128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Dashboard realtime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" y="4873752"/>
            <a:ext cx="291693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Control Tower 5 brand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Cohort / RFM / synergy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Quy mô tới 5 triệu KH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16552" y="4270248"/>
            <a:ext cx="3419856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17466" y="4434840"/>
            <a:ext cx="82296" cy="124358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4453128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Activation đa kênh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4873752"/>
            <a:ext cx="291693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Consent-gated destinations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Email / SMS / Zalo ZNS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Audience + journey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10144" y="4270248"/>
            <a:ext cx="3419856" cy="157276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11058" y="4434840"/>
            <a:ext cx="82296" cy="124358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4453128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AI cross-selling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02752" y="4873752"/>
            <a:ext cx="2916936" cy="8869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Phân tích hành vi 360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Dự đoán sản phẩm sẽ mua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Forecast · decisioning · copilot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693408"/>
            <a:ext cx="11148085908000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Nền tảng Dữ liệu Khách hàng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42416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76072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KIẾN TRÚC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0F172A"/>
                </a:solidFill>
                <a:latin typeface="Segoe UI"/>
              </a:rPr>
              <a:t>Kiến trúc nền tảng</a:t>
            </a:r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40"/>
            <a:ext cx="7863840" cy="431677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732520" y="1737360"/>
            <a:ext cx="2743200" cy="4297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0" y="1920240"/>
            <a:ext cx="2377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Điểm cốt lõi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377440"/>
            <a:ext cx="233172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• Modular monolith GĐ1: gom identity + loyalty + consent + ingestion trong 1 transaction ACID.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• Dual-flow: luồng operational realtime (POS) + warehouse micro-batch (đối soát/replay).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• PostgreSQL 18 = system of record; ClickHouse = OLAP + offline feature store.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• Materialized resolved_identifier → không traverse graph runtime.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7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• Circuit breaker: CH lỗi → fallback PG.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93408"/>
            <a:ext cx="11148085908000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Nền tảng Dữ liệu Khách hàng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2416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76072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CÔNG NGHỆ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0F172A"/>
                </a:solidFill>
                <a:latin typeface="Segoe UI"/>
              </a:rPr>
              <a:t>Kiến trúc &amp; công nghệ sử dụng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419856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3874" y="1829714"/>
            <a:ext cx="3419856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048256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Backend (core-api)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" y="2487168"/>
            <a:ext cx="2962656" cy="13533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— NestJS 10 + TypeScript strict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— Node.js · pg (PostgreSQL driver)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— zod (validation) · reflect-metadata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— 1 transaction boundary ACID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828800"/>
            <a:ext cx="3419856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7466" y="1829714"/>
            <a:ext cx="3419856" cy="914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4" y="2048256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Frontend (admin-console)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72584" y="2487168"/>
            <a:ext cx="2962656" cy="13533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— React 18 + Vite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— Tailwind CSS v4 (OKLCH tokens)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— TanStack Query · React Router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— UX State Contract · WCAG AA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828800"/>
            <a:ext cx="3419856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1058" y="1829714"/>
            <a:ext cx="3419856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5" y="2048256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Dữ liệu &amp; lưu trữ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487168"/>
            <a:ext cx="2962656" cy="13533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— PostgreSQL 18 — System of Record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— ClickHouse — OLAP + feature store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— Redis — cache + online store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— MinIO — object storage (S3)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096512"/>
            <a:ext cx="3419856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3874" y="4097426"/>
            <a:ext cx="3419856" cy="9144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78992" y="4315968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Ingestion &amp; tích hợp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" y="4754880"/>
            <a:ext cx="2962656" cy="13533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— RudderStack OSS (AGPL)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— ingestion · routing · reverse-ETL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— Connector SDK + conformance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— Tracking-plan-as-code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4096512"/>
            <a:ext cx="3419856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17466" y="4097426"/>
            <a:ext cx="3419856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72584" y="4315968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AI / LLM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72584" y="4754880"/>
            <a:ext cx="2962656" cy="13533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— Anthropic Claude (mặc định)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— + OpenAI + Gemini (gateway)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— ai-service Python/FastAPI (Phase C)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— fast-check · Stryker (test)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4096512"/>
            <a:ext cx="3419856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11058" y="4097426"/>
            <a:ext cx="3419856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66175" y="4315968"/>
            <a:ext cx="296265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Kiểm thử &amp; Hạ tầng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5" y="4754880"/>
            <a:ext cx="2962656" cy="135331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— Vitest · Playwright · supertest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— Property-based + mutation testing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— Docker · Kubernetes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— Self-host 100%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93408"/>
            <a:ext cx="11148085908000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Nền tảng Dữ liệu Khách hàng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76072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NĂNG LỰC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0F172A"/>
                </a:solidFill>
                <a:latin typeface="Segoe UI"/>
              </a:rPr>
              <a:t>11 bounded context (nghiệp vụ lõi)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341985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24128" y="2130552"/>
            <a:ext cx="146304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1984248"/>
            <a:ext cx="2871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13432"/>
            <a:ext cx="2871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OCC ID, resolve race-free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828800"/>
            <a:ext cx="341985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17720" y="2130552"/>
            <a:ext cx="146304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73752" y="1984248"/>
            <a:ext cx="2871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Master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2313432"/>
            <a:ext cx="2871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brand / store / SKU crosswalk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828800"/>
            <a:ext cx="341985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11312" y="2130552"/>
            <a:ext cx="146304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7344" y="1984248"/>
            <a:ext cx="2871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Ingestion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7344" y="2313432"/>
            <a:ext cx="2871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idempotent theo pos_txn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2907791"/>
            <a:ext cx="341985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24128" y="3209544"/>
            <a:ext cx="146304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80160" y="3063239"/>
            <a:ext cx="2871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Loyalty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392424"/>
            <a:ext cx="2871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double-entry, state machine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16552" y="2907791"/>
            <a:ext cx="341985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617720" y="3209544"/>
            <a:ext cx="146304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73752" y="3063239"/>
            <a:ext cx="2871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Consent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73752" y="3392424"/>
            <a:ext cx="2871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deny-by-default, append-only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10144" y="2907791"/>
            <a:ext cx="341985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211312" y="3209544"/>
            <a:ext cx="146304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67344" y="3063239"/>
            <a:ext cx="2871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Activation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7344" y="3392424"/>
            <a:ext cx="2871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chokepoint consent duy nhất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3986783"/>
            <a:ext cx="341985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24128" y="4288536"/>
            <a:ext cx="146304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280160" y="4142231"/>
            <a:ext cx="2871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Segment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4471416"/>
            <a:ext cx="2871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tiêu chí hành vi + AI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416552" y="3986783"/>
            <a:ext cx="341985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617720" y="4288536"/>
            <a:ext cx="146304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73752" y="4142231"/>
            <a:ext cx="2871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Analytics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73752" y="4471416"/>
            <a:ext cx="2871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KPI realtime, fallback PG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10144" y="3986783"/>
            <a:ext cx="341985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11312" y="4288536"/>
            <a:ext cx="146304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67344" y="4142231"/>
            <a:ext cx="2871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AI cross-sell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67344" y="4471416"/>
            <a:ext cx="2871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recommendation + generative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5065776"/>
            <a:ext cx="341985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24128" y="5367528"/>
            <a:ext cx="146304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280160" y="5221224"/>
            <a:ext cx="2871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Journey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5550408"/>
            <a:ext cx="2871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orchestration segment → action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416552" y="5065776"/>
            <a:ext cx="3419856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17720" y="5367528"/>
            <a:ext cx="146304" cy="1463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873752" y="5221224"/>
            <a:ext cx="2871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Auth / Platform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873752" y="5550408"/>
            <a:ext cx="2871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475569"/>
                </a:solidFill>
                <a:latin typeface="Segoe UI"/>
              </a:rPr>
              <a:t>JWT · RBAC · user &amp; API key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" y="605332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Pipeline khép kín: ingest → identity → loyalty / profile → segment → activation (gate consent) → analytics.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693408"/>
            <a:ext cx="11148085908000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296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Nền tảng Dữ liệu Khách hàng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2416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76072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GIAO DIỆN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0F172A"/>
                </a:solidFill>
                <a:latin typeface="Segoe UI"/>
              </a:rPr>
              <a:t>Control Tower — dashboard realtime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1083564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1901952"/>
            <a:ext cx="10469880" cy="579428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1447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>
                <a:solidFill>
                  <a:srgbClr val="94A3B8"/>
                </a:solidFill>
                <a:latin typeface="Segoe UI"/>
              </a:rPr>
              <a:t>9 workspace: Control Tower · Customers · Audiences · Journeys · Loyalty · Data Ops · Governance · Platform · AI &amp; Governance.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93408"/>
            <a:ext cx="11148085908000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Nền tảng Dữ liệu Khách hàng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2416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76072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CHẤT LƯỢNG LÕI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0F172A"/>
                </a:solidFill>
                <a:latin typeface="Segoe UI"/>
              </a:rPr>
              <a:t>Nguyên tắc correctness 10/10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341985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3874" y="2039112"/>
            <a:ext cx="82296" cy="291693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057400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Identity (OCC ID)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478024"/>
            <a:ext cx="2916936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UNIQUE(type, value_normalized)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pg_advisory_xact_lock chống đua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resolve_occ_id atomic, race-free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Merge qua version table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— KHÔNG destructive, reversible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resolved_identifier materialized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1874519"/>
            <a:ext cx="341985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17466" y="2039112"/>
            <a:ext cx="82296" cy="291693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057400"/>
            <a:ext cx="29169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Loyalty (double-entry)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478024"/>
            <a:ext cx="2916936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Σ delta mỗi bút toán = 0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balance = projection (không mutable)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reserve → capture / release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state machine một chiều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idempotency_key + advisory lock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cấm balance âm (trigger DB)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10144" y="1874519"/>
            <a:ext cx="3374136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11058" y="2039112"/>
            <a:ext cx="82296" cy="29169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2057400"/>
            <a:ext cx="28712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Consent (chokepoint)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02752" y="2478024"/>
            <a:ext cx="2871215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deny-by-default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append-only (chặn UPDATE/DELETE)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latest-wins theo (occ, purpose)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chỉ ACTIVATION gate consent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ingestion &amp; loyalty LUÔN nhận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audit-grade phục vụ IPO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5349240"/>
            <a:ext cx="10561320" cy="68580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5468112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0F172A"/>
                </a:solidFill>
                <a:latin typeface="Segoe UI"/>
              </a:rPr>
              <a:t>Error envelope chống nuốt data:  </a:t>
            </a:r>
            <a:r>
              <a:rPr sz="1150" b="0">
                <a:solidFill>
                  <a:srgbClr val="475569"/>
                </a:solidFill>
                <a:latin typeface="Segoe UI"/>
              </a:rPr>
              <a:t>{code, message, why, fix, field_path, correlation_id, retryable}  — không 500 trần.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93408"/>
            <a:ext cx="11148085908000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Nền tảng Dữ liệu Khách hàng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76072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TRÍ TUỆ DỮ LIỆU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0F172A"/>
                </a:solidFill>
                <a:latin typeface="Segoe UI"/>
              </a:rPr>
              <a:t>Tầng AI — biến dữ liệu thành quyết định</a:t>
            </a:r>
          </a:p>
        </p:txBody>
      </p:sp>
      <p:pic>
        <p:nvPicPr>
          <p:cNvPr id="6" name="Picture 5" descr="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83080"/>
            <a:ext cx="10835640" cy="342665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2960" y="3977639"/>
            <a:ext cx="3419856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05840" y="4224527"/>
            <a:ext cx="118872" cy="1188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43584" y="4087368"/>
            <a:ext cx="2871216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Phân tích hành vi (RFM, lifecycle)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16552" y="3977639"/>
            <a:ext cx="3419856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99432" y="4224527"/>
            <a:ext cx="118872" cy="1188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37176" y="4087368"/>
            <a:ext cx="2871216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Dự đoán sản phẩm sẽ mua (NBP)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3977639"/>
            <a:ext cx="3419856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93023" y="4224527"/>
            <a:ext cx="118872" cy="1188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4087368"/>
            <a:ext cx="2871216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Dự báo doanh số / nhu cầu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727448"/>
            <a:ext cx="3419856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05840" y="4974336"/>
            <a:ext cx="118872" cy="1188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43584" y="4837176"/>
            <a:ext cx="2871216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Propensity-to-buy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16552" y="4727448"/>
            <a:ext cx="3419856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99432" y="4974336"/>
            <a:ext cx="118872" cy="1188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37176" y="4837176"/>
            <a:ext cx="2871216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Churn / dormancy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10144" y="4727448"/>
            <a:ext cx="3419856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93023" y="4974336"/>
            <a:ext cx="118872" cy="1188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30768" y="4837176"/>
            <a:ext cx="2871216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Predicted LTV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477256"/>
            <a:ext cx="3419856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05840" y="5724144"/>
            <a:ext cx="118872" cy="1188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3584" y="5586984"/>
            <a:ext cx="2871216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Next-Best-Action / Decisioning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16552" y="5477256"/>
            <a:ext cx="3419856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99432" y="5724144"/>
            <a:ext cx="118872" cy="1188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837176" y="5586984"/>
            <a:ext cx="2871216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Cross-brand synergy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10144" y="5477256"/>
            <a:ext cx="3419856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93023" y="5724144"/>
            <a:ext cx="118872" cy="11887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30768" y="5586984"/>
            <a:ext cx="2871216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Generative Copilot (NLQ, nội dung)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693408"/>
            <a:ext cx="11148085908000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Nền tảng Dữ liệu Khách hàng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42416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76072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TỪ CUSTOMER 360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0F172A"/>
                </a:solidFill>
                <a:latin typeface="Segoe UI"/>
              </a:rPr>
              <a:t>Phân tích hành vi &amp; dự đoán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83080"/>
            <a:ext cx="10835640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f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965960"/>
            <a:ext cx="10241280" cy="433635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22960" y="5120640"/>
            <a:ext cx="3419856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3874" y="5120640"/>
            <a:ext cx="82296" cy="8686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523036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Phân khúc vòng đời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" y="55595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New · Active · At-risk · VIP · Dormant · Churned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25696" y="5120640"/>
            <a:ext cx="3419856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26610" y="5120640"/>
            <a:ext cx="82296" cy="8686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523036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Dự đoán sản phẩm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55595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Next-Best-Product cross-brand + market-basket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1" y="5120640"/>
            <a:ext cx="3419856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29346" y="5120640"/>
            <a:ext cx="82296" cy="868680"/>
          </a:xfrm>
          <a:prstGeom prst="rect">
            <a:avLst/>
          </a:prstGeom>
          <a:solidFill>
            <a:srgbClr val="1BA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3" y="5230368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>
                <a:solidFill>
                  <a:srgbClr val="0F172A"/>
                </a:solidFill>
                <a:latin typeface="Segoe UI"/>
              </a:rPr>
              <a:t>Điểm số + diễn giải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3" y="5559552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>
                <a:solidFill>
                  <a:srgbClr val="475569"/>
                </a:solidFill>
                <a:latin typeface="Segoe UI"/>
              </a:rPr>
              <a:t>Propensity · churn · LTV, kèm lý do (explainable)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693408"/>
            <a:ext cx="11148085908000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Nền tảng Dữ liệu Khách hàng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2416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76072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0F172A"/>
                </a:solidFill>
                <a:latin typeface="Segoe UI"/>
              </a:rPr>
              <a:t>LLM multi-provider · quản trị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52120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3874" y="2039112"/>
            <a:ext cx="82296" cy="181965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05740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LLM Gateway (provider-agnostic)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478024"/>
            <a:ext cx="4709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Mặc định Anthropic Claude (mới nhất)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+ OpenAI + Gemini — chọn model per tác vụ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API key qua ENV (không lưu DB)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Guardrail PII: chỉ gửi dữ liệu phi-PII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Log token / cost mỗi lần gọi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21208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3114" y="2039112"/>
            <a:ext cx="82296" cy="181965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205740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4 tính năng Generative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478024"/>
            <a:ext cx="4709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Trợ lý hỏi dữ liệu tiếng Việt (NLQ)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Tạo segment từ mô tả tự nhiên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Sinh nội dung marketing theo brand voice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Diễn giải điểm số / insight thành lời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297680"/>
            <a:ext cx="10561320" cy="1554480"/>
          </a:xfrm>
          <a:prstGeom prst="roundRect">
            <a:avLst>
              <a:gd name="adj" fmla="val 6000"/>
            </a:avLst>
          </a:prstGeom>
          <a:solidFill>
            <a:srgbClr val="EEF4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4348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2563EB"/>
                </a:solidFill>
                <a:latin typeface="Segoe UI"/>
              </a:rPr>
              <a:t>Workspace “AI &amp; Governance” (chỉ Admin, RBAC-gated)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828032"/>
            <a:ext cx="101498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Cấu hình model &amp; tham số cho từng tác vụ (churn, forecast, recommendation…), bật/tắt tính năng, ngưỡng RFM /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475569"/>
                </a:solidFill>
                <a:latin typeface="Segoe UI"/>
              </a:rPr>
              <a:t>diversity / boost-bury; mọi thay đổi qua approval + version + audit bất biến; theo dõi token/cost realtime.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93408"/>
            <a:ext cx="11148085908000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Nền tảng Dữ liệu Khách hàng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42416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76072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ĐẢM BẢO CHẤT LƯỢNG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0F172A"/>
                </a:solidFill>
                <a:latin typeface="Segoe UI"/>
              </a:rPr>
              <a:t>Kiểm thử nhiều tầng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248716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3874" y="1921154"/>
            <a:ext cx="2487168" cy="914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139696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2563EB"/>
                </a:solidFill>
                <a:latin typeface="Segoe UI"/>
              </a:rPr>
              <a:t>78/78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61488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UAT toàn hệ thống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920240"/>
            <a:ext cx="248716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7346" y="1921154"/>
            <a:ext cx="2487168" cy="9144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2139696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16A34A"/>
                </a:solidFill>
                <a:latin typeface="Segoe UI"/>
              </a:rPr>
              <a:t>33/33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2761488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Expert test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4" y="1920240"/>
            <a:ext cx="2487168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0818" y="1921154"/>
            <a:ext cx="2487168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9904" y="2139696"/>
            <a:ext cx="248716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7C3AED"/>
                </a:solidFill>
                <a:latin typeface="Segoe UI"/>
              </a:rPr>
              <a:t>5/5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9904" y="2761488"/>
            <a:ext cx="248716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Mutation KILLED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23376" y="1920240"/>
            <a:ext cx="2660904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724290" y="1921154"/>
            <a:ext cx="2660904" cy="91440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23376" y="2139696"/>
            <a:ext cx="266090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06B6D4"/>
                </a:solidFill>
                <a:latin typeface="Segoe UI"/>
              </a:rPr>
              <a:t>238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23376" y="2761488"/>
            <a:ext cx="26609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core-api tests (AI)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3474720"/>
            <a:ext cx="52120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3874" y="3639312"/>
            <a:ext cx="82296" cy="195681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15568" y="365760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Tầng UAT + Chuyên gia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" y="4078224"/>
            <a:ext cx="4709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UAT 2 lớp: API smoke gate + UI E2E (Playwright).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Property-based &amp; model-based (fast-check) trên Postgres thật.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Concurrency-race: idempotency + chống oversell.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Fuzzing parser + performance ở quy mô.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Mutation testing: chứng minh test bắt được bug.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3474720"/>
            <a:ext cx="52120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73114" y="3639312"/>
            <a:ext cx="82296" cy="19568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64808" y="365760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Quy trình mỗi task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64808" y="4078224"/>
            <a:ext cx="470916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TDD (RED → GREEN → REFACTOR).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verification-before-completion.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Cross-model review: /review → /codex.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/qa E2E thật bằng Chromium (không seed qua API).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Commit Conventional Commits mỗi task.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693408"/>
            <a:ext cx="11148085908000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Nền tảng Dữ liệu Khách hàng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76072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LỘ TRÌNH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0F172A"/>
                </a:solidFill>
                <a:latin typeface="Segoe UI"/>
              </a:rPr>
              <a:t>Lộ trình AI theo độ chín dữ liệu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20240"/>
            <a:ext cx="3419856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3874" y="1920240"/>
            <a:ext cx="3419856" cy="1097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2128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Phase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67004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2563EB"/>
                </a:solidFill>
                <a:latin typeface="Segoe UI"/>
              </a:rPr>
              <a:t>ĐÃ CÓ (NOW)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200400"/>
            <a:ext cx="29260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— Heuristic + SQL + LLM, không cần Docker.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— RFM / lifecycle · recommendation cross-brand.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— Forecast heuristic · decisioning · generative.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— AI Governance + LLM settings.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1920240"/>
            <a:ext cx="3419856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7466" y="1920240"/>
            <a:ext cx="3419856" cy="10972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22128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Phase 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67004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F59E0B"/>
                </a:solidFill>
                <a:latin typeface="Segoe UI"/>
              </a:rPr>
              <a:t>FEATURE STORE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3200400"/>
            <a:ext cx="29260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— ClickHouse materialized views (offline).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— Redis online serving (&lt;50ms).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— Co-visitation matrix precompute.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— Giữ nguyên interface Phase 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10144" y="1920240"/>
            <a:ext cx="3419856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11058" y="1920240"/>
            <a:ext cx="3419856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84464" y="2212848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Segoe UI"/>
              </a:rPr>
              <a:t>Phase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670048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>
                <a:solidFill>
                  <a:srgbClr val="7C3AED"/>
                </a:solidFill>
                <a:latin typeface="Segoe UI"/>
              </a:rPr>
              <a:t>ML PREDICTIVE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4" y="3200400"/>
            <a:ext cx="292608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— ai-service Python/FastAPI.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— Churn / LTV / propensity (GBDT).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— Demand forecasting F&amp;B + SHAP.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700"/>
              </a:spcAft>
            </a:pPr>
            <a:r>
              <a:rPr sz="1100" b="0">
                <a:solidFill>
                  <a:srgbClr val="475569"/>
                </a:solidFill>
                <a:latin typeface="Segoe UI"/>
              </a:rPr>
              <a:t>— Model registry, champion/challenger.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93408"/>
            <a:ext cx="11148085908000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Nền tảng Dữ liệu Khách hàng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2416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576072"/>
            <a:ext cx="256032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07008" y="54864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2563EB"/>
                </a:solidFill>
                <a:latin typeface="Segoe UI"/>
              </a:rPr>
              <a:t>NỀN TẢNG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89611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900" b="1">
                <a:solidFill>
                  <a:srgbClr val="0F172A"/>
                </a:solidFill>
                <a:latin typeface="Segoe UI"/>
              </a:rPr>
              <a:t>Bảo mật &amp; tuân thủ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74519"/>
            <a:ext cx="521208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3874" y="2039112"/>
            <a:ext cx="82296" cy="2505456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205740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Bảo mật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2478024"/>
            <a:ext cx="470916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RBAC deny-by-default (7 persona) + admin wildcard.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Auth JWT HS256 + API key (sha256, không lưu raw).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Rate-limit chống burst 3 tầng (token-bucket).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Consent chokepoint + audit bất biến.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Error envelope chuẩn — không nuốt data im lặng.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21208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3114" y="2039112"/>
            <a:ext cx="82296" cy="250545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2057400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Tuân thủ &amp; vận hành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2478024"/>
            <a:ext cx="4709160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PDPD Việt Nam · data residency.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Hướng SOC2 / ISO 27001 readiness.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Multi-tenant by design · RLS + field masking.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Governed metrics · lineage end-to-end.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400"/>
              </a:spcAft>
            </a:pPr>
            <a:r>
              <a:rPr sz="1050" b="0">
                <a:solidFill>
                  <a:srgbClr val="475569"/>
                </a:solidFill>
                <a:latin typeface="Segoe UI"/>
              </a:rPr>
              <a:t>Self-host 100% · scalable 1 → 5M khách.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93408"/>
            <a:ext cx="11148085908000" cy="16459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6437376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Segoe UI"/>
              </a:rPr>
              <a:t>OCC-CDP · Nền tảng Dữ liệu Khách hàng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24160" y="6437376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94A3B8"/>
                </a:solidFill>
                <a:latin typeface="Consola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422020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4211058"/>
            <a:ext cx="12191695" cy="264694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8686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OCC-CDP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Segoe UI"/>
              </a:rPr>
              <a:t>Một nền dữ liệu.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DCEBFF"/>
                </a:solidFill>
                <a:latin typeface="Segoe UI"/>
              </a:rPr>
              <a:t>Toàn bộ giá trị khách hàng.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549386"/>
            <a:ext cx="137160" cy="137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494522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Nền tảng self-host, audit-grade  </a:t>
            </a:r>
            <a:r>
              <a:rPr sz="1250" b="0">
                <a:solidFill>
                  <a:srgbClr val="475569"/>
                </a:solidFill>
                <a:latin typeface="Segoe UI"/>
              </a:rPr>
              <a:t>hợp nhất danh tính · loyalty · consent trong 1 transaction ACID.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116314"/>
            <a:ext cx="137160" cy="137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506145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AI biến dữ liệu thành quyết định  </a:t>
            </a:r>
            <a:r>
              <a:rPr sz="1250" b="0">
                <a:solidFill>
                  <a:srgbClr val="475569"/>
                </a:solidFill>
                <a:latin typeface="Segoe UI"/>
              </a:rPr>
              <a:t>phân tích hành vi, dự đoán sản phẩm, forecast, decisioning, copilot.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5683242"/>
            <a:ext cx="137160" cy="1371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562837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Chất lượng chứng minh được  </a:t>
            </a:r>
            <a:r>
              <a:rPr sz="1250" b="0">
                <a:solidFill>
                  <a:srgbClr val="475569"/>
                </a:solidFill>
                <a:latin typeface="Segoe UI"/>
              </a:rPr>
              <a:t>UAT 78/78, expert 33/33, mutation 5/5, TDD toàn diện.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419088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>
                <a:solidFill>
                  <a:srgbClr val="94A3B8"/>
                </a:solidFill>
                <a:latin typeface="Segoe UI"/>
              </a:rPr>
              <a:t>github.com/trungtm78/AICDP   ·   Tài liệu: C:\AICDP\docs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