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422020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211058"/>
            <a:ext cx="12191695" cy="26469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OCC-CDP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6070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Tài liệu giới thiệu hệ thống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900" b="0">
                <a:solidFill>
                  <a:srgbClr val="E6F0FF"/>
                </a:solidFill>
                <a:latin typeface="Segoe UI"/>
              </a:rPr>
              <a:t>Nền tảng Dữ liệu Khách hàng · enterprise self-host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40242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>
                <a:solidFill>
                  <a:srgbClr val="475569"/>
                </a:solidFill>
                <a:latin typeface="Segoe UI"/>
              </a:rPr>
              <a:t>Tài liệu đầy đủ chi tiết: kiến trúc · công nghệ · modules &amp; API · tầng AI · bảo mật · kiểm thử · vận hành.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45464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Segoe UI"/>
              </a:rPr>
              <a:t>Givral · Kem Tràng Tiền · Hải Hà Kotobuki · Fuji Foods · Origato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Phiên bản 2026 · github.com/trungtm78/AICDP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NỘI DUNG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Mục lục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24128" y="20848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08483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0848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Tổng quan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4871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Vấn đề · mục tiêu · năng lực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64808" y="20848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208483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848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Kiến trúc &amp; Công nghệ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4871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Sơ đồ · ACID boundary · dual-flow ·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04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24128" y="34564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III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4564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Modules &amp;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8587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11 bounded context · endpoint · RBAC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2004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64808" y="34564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345643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IV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4564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Tầng AI (Phase 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8587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Hành vi · dự đoán · forecast · LLM · governance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5720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4128" y="48280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4128" y="482803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48280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Bảo mật &amp; Tuân thủ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52303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Auth · RBAC · rate-limit · consent · audit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572000"/>
            <a:ext cx="52578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64808" y="4828032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4808" y="482803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8280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Kiểm thử &amp; Vận hành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5230368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UAT · expert · cài đặt · seed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Vấn đề &amp; Mục tiêu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2120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181051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Vấn đề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4736592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Dữ liệu khách rời rạc theo từng thương hiệu.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Không có danh tính chung xuyên brand → mất cross-sell.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Loyalty tách biệt, khó đối soát đúng tiền · đúng danh tính.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Thiếu nền dữ liệu chuẩn để ứng dụng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3114" y="1929384"/>
            <a:ext cx="77724" cy="1810511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Mục tiêu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50008"/>
            <a:ext cx="4736592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1 triệu khách định danh cuối 2026, 3–5 triệu dài hạn.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Một OCC ID duy nhất mỗi khách, xuyên 5 thương hiệu.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Loyalty &amp; consent hợp nhất, chuẩn kiểm toán.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Self-host 100%, hướng IPO.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Nguyên tắc xuyên suốt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672583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617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Đúng tiền · đúng danh tính tại POS  </a:t>
            </a:r>
            <a:r>
              <a:rPr sz="1200" b="0">
                <a:solidFill>
                  <a:srgbClr val="475569"/>
                </a:solidFill>
                <a:latin typeface="Segoe UI"/>
              </a:rPr>
              <a:t>correctness bắt buộc, không đánh đổi.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148072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509320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Consent-aware everywhere  </a:t>
            </a:r>
            <a:r>
              <a:rPr sz="1200" b="0">
                <a:solidFill>
                  <a:srgbClr val="475569"/>
                </a:solidFill>
                <a:latin typeface="Segoe UI"/>
              </a:rPr>
              <a:t>deny-by-default, chỉ activation gate.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623559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56869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F172A"/>
                </a:solidFill>
                <a:latin typeface="Segoe UI"/>
              </a:rPr>
              <a:t>Audit-grade immutable  </a:t>
            </a:r>
            <a:r>
              <a:rPr sz="1200" b="0">
                <a:solidFill>
                  <a:srgbClr val="475569"/>
                </a:solidFill>
                <a:latin typeface="Segoe UI"/>
              </a:rPr>
              <a:t>thay đổi nhạy cảm bất biến, truy vết được.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OCC-CDP là gì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12435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Hợp nhất danh tính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OCC ID xuyên thương hiệu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Deterministic + probabilistic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Merge non-destructive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124358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Loyalty hợp nhất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Sổ điểm double-entry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Reserve → capture/release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Balance = projection, cấm âm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12435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Consent &amp; Governance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9443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Deny-by-default chokepoint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Append-only audit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PDPD VN, hướng IPO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410712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3874" y="3557016"/>
            <a:ext cx="77724" cy="124358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575304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Dashboard realtime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77639"/>
            <a:ext cx="29443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Control Tower 5 brand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Cohort / RFM / synergy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Quy mô tới 5 triệu KH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6552" y="3410712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17466" y="3557016"/>
            <a:ext cx="77724" cy="1243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872" y="3575304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Activation đa kênh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3977639"/>
            <a:ext cx="29443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Consent-gated destinations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Email / SMS / Zalo ZNS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Audience + journey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3410712"/>
            <a:ext cx="341985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11058" y="3557016"/>
            <a:ext cx="77724" cy="12435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3575304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AI cross-selling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3977639"/>
            <a:ext cx="29443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Phân tích hành vi 360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Dự đoán sản phẩm sẽ mua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Forecast · decisioning · copilot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Kiến trúc &amp; Công nghệ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Cách hệ thống được dựng để đảm bảo correctness, resilience và scale.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II.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Kiến trúc tổng thể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772400" cy="426658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41080" y="1691640"/>
            <a:ext cx="283464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87968" y="187451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Điểm cốt lõi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7968" y="2331720"/>
            <a:ext cx="24231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Modular monolith GĐ1: identity + loyalty + consent + ingestion trong 1 transaction ACID.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Dual-flow: operational realtime (POS) + warehouse micro-batch (đối soát/replay).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PG18 = system of record; ClickHouse = OLAP + feature store.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Materialized resolved_identifier → không traverse graph runtime.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Circuit breaker: CH lỗi → fallback PG (dashboard không gãy).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II.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Nguyên tắc kiến trúc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6393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Transaction boundary ACID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core-api gom identity + loyalty +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consent + ingestion trong CÙNG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một transaction PostgreSQL.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Lý do: tại POS phải ĐÚNG TIỀN 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ĐÚNG DANH TÍNH — không cho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trạng thái nửa vời.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Service khác (analytics, ai-service,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activation, admin-console) tách riêng.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363931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Dual-flow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Operational realtime — POS/ingest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ghi thẳng PostgreSQL (SoR),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phục vụ correctness + lookup.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Warehouse micro-batch — projection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sang ClickHouse (OLAP) cho phân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tích/feature; đối soát/replay được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vì PG là nguồn sự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Projection fire-and-forget sau commit.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7413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3639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16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Resilience &amp;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898648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Circuit breaker cho ClickHouse: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CH lỗi → mở mạch 15s → fallback PG.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Backfill được (PG = SoR).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Modular monolith GĐ1 → tách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microservice khi cần scale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resolved_identifier materialized 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lookup nhanh, không traverse graph.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II.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Luồng dữ liệu khép kín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11680"/>
            <a:ext cx="251460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Ingest (POS)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67004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connector · idempotent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233172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01168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60" y="2011680"/>
            <a:ext cx="2514600" cy="91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8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Identity resolve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267004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OCC ID race-free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33172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1168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011680"/>
            <a:ext cx="251460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Canonical txn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67004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{brand}:{store}:{pos_txn}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233172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201168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2011680"/>
            <a:ext cx="2514600" cy="9144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Loyalty / Profile / Feature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67004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điểm · RFM · lifecycle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52044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3520440"/>
            <a:ext cx="251460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379476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Segment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17880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tiêu chí hành vi +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128" y="3840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66160" y="352044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66160" y="3520440"/>
            <a:ext cx="2514600" cy="914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67328" y="379476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Activation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7328" y="417880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gate consent (chokepoint)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384048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52044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3520440"/>
            <a:ext cx="251460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379476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  <a:latin typeface="Segoe UI"/>
              </a:rPr>
              <a:t>Analytics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417880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KPI realtime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212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Consent chokepoint: chỉ ACTIVATION gate — ingestion &amp; loyalty LUÔN nhận giao dịch/điểm (không mất dữ liệu).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II. 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Công nghệ sử dụng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10561320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65376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65376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Công nghệ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86537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Vai trò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8541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26771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6771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NestJS 10 + TypeScript strict · pg · zod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26771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Nghiệp vụ lõi (ACID)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51176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334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3347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React 18 + Vite + Tailwind v4 · TanStack Query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63347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admin-console (10 workspace)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91693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99923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System of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99923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PostgreSQL 18 (127.0.0.1:5433)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99923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Nguồn sự thật ACID + audit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82696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364991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OLAP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364991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ClickHouse (ReplacingMergeTree)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364991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Analytics realtime + feature store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64845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73075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Cache / Online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73075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Redis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73075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Cache Profile · online store AI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014215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096511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Object 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096511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MinIO (S3)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96511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File / asset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37997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446227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Ingestion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446227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RudderStack OSS (AGPL)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46227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ingestion · routing · reverse-ETL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745736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482803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AI / LLM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482803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@anthropic-ai/sdk + OpenAI + Gemini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482803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Gateway · generative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5111496"/>
            <a:ext cx="10561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19379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Kiểm thử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519379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Vitest · Playwright · fast-check · Stryker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519379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Property + mutation + E2E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5477256"/>
            <a:ext cx="10561320" cy="365760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555955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Hạ tầng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6160" y="5559552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Consolas"/>
              </a:rPr>
              <a:t>Docker · Kubernetes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55955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Self-host 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" y="1783080"/>
            <a:ext cx="10561320" cy="405993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Modules &amp;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11 bounded context, danh mục endpoint và phân quyền deny-by-default.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III.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11 bounded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10561320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65376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6537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Vai trò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653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Bất biến chính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85416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253996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25399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Hợp nhất OCC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5399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UNIQUE + advisory lock, merge non-destructive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23744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59232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Master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92324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brand/store/SKU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923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sku_mapping → product_master → category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862072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930652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Ingestion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930652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Nhận đơn POS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93065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idempotent {brand}:{store}:{pos_txn}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00400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26898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Loyalty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26898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Sổ điểm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689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Σdelta=0, balance=projection, cấm âm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538728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607308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Consent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607308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Đồng 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6073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append-only, latest-wins, chỉ activation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877056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3945636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Activation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394563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Đẩy 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9456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total = allowed + suppressed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215384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428396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Segment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283964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Lọc occId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2839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tiêu chí hành vi + AI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553712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4622292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Analytics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4622292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KPI + insights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462229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fallback PG khi CH lỗi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4892040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496062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AI cross-sell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96062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Reco + generative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9606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cross-brand NBA · LLM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5230368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5298948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Journey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5298948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Orchestration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52989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idempotency journey:{runId}:{occId}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" y="5568696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5637276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Segoe UI"/>
              </a:rPr>
              <a:t>Auth/Platform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0" y="5637276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JWT · RBAC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56372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role đọc DB mỗi request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" y="1783080"/>
            <a:ext cx="10561320" cy="412394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III.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Danh mục endpoint (tiêu biểu)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0561320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73936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Method ·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773936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RBAC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093976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62556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/v1/auth/login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62556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Public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432304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00884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/v1/ingest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00884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connector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770632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39212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GET /v1/customers/lookup?type=&amp;value=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83921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csr/analyst/marketer/data_steward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108960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177540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/v1/loyalty/{earn,reserve,capture,release}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1775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csr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447288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515868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/v1/consent · GET /v1/consent/check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51586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compliance/csr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785616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54196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/v1/activation · GET /v1/activation/:runId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854196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marketer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123944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192524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/v1/segments/preview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192524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marketer/analyst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62272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530852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GET /v1/analytics/{overview,forecast,insights}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53085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executive/analyst/marketer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869180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GET /v1/ai/recommendations/v2 · POST /v1/ai/nba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86918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marketer/analyst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138928"/>
            <a:ext cx="10561320" cy="338328"/>
          </a:xfrm>
          <a:prstGeom prst="rect">
            <a:avLst/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207508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POST /v1/ai/assistant/{ask,segment,content,explain}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20750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marketer/analyst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5477256"/>
            <a:ext cx="1056132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545836"/>
            <a:ext cx="6629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0F172A"/>
                </a:solidFill>
                <a:latin typeface="Consolas"/>
              </a:rPr>
              <a:t>GET/POST /v1/ai/config · /config/audit · /config/usage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5545836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admin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1691640"/>
            <a:ext cx="10561320" cy="412394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III.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RBAC &amp; Error envelope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6393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RBAC — 8 role (deny-by-default)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4736592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admin — wildcard (toàn quyền)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data_steward — master data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marketer — activation/journey/segment/AI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csr — loyalty/consent/lookup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analyst — analytics/segment/AI/lookup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compliance — consent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executive — analytics read-only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connector — ingestion service-to-service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Route quên @Roles → chỉ admin qua.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Role/status đọc DB mỗi request 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disable/đổi role hiệu lực NGAY.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384048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856231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Error envelope (không nuốt data)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40280"/>
            <a:ext cx="5212080" cy="21968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386584"/>
            <a:ext cx="4754880" cy="1922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"code": "SCHEMA_MISSING_...",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"message": "Thiếu field: points",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"why": "Required",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"fix": "Thêm field points ...",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"field_path": "points",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"correlation_id": "&lt;uuid&gt;",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"retryable": false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III. CORRECTNESS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Nguyên tắc correctness 10/10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29077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Identity (OCC 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UNIQUE(type, value_normalized)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advisory lock chống đua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resolve atomic, race-free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merge non-destructive, reversible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resolved_identifier materialized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290779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Loyalty (double-entry)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Σ delta mỗi bút toán = 0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balance = projection (không mutable)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reserve → capture / release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state machine một chiều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idempotency + cấm âm (trigger DB)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74136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29077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16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Consent (chokepoint)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89864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deny-by-default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append-only (chặn UPDATE/DELETE)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latest-wins theo (occ, purpose)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chỉ ACTIVATION gate consent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audit-grade phục vụ IPO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57800"/>
            <a:ext cx="10561320" cy="5029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35838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Chứng minh bằng kiểm thử:  </a:t>
            </a:r>
            <a:r>
              <a:rPr sz="1150" b="0">
                <a:solidFill>
                  <a:srgbClr val="475569"/>
                </a:solidFill>
                <a:latin typeface="Segoe UI"/>
              </a:rPr>
              <a:t>property-based + mutation testing (100% kill trên module tiền/danh-tính/consent).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Tầng AI (Phase 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Biến Customer 360 thành công cụ phân tích hành vi, dự đoán và quyết định.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Biến dữ liệu thành quyết định</a:t>
            </a:r>
          </a:p>
        </p:txBody>
      </p:sp>
      <p:pic>
        <p:nvPicPr>
          <p:cNvPr id="6" name="Picture 5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10881360" cy="344111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3931920"/>
            <a:ext cx="34198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41513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5296" y="4023359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0F172A"/>
                </a:solidFill>
                <a:latin typeface="Segoe UI"/>
              </a:rPr>
              <a:t>Phân tích hành vi (RFM, lifecycle)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3931920"/>
            <a:ext cx="34198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99432" y="41513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8888" y="4023359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0F172A"/>
                </a:solidFill>
                <a:latin typeface="Segoe UI"/>
              </a:rPr>
              <a:t>Dự đoán sản phẩm sẽ mua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3931920"/>
            <a:ext cx="34198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93023" y="4151376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4023359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0F172A"/>
                </a:solidFill>
                <a:latin typeface="Segoe UI"/>
              </a:rPr>
              <a:t>Dự báo doanh số / nhu cầu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53712"/>
            <a:ext cx="34198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4773168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25296" y="4645151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0F172A"/>
                </a:solidFill>
                <a:latin typeface="Segoe UI"/>
              </a:rPr>
              <a:t>Propensity · churn · LTV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6552" y="4553712"/>
            <a:ext cx="34198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99432" y="4773168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18888" y="4645151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0F172A"/>
                </a:solidFill>
                <a:latin typeface="Segoe UI"/>
              </a:rPr>
              <a:t>Next-Best-Action (consent gate)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0144" y="4553712"/>
            <a:ext cx="34198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3023" y="4773168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4645151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0F172A"/>
                </a:solidFill>
                <a:latin typeface="Segoe UI"/>
              </a:rPr>
              <a:t>Cross-brand synergy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175504"/>
            <a:ext cx="34198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" y="5394960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25296" y="5266944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0F172A"/>
                </a:solidFill>
                <a:latin typeface="Segoe UI"/>
              </a:rPr>
              <a:t>Generative Copilot (NLQ, nội dung)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16552" y="5175504"/>
            <a:ext cx="34198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99432" y="5394960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18888" y="5266944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0F172A"/>
                </a:solidFill>
                <a:latin typeface="Segoe UI"/>
              </a:rPr>
              <a:t>Explainability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10144" y="5175504"/>
            <a:ext cx="34198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93023" y="5394960"/>
            <a:ext cx="109728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5266944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0F172A"/>
                </a:solidFill>
                <a:latin typeface="Segoe UI"/>
              </a:rPr>
              <a:t>AI Governance + LLM settings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Feature · Scoring · Recommendation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6393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Customer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Point-in-time từ giao dịch +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loyalty + crosswalk: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recency · frequency · monetary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avg_basket · distinct_brands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favorite_category · loyalty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lifecycle · propensity · churn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recomputeFeature (on-demand)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recomputeAllFeatures (batch)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feature_version='v0' → 'ml-v1'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36393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Scoring (heuristic v0)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scoreCustomer(rfm, cfg) 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lifecycle + propensity + churn +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reasons[] (explainable)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Lifecycle: new → churned → vip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→ dormant → at_risk → active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churnRisk = recency / churnGap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propensity = (1-churn)×freq/vip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Ngưỡng từ ai_config (không hardcode)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7413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36393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16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Recommendation 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898648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Next-Best-Product từ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v_purchase_enriched: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collaborative (peer)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cross-brand (brand khác)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market-basket (lift)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category affinity boost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diversity + boost/bury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loại SP đã mua; explainable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GET /v1/ai/recommendations/v2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Forecast · Decisioning · Segment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3649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Forecast doanh số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294436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Gom doanh thu theo tuần/tháng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từ canonical_transaction.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Moving-average + linear-trend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dự báo N kỳ.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GET /v1/analytics/forecast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Phase C: time-series ML,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giữ nguyên signature.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783080"/>
            <a:ext cx="3419856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7466" y="1929384"/>
            <a:ext cx="77724" cy="33649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947672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Decisioning (NBA)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0008"/>
            <a:ext cx="294436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decideNBA(occId, cfg):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đọc feature (lifecycle)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→ business rules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→ CONSENT GATE (isAllowed)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denied → fallback không cần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consent.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vip → loyalty_bonus;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at_risk → offer email nếu consent.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POST /v1/ai/nba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74136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1058" y="1929384"/>
            <a:ext cx="77724" cy="336499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947672"/>
            <a:ext cx="2916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Segment mở rộng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50008"/>
            <a:ext cx="289864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SegmentCriteria thêm (tương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thích ngược):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maxRecencyDays · lifecycleStage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loyaltyMin · categoryAffinity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consentPurpose (latest-wins)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JOIN customer_feature + consent.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Kết quả feed activation (gate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consent).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LLM Gateway · Generative ·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2120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17190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LLM Gateway (provider-agnostic)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47365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Mặc định Anthropic Claude (mới nhất) + OpenAI + Gemini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Chọn provider+model theo TỪNG tác vụ (ai_config.llm.tasks)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API key qua ENV (không lưu DB) · log token/cost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Guardrail PII: chỉ gửi dữ liệu phi-PII vào prompt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3114" y="1929384"/>
            <a:ext cx="77724" cy="17190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4 tính năng Generative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50008"/>
            <a:ext cx="47365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ask — NLQ tiếng Việt trên số liệu tổng hợp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segment — NL → SegmentCriteria → preview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content — sinh nội dung marketing theo brand voice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explain — diễn giải điểm số/insight thành lời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23360"/>
            <a:ext cx="10561320" cy="169164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1605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2563EB"/>
                </a:solidFill>
                <a:latin typeface="Segoe UI"/>
              </a:rPr>
              <a:t>AI Governance (Admin-only, RBAC-gated)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53712"/>
            <a:ext cx="10149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Bảng ai_config (section: rfm · reco · forecast · decisioning · features · llm) — enforcement server-side (mọi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service đọc getConfig). ai_config_audit APPEND-ONLY (trigger DB) ghi 'ai đổi gì khi nào'. ai_llm_usage theo dõi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token/cost. Endpoints admin: GET/POST /v1/ai/config · /config/audit · /config/usage.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Phân tích chuyên sâu &amp; Control Tower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53212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5257800" cy="222625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55080" y="1691640"/>
            <a:ext cx="51206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28800"/>
            <a:ext cx="4846320" cy="26820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46634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Workspace “Phân tích chuyên sâu”:  </a:t>
            </a:r>
            <a:r>
              <a:rPr sz="1150" b="0">
                <a:solidFill>
                  <a:srgbClr val="475569"/>
                </a:solidFill>
                <a:latin typeface="Segoe UI"/>
              </a:rPr>
              <a:t>phân bố lifecycle, doanh thu brand, nhóm hàng, synergy cross-brand, dự báo.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Control Tower:  </a:t>
            </a:r>
            <a:r>
              <a:rPr sz="1150" b="0">
                <a:solidFill>
                  <a:srgbClr val="475569"/>
                </a:solidFill>
                <a:latin typeface="Segoe UI"/>
              </a:rPr>
              <a:t>KPI 5 thương hiệu realtime (khách · doanh thu · điểm · activation).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IV. TẦNG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Lộ trình AI theo độ chín dữ liệu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3419856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84831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Phase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4203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2563EB"/>
                </a:solidFill>
                <a:latin typeface="Segoe UI"/>
              </a:rPr>
              <a:t>ĐÃ CÓ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29260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Heuristic + SQL + LLM (không cần Docker).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feature/scoring · reco v2 cross-brand.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forecast · decisioning · generative.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AI Governance + LLM settings.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1783080"/>
            <a:ext cx="3419856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084831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Phase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54203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F59E0B"/>
                </a:solidFill>
                <a:latin typeface="Segoe UI"/>
              </a:rPr>
              <a:t>FEATURE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063240"/>
            <a:ext cx="29260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ClickHouse materialized views (offline).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Redis online serving (&lt;50ms).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Co-visitation matrix precompute.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Giữ nguyên interface Phase 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783080"/>
            <a:ext cx="3419856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419856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2084831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Phase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54203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7C3AED"/>
                </a:solidFill>
                <a:latin typeface="Segoe UI"/>
              </a:rPr>
              <a:t>ML PREDICTIVE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063240"/>
            <a:ext cx="29260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ai-service Python/FastAPI.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Churn / LTV / propensity (GBDT).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Demand forecasting + SHAP.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— Model registry, champion/challenger.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Bảo mật &amp; Tuân thủ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Auth, phân quyền deny-by-default, rate-limit, consent và audit bất biến.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V. BẢO MẬT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Bảo mật &amp; Tuân thủ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874" y="1929384"/>
            <a:ext cx="77724" cy="36393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Xác thực &amp; phân quyền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50008"/>
            <a:ext cx="4736592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JWT HS256 (chống alg-confusion) + API key sha256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Role/status đọc DB mỗi request (disable hiệu lực ngay)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Dummy-hash chống user-enumeration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RBAC deny-by-default (8 role) + admin wildcard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Route quên @Roles → chỉ admin qua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Rate-limit 3 tầng (IP pre-auth · per-principal · login)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→ 429 + Retry-After (token-bucket)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3114" y="1929384"/>
            <a:ext cx="77724" cy="36393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Consent · Audit · Tuân thủ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50008"/>
            <a:ext cx="4736592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Consent deny-by-default chokepoint (chỉ activation gate)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Append-only audit (trigger DB chặn UPDATE/DELETE)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Guardrail PII với LLM (redact/block/allow)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Error envelope — không nuốt data, truy vết correlation_id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Loyalty double-entry + Σdelta=0 + cấm âm (trigger)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PDPD Việt Nam · data residency (self-host 100%)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Hướng SOC2 / ISO 27001 · RLS + field masking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6600" b="1">
                <a:solidFill>
                  <a:srgbClr val="2563EB"/>
                </a:solidFill>
                <a:latin typeface="Segoe UI"/>
              </a:rPr>
              <a:t>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0F172A"/>
                </a:solidFill>
                <a:latin typeface="Segoe UI"/>
              </a:rPr>
              <a:t>Kiểm thử &amp; Vận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Chất lượng chứng minh được, và hướng dẫn cài đặt / vận hành.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VI. KIỂM THỬ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Kiểm thử nhiều tầng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248716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2487168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4871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2563EB"/>
                </a:solidFill>
                <a:latin typeface="Segoe UI"/>
              </a:rPr>
              <a:t>78/78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78608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UAT toàn hệ thống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783080"/>
            <a:ext cx="248716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783080"/>
            <a:ext cx="2487168" cy="914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6432" y="2011680"/>
            <a:ext cx="24871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16A34A"/>
                </a:solidFill>
                <a:latin typeface="Segoe UI"/>
              </a:rPr>
              <a:t>33/33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2578608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Expert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9904" y="1783080"/>
            <a:ext cx="248716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9904" y="1783080"/>
            <a:ext cx="248716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9904" y="2011680"/>
            <a:ext cx="24871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7C3AED"/>
                </a:solidFill>
                <a:latin typeface="Segoe UI"/>
              </a:rPr>
              <a:t>5/5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578608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Mutation KILLED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23376" y="1783080"/>
            <a:ext cx="248716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23376" y="1783080"/>
            <a:ext cx="2487168" cy="91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23376" y="2011680"/>
            <a:ext cx="24871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6B6D4"/>
                </a:solidFill>
                <a:latin typeface="Segoe UI"/>
              </a:rPr>
              <a:t>240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3376" y="2578608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core-api tests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246120"/>
            <a:ext cx="521208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3874" y="3392424"/>
            <a:ext cx="77724" cy="21762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34107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UAT + Chuyên gia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813048"/>
            <a:ext cx="47365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UAT 2 lớp: API smoke gate + UI E2E (Playwright).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Property/model-based (fast-check) trên Postgres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Concurrency-race: idempotency + chống oversell.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Fuzzing parser + performance ở quy mô.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Mutation testing: chứng minh test bắt được bug.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246120"/>
            <a:ext cx="521208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3114" y="3392424"/>
            <a:ext cx="77724" cy="217627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4107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Quy trình mỗi task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813048"/>
            <a:ext cx="47365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TDD (RED → GREEN → REFACTOR).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verification-before-completion.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Cross-model review: /review → /codex.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/qa E2E thật bằng Chromium (không seed qua API).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Commit Conventional Commits mỗi task.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57784"/>
            <a:ext cx="237744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5303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2563EB"/>
                </a:solidFill>
                <a:latin typeface="Segoe UI"/>
              </a:rPr>
              <a:t>VI. VẬN HÀNH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0F172A"/>
                </a:solidFill>
                <a:latin typeface="Segoe UI"/>
              </a:rPr>
              <a:t>Cài đặt &amp; chạy dev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6766560" cy="3099815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88366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94A3B8"/>
                </a:solidFill>
                <a:latin typeface="Segoe UI"/>
              </a:rPr>
              <a:t>Lệnh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176272"/>
            <a:ext cx="6309360" cy="2825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# 1) Seed user admin (login admin/admin12345)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cd services/core-api &amp;&amp; pnpm exec tsx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     scripts/seed-dev-user.ts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# 2) Seed DỮ LIỆU DEMO (52 khách, 6 lifecycle)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pnpm exec tsx scripts/seed-demo.ts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# 3) core-api (:8071)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CORE_API_PORT=8071 pnpm exec tsx src/main.ts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Consolas"/>
              </a:rPr>
              <a:t># 4) admin-console (:8073)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F172A"/>
                </a:solidFill>
                <a:latin typeface="Consolas"/>
              </a:rPr>
              <a:t>cd apps/admin-console &amp;&amp; pnpm 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737360"/>
            <a:ext cx="36576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3314" y="1883664"/>
            <a:ext cx="77724" cy="3685031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90195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Yêu cầu &amp; lưu 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04288"/>
            <a:ext cx="3182112" cy="33375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PostgreSQL 18 @ 127.0.0.1:5433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DB AI_CDP_Pro · role occ_cdp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ANTHROPIC_API_KEY (ENV) cho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tính năng Generative AI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Docker (ClickHouse/Redis/MinIO)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tùy chọn — Phase A không bắt buộc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Seed demo LẠI sau mỗi lần test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(test truncate DB)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OCC-CDP · Tài liệu giới thiệu đầy đủ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422020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211058"/>
            <a:ext cx="12191695" cy="26469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OCC-CDP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Một nền dữ liệu.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3400" b="1">
                <a:solidFill>
                  <a:srgbClr val="DCEBFF"/>
                </a:solidFill>
                <a:latin typeface="Segoe UI"/>
              </a:rPr>
              <a:t>Toàn bộ giá trị khách hàng.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549386"/>
            <a:ext cx="137160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494522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Nền tảng self-host, audit-grade  </a:t>
            </a:r>
            <a:r>
              <a:rPr sz="1250" b="0">
                <a:solidFill>
                  <a:srgbClr val="475569"/>
                </a:solidFill>
                <a:latin typeface="Segoe UI"/>
              </a:rPr>
              <a:t>hợp nhất danh tính · loyalty · consent trong 1 transaction ACID.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116314"/>
            <a:ext cx="137160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06145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AI biến dữ liệu thành quyết định  </a:t>
            </a:r>
            <a:r>
              <a:rPr sz="1250" b="0">
                <a:solidFill>
                  <a:srgbClr val="475569"/>
                </a:solidFill>
                <a:latin typeface="Segoe UI"/>
              </a:rPr>
              <a:t>phân tích hành vi, dự đoán sản phẩm, forecast, decisioning, copilot.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683242"/>
            <a:ext cx="137160" cy="137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62837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Chất lượng chứng minh được  </a:t>
            </a:r>
            <a:r>
              <a:rPr sz="1250" b="0">
                <a:solidFill>
                  <a:srgbClr val="475569"/>
                </a:solidFill>
                <a:latin typeface="Segoe UI"/>
              </a:rPr>
              <a:t>UAT 78/78, expert 33/33, mutation 5/5, TDD toàn diện.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Tài liệu chi tiết (markdown): C:\AICDP\docs   ·   github.com/trungtm78/AICDP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